
<file path=[Content_Types].xml><?xml version="1.0" encoding="utf-8"?>
<Types xmlns="http://schemas.openxmlformats.org/package/2006/content-types">
  <Default Extension="wav" ContentType="audio/x-wav"/>
  <Default Extension="png" ContentType="image/png"/>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sldIdLst>
    <p:sldId id="379" r:id="rId3"/>
    <p:sldId id="380" r:id="rId5"/>
    <p:sldId id="381" r:id="rId6"/>
    <p:sldId id="382" r:id="rId7"/>
    <p:sldId id="383" r:id="rId8"/>
    <p:sldId id="384" r:id="rId9"/>
    <p:sldId id="385" r:id="rId10"/>
    <p:sldId id="386" r:id="rId11"/>
    <p:sldId id="387" r:id="rId12"/>
    <p:sldId id="388" r:id="rId13"/>
    <p:sldId id="390" r:id="rId14"/>
    <p:sldId id="391" r:id="rId15"/>
    <p:sldId id="392" r:id="rId16"/>
    <p:sldId id="393" r:id="rId17"/>
    <p:sldId id="394" r:id="rId18"/>
    <p:sldId id="395" r:id="rId19"/>
    <p:sldId id="396" r:id="rId20"/>
    <p:sldId id="397" r:id="rId21"/>
    <p:sldId id="398" r:id="rId22"/>
    <p:sldId id="399" r:id="rId23"/>
    <p:sldId id="401" r:id="rId24"/>
    <p:sldId id="400" r:id="rId25"/>
    <p:sldId id="402" r:id="rId26"/>
    <p:sldId id="403" r:id="rId27"/>
    <p:sldId id="410" r:id="rId28"/>
    <p:sldId id="411" r:id="rId29"/>
    <p:sldId id="412" r:id="rId30"/>
    <p:sldId id="404" r:id="rId31"/>
    <p:sldId id="405" r:id="rId32"/>
    <p:sldId id="406" r:id="rId33"/>
    <p:sldId id="407" r:id="rId34"/>
    <p:sldId id="408" r:id="rId35"/>
  </p:sldIdLst>
  <p:sldSz cx="12192000" cy="6858000" type="screen16x9"/>
  <p:notesSz cx="6858000" cy="9144000"/>
  <p:embeddedFontLst>
    <p:embeddedFont>
      <p:font typeface="DejaVu Math TeX Gyre" panose="02000503000000000000" charset="0"/>
      <p:regular r:id="rId4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drice" initials="a" lastIdx="1" clrIdx="0"/>
  <p:cmAuthor id="2" name="bytedance" initials="b"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2FDB2607-1784-4EEB-B798-7EB5836EED8A}">
        <p14:showMediaCtrls xmlns:p14="http://schemas.microsoft.com/office/powerpoint/2010/main" val="1"/>
      </p:ext>
    </p:extLst>
  </p:showPr>
  <p:clrMru>
    <a:srgbClr val="A81F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94" autoAdjust="0"/>
    <p:restoredTop sz="68192" autoAdjust="0"/>
  </p:normalViewPr>
  <p:slideViewPr>
    <p:cSldViewPr snapToGrid="0">
      <p:cViewPr>
        <p:scale>
          <a:sx n="66" d="100"/>
          <a:sy n="66" d="100"/>
        </p:scale>
        <p:origin x="918" y="546"/>
      </p:cViewPr>
      <p:guideLst/>
    </p:cSldViewPr>
  </p:slideViewPr>
  <p:notesTextViewPr>
    <p:cViewPr>
      <p:scale>
        <a:sx n="1" d="1"/>
        <a:sy n="1" d="1"/>
      </p:scale>
      <p:origin x="0" y="0"/>
    </p:cViewPr>
  </p:notesTextViewPr>
  <p:sorterViewPr>
    <p:cViewPr>
      <p:scale>
        <a:sx n="100" d="100"/>
        <a:sy n="100" d="100"/>
      </p:scale>
      <p:origin x="0" y="-44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font" Target="fonts/font1.fntdata"/><Relationship Id="rId4" Type="http://schemas.openxmlformats.org/officeDocument/2006/relationships/notesMaster" Target="notesMasters/notesMaster1.xml"/><Relationship Id="rId39" Type="http://schemas.openxmlformats.org/officeDocument/2006/relationships/commentAuthors" Target="commentAuthors.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82" name=""/>
        <p:cNvGrpSpPr/>
        <p:nvPr/>
      </p:nvGrpSpPr>
      <p:grpSpPr>
        <a:xfrm>
          <a:off x="0" y="0"/>
          <a:ext cx="0" cy="0"/>
          <a:chOff x="0" y="0"/>
          <a:chExt cx="0" cy="0"/>
        </a:xfrm>
      </p:grpSpPr>
      <p:sp>
        <p:nvSpPr>
          <p:cNvPr id="1049169"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9170"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8D4731-89B6-480A-8E30-D1876AC15B01}" type="datetimeFigureOut">
              <a:rPr lang="zh-CN" altLang="en-US" smtClean="0"/>
            </a:fld>
            <a:endParaRPr lang="zh-CN" altLang="en-US"/>
          </a:p>
        </p:txBody>
      </p:sp>
      <p:sp>
        <p:nvSpPr>
          <p:cNvPr id="1049171"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p>
            <a:endParaRPr lang="zh-CN" altLang="en-US"/>
          </a:p>
        </p:txBody>
      </p:sp>
      <p:sp>
        <p:nvSpPr>
          <p:cNvPr id="1049172"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9173"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9174"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D7248C-4AAE-4EF2-A19E-668559CC609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1048737" name="幻灯片图像占位符 1"/>
          <p:cNvSpPr>
            <a:spLocks noGrp="1" noRot="1" noChangeAspect="1"/>
          </p:cNvSpPr>
          <p:nvPr>
            <p:ph type="sldImg"/>
          </p:nvPr>
        </p:nvSpPr>
        <p:spPr/>
      </p:sp>
      <p:sp>
        <p:nvSpPr>
          <p:cNvPr id="1048738" name="备注占位符 2"/>
          <p:cNvSpPr>
            <a:spLocks noGrp="1"/>
          </p:cNvSpPr>
          <p:nvPr>
            <p:ph type="body" idx="1"/>
          </p:nvPr>
        </p:nvSpPr>
        <p:spPr/>
        <p:txBody>
          <a:bodyPr/>
          <a:p>
            <a:r>
              <a:rPr lang="zh-CN" altLang="en-US" dirty="0" smtClean="0">
                <a:sym typeface="+mn-ea"/>
              </a:rPr>
              <a:t>各位老师、同学们，大家上午好，我是邓枭。我的指导老师是王炜</a:t>
            </a:r>
            <a:r>
              <a:rPr lang="zh-CN" altLang="en-US" dirty="0" smtClean="0">
                <a:sym typeface="+mn-ea"/>
              </a:rPr>
              <a:t>教授，我今天答辩的题目是“无线通信协议内建</a:t>
            </a:r>
            <a:endParaRPr lang="en-US" altLang="zh-CN" dirty="0" smtClean="0"/>
          </a:p>
          <a:p>
            <a:r>
              <a:rPr lang="zh-CN" altLang="en-US" dirty="0" smtClean="0">
                <a:sym typeface="+mn-ea"/>
              </a:rPr>
              <a:t>信道状态安全机制研究“。</a:t>
            </a:r>
            <a:endParaRPr lang="zh-CN" altLang="en-US" dirty="0"/>
          </a:p>
          <a:p>
            <a:endParaRPr lang="zh-CN" altLang="en-US" dirty="0"/>
          </a:p>
        </p:txBody>
      </p:sp>
      <p:sp>
        <p:nvSpPr>
          <p:cNvPr id="1048739"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645" name="幻灯片图像占位符 1"/>
          <p:cNvSpPr>
            <a:spLocks noGrp="1" noRot="1" noChangeAspect="1"/>
          </p:cNvSpPr>
          <p:nvPr>
            <p:ph type="sldImg"/>
          </p:nvPr>
        </p:nvSpPr>
        <p:spPr/>
      </p:sp>
      <p:sp>
        <p:nvSpPr>
          <p:cNvPr id="1048646" name="备注占位符 2"/>
          <p:cNvSpPr>
            <a:spLocks noGrp="1"/>
          </p:cNvSpPr>
          <p:nvPr>
            <p:ph type="body" idx="1"/>
          </p:nvPr>
        </p:nvSpPr>
        <p:spPr/>
        <p:txBody>
          <a:bodyPr/>
          <a:p>
            <a:r>
              <a:rPr lang="en-US" altLang="zh-CN" dirty="0" smtClean="0">
                <a:sym typeface="+mn-ea"/>
              </a:rPr>
              <a:t>
我将背景，方案，实验和总结4个部分汇报我的工作。</a:t>
            </a:r>
            <a:endParaRPr lang="en-US" altLang="zh-CN" dirty="0" smtClean="0"/>
          </a:p>
          <a:p>
            <a:endParaRPr lang="en-US" altLang="zh-CN" dirty="0" smtClean="0"/>
          </a:p>
        </p:txBody>
      </p:sp>
      <p:sp>
        <p:nvSpPr>
          <p:cNvPr id="1048647"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25" name="幻灯片图像占位符 1"/>
          <p:cNvSpPr>
            <a:spLocks noGrp="1" noRot="1" noChangeAspect="1"/>
          </p:cNvSpPr>
          <p:nvPr>
            <p:ph type="sldImg"/>
          </p:nvPr>
        </p:nvSpPr>
        <p:spPr/>
      </p:sp>
      <p:sp>
        <p:nvSpPr>
          <p:cNvPr id="1048626" name="备注占位符 2"/>
          <p:cNvSpPr>
            <a:spLocks noGrp="1"/>
          </p:cNvSpPr>
          <p:nvPr>
            <p:ph type="body" idx="1"/>
          </p:nvPr>
        </p:nvSpPr>
        <p:spPr/>
        <p:txBody>
          <a:bodyPr/>
          <a:p>
            <a:pPr marL="0" marR="0" lvl="1" indent="0" algn="l" defTabSz="914400" rtl="0" eaLnBrk="1" fontAlgn="auto" latinLnBrk="0" hangingPunct="1">
              <a:lnSpc>
                <a:spcPct val="100000"/>
              </a:lnSpc>
              <a:spcBef>
                <a:spcPts val="0"/>
              </a:spcBef>
              <a:spcAft>
                <a:spcPts val="0"/>
              </a:spcAft>
              <a:buClrTx/>
              <a:buSzTx/>
              <a:buFontTx/>
              <a:buNone/>
            </a:pPr>
            <a:r>
              <a:rPr lang="zh-CN" altLang="en-US" dirty="0" smtClean="0">
                <a:sym typeface="+mn-ea"/>
              </a:rPr>
              <a:t>先读</a:t>
            </a:r>
            <a:endParaRPr lang="zh-CN" altLang="en-US" dirty="0" smtClean="0">
              <a:sym typeface="+mn-ea"/>
            </a:endParaRPr>
          </a:p>
          <a:p>
            <a:pPr marL="0" marR="0" lvl="1" indent="0" algn="l" defTabSz="914400" rtl="0" eaLnBrk="1" fontAlgn="auto" latinLnBrk="0" hangingPunct="1">
              <a:lnSpc>
                <a:spcPct val="100000"/>
              </a:lnSpc>
              <a:spcBef>
                <a:spcPts val="0"/>
              </a:spcBef>
              <a:spcAft>
                <a:spcPts val="0"/>
              </a:spcAft>
              <a:buClrTx/>
              <a:buSzTx/>
              <a:buFontTx/>
              <a:buNone/>
            </a:pPr>
            <a:r>
              <a:rPr lang="zh-CN" altLang="en-US" dirty="0" smtClean="0">
                <a:sym typeface="+mn-ea"/>
              </a:rPr>
              <a:t>研究者们利用这个特性完成了</a:t>
            </a:r>
            <a:r>
              <a:rPr lang="en-US" altLang="zh-CN" dirty="0" smtClean="0">
                <a:sym typeface="+mn-ea"/>
              </a:rPr>
              <a:t>  </a:t>
            </a:r>
            <a:r>
              <a:rPr lang="zh-CN" altLang="en-US" dirty="0" smtClean="0">
                <a:sym typeface="+mn-ea"/>
              </a:rPr>
              <a:t>再</a:t>
            </a:r>
            <a:r>
              <a:rPr lang="zh-CN" altLang="en-US" dirty="0" smtClean="0">
                <a:sym typeface="+mn-ea"/>
              </a:rPr>
              <a:t>读</a:t>
            </a:r>
            <a:endParaRPr lang="zh-CN" altLang="en-US" dirty="0" smtClean="0">
              <a:sym typeface="+mn-ea"/>
            </a:endParaRPr>
          </a:p>
        </p:txBody>
      </p:sp>
      <p:sp>
        <p:nvSpPr>
          <p:cNvPr id="1048627"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600" name="幻灯片图像占位符 1"/>
          <p:cNvSpPr>
            <a:spLocks noGrp="1" noRot="1" noChangeAspect="1"/>
          </p:cNvSpPr>
          <p:nvPr>
            <p:ph type="sldImg"/>
          </p:nvPr>
        </p:nvSpPr>
        <p:spPr/>
      </p:sp>
      <p:sp>
        <p:nvSpPr>
          <p:cNvPr id="1048601" name="备注占位符 2"/>
          <p:cNvSpPr>
            <a:spLocks noGrp="1"/>
          </p:cNvSpPr>
          <p:nvPr>
            <p:ph type="body" idx="1"/>
          </p:nvPr>
        </p:nvSpPr>
        <p:spPr/>
        <p:txBody>
          <a:bodyPr/>
          <a:p>
            <a:endParaRPr lang="zh-CN" altLang="en-US" dirty="0"/>
          </a:p>
        </p:txBody>
      </p:sp>
      <p:sp>
        <p:nvSpPr>
          <p:cNvPr id="1048602"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14" name="幻灯片图像占位符 1"/>
          <p:cNvSpPr>
            <a:spLocks noGrp="1" noRot="1" noChangeAspect="1"/>
          </p:cNvSpPr>
          <p:nvPr>
            <p:ph type="sldImg"/>
          </p:nvPr>
        </p:nvSpPr>
        <p:spPr/>
      </p:sp>
      <p:sp>
        <p:nvSpPr>
          <p:cNvPr id="1048615" name="备注占位符 2"/>
          <p:cNvSpPr>
            <a:spLocks noGrp="1"/>
          </p:cNvSpPr>
          <p:nvPr>
            <p:ph type="body" idx="1"/>
          </p:nvPr>
        </p:nvSpPr>
        <p:spPr/>
        <p:txBody>
          <a:bodyPr/>
          <a:p>
            <a:pPr lvl="0"/>
            <a:r>
              <a:rPr lang="zh-CN" altLang="en-US" sz="1200" kern="1200" dirty="0" smtClean="0">
                <a:solidFill>
                  <a:schemeClr val="tx1"/>
                </a:solidFill>
                <a:effectLst/>
                <a:latin typeface="+mn-lt"/>
                <a:ea typeface="+mn-ea"/>
                <a:cs typeface="+mn-cs"/>
              </a:rPr>
              <a:t>当前已有一些工作着手于解决这个问题。</a:t>
            </a:r>
            <a:endParaRPr lang="en-US" altLang="zh-CN" sz="1200" kern="1200" dirty="0" smtClean="0">
              <a:solidFill>
                <a:schemeClr val="tx1"/>
              </a:solidFill>
              <a:effectLst/>
              <a:latin typeface="+mn-lt"/>
              <a:ea typeface="+mn-ea"/>
              <a:cs typeface="+mn-cs"/>
            </a:endParaRPr>
          </a:p>
          <a:p>
            <a:pPr lvl="0"/>
            <a:r>
              <a:rPr lang="zh-CN" altLang="en-US" sz="1200" kern="1200" dirty="0" smtClean="0">
                <a:solidFill>
                  <a:schemeClr val="tx1"/>
                </a:solidFill>
                <a:effectLst/>
                <a:latin typeface="+mn-lt"/>
                <a:ea typeface="+mn-ea"/>
                <a:cs typeface="+mn-cs"/>
              </a:rPr>
              <a:t>第一类是使用</a:t>
            </a:r>
            <a:r>
              <a:rPr lang="en-US"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pPr lvl="0"/>
            <a:endParaRPr lang="en-US" altLang="zh-CN" sz="1200" kern="1200" dirty="0" smtClean="0">
              <a:solidFill>
                <a:schemeClr val="tx1"/>
              </a:solidFill>
              <a:effectLst/>
              <a:latin typeface="+mn-lt"/>
              <a:ea typeface="+mn-ea"/>
              <a:cs typeface="+mn-cs"/>
            </a:endParaRPr>
          </a:p>
          <a:p>
            <a:pPr lvl="0"/>
            <a:r>
              <a:rPr lang="zh-CN" altLang="en-US" sz="1200" kern="1200" dirty="0" smtClean="0">
                <a:solidFill>
                  <a:schemeClr val="tx1"/>
                </a:solidFill>
                <a:effectLst/>
                <a:latin typeface="+mn-lt"/>
                <a:ea typeface="+mn-ea"/>
                <a:cs typeface="+mn-cs"/>
              </a:rPr>
              <a:t>第二类是</a:t>
            </a:r>
            <a:r>
              <a:rPr lang="en-US"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38" name="幻灯片图像占位符 1"/>
          <p:cNvSpPr>
            <a:spLocks noGrp="1" noRot="1" noChangeAspect="1"/>
          </p:cNvSpPr>
          <p:nvPr>
            <p:ph type="sldImg"/>
          </p:nvPr>
        </p:nvSpPr>
        <p:spPr/>
      </p:sp>
      <p:sp>
        <p:nvSpPr>
          <p:cNvPr id="1048639" name="备注占位符 2"/>
          <p:cNvSpPr>
            <a:spLocks noGrp="1"/>
          </p:cNvSpPr>
          <p:nvPr>
            <p:ph type="body" idx="1"/>
          </p:nvPr>
        </p:nvSpPr>
        <p:spPr/>
        <p:txBody>
          <a:bodyPr/>
          <a:p>
            <a:endParaRPr lang="zh-CN" altLang="en-US" dirty="0"/>
          </a:p>
        </p:txBody>
      </p:sp>
      <p:sp>
        <p:nvSpPr>
          <p:cNvPr id="1048640"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667" name="幻灯片图像占位符 1"/>
          <p:cNvSpPr>
            <a:spLocks noGrp="1" noRot="1" noChangeAspect="1"/>
          </p:cNvSpPr>
          <p:nvPr>
            <p:ph type="sldImg"/>
          </p:nvPr>
        </p:nvSpPr>
        <p:spPr/>
      </p:sp>
      <p:sp>
        <p:nvSpPr>
          <p:cNvPr id="1048668" name="备注占位符 2"/>
          <p:cNvSpPr>
            <a:spLocks noGrp="1"/>
          </p:cNvSpPr>
          <p:nvPr>
            <p:ph type="body" idx="1"/>
          </p:nvPr>
        </p:nvSpPr>
        <p:spPr/>
        <p:txBody>
          <a:bodyPr/>
          <a:p>
            <a:r>
              <a:rPr lang="zh-CN" altLang="en-US" dirty="0" smtClean="0">
                <a:sym typeface="+mn-ea"/>
              </a:rPr>
              <a:t>先读</a:t>
            </a:r>
            <a:r>
              <a:rPr lang="en-US" altLang="zh-CN" dirty="0" smtClean="0">
                <a:sym typeface="+mn-ea"/>
              </a:rPr>
              <a:t>...</a:t>
            </a:r>
            <a:endParaRPr lang="zh-CN" altLang="en-US" dirty="0" smtClean="0">
              <a:sym typeface="+mn-ea"/>
            </a:endParaRPr>
          </a:p>
          <a:p>
            <a:endParaRPr lang="zh-CN" altLang="en-US" dirty="0" smtClean="0">
              <a:sym typeface="+mn-ea"/>
            </a:endParaRPr>
          </a:p>
          <a:p>
            <a:r>
              <a:rPr lang="zh-CN" altLang="en-US" dirty="0" smtClean="0">
                <a:sym typeface="+mn-ea"/>
              </a:rPr>
              <a:t>具体来说，我们在发射信号</a:t>
            </a:r>
            <a:r>
              <a:rPr lang="en-US" altLang="zh-CN" dirty="0" smtClean="0">
                <a:sym typeface="+mn-ea"/>
              </a:rPr>
              <a:t>X</a:t>
            </a:r>
            <a:r>
              <a:rPr lang="zh-CN" altLang="en-US" dirty="0" smtClean="0">
                <a:sym typeface="+mn-ea"/>
              </a:rPr>
              <a:t>上乘以加扰向量</a:t>
            </a:r>
            <a:r>
              <a:rPr lang="en-US" altLang="zh-CN" dirty="0" smtClean="0">
                <a:sym typeface="+mn-ea"/>
              </a:rPr>
              <a:t>S,</a:t>
            </a:r>
            <a:endParaRPr lang="en-US" altLang="zh-CN" dirty="0" smtClean="0"/>
          </a:p>
          <a:p>
            <a:r>
              <a:rPr lang="zh-CN" altLang="en-US" dirty="0" smtClean="0">
                <a:sym typeface="+mn-ea"/>
              </a:rPr>
              <a:t>那么接收器接收的信号也会被乘上</a:t>
            </a:r>
            <a:r>
              <a:rPr lang="en-US" altLang="zh-CN" dirty="0" smtClean="0">
                <a:sym typeface="+mn-ea"/>
              </a:rPr>
              <a:t>S</a:t>
            </a:r>
            <a:endParaRPr lang="en-US" altLang="zh-CN" dirty="0" smtClean="0"/>
          </a:p>
          <a:p>
            <a:r>
              <a:rPr lang="zh-CN" altLang="en-US" dirty="0" smtClean="0">
                <a:sym typeface="+mn-ea"/>
              </a:rPr>
              <a:t>之后接收器测得的</a:t>
            </a:r>
            <a:r>
              <a:rPr lang="en-US" altLang="zh-CN" dirty="0" smtClean="0">
                <a:sym typeface="+mn-ea"/>
              </a:rPr>
              <a:t>CSI</a:t>
            </a:r>
            <a:r>
              <a:rPr lang="zh-CN" altLang="en-US" dirty="0" smtClean="0">
                <a:sym typeface="+mn-ea"/>
              </a:rPr>
              <a:t>从原来的</a:t>
            </a:r>
            <a:r>
              <a:rPr lang="en-US" altLang="zh-CN" dirty="0" smtClean="0">
                <a:sym typeface="+mn-ea"/>
              </a:rPr>
              <a:t>H</a:t>
            </a:r>
            <a:r>
              <a:rPr lang="zh-CN" altLang="en-US" dirty="0" smtClean="0">
                <a:sym typeface="+mn-ea"/>
              </a:rPr>
              <a:t>变成了</a:t>
            </a:r>
            <a:r>
              <a:rPr lang="en-US" altLang="zh-CN" dirty="0" smtClean="0">
                <a:sym typeface="+mn-ea"/>
              </a:rPr>
              <a:t>H</a:t>
            </a:r>
            <a:r>
              <a:rPr lang="zh-CN" altLang="en-US" dirty="0" smtClean="0">
                <a:sym typeface="+mn-ea"/>
              </a:rPr>
              <a:t>乘</a:t>
            </a:r>
            <a:r>
              <a:rPr lang="en-US" altLang="zh-CN" dirty="0" smtClean="0">
                <a:sym typeface="+mn-ea"/>
              </a:rPr>
              <a:t>S</a:t>
            </a:r>
            <a:endParaRPr lang="en-US" altLang="zh-CN" dirty="0" smtClean="0"/>
          </a:p>
          <a:p>
            <a:r>
              <a:rPr lang="zh-CN" altLang="en-US" dirty="0" smtClean="0">
                <a:sym typeface="+mn-ea"/>
              </a:rPr>
              <a:t>而它</a:t>
            </a:r>
            <a:r>
              <a:rPr lang="zh-CN" altLang="en-US">
                <a:sym typeface="+mn-ea"/>
              </a:rPr>
              <a:t>解得的数据不变，也就是不影响通信</a:t>
            </a:r>
            <a:r>
              <a:rPr lang="zh-CN" altLang="en-US" dirty="0" smtClean="0">
                <a:sym typeface="+mn-ea"/>
              </a:rPr>
              <a:t>。</a:t>
            </a:r>
            <a:endParaRPr lang="zh-CN" altLang="en-US" dirty="0"/>
          </a:p>
          <a:p>
            <a:endParaRPr lang="zh-CN" altLang="en-US" dirty="0"/>
          </a:p>
        </p:txBody>
      </p:sp>
      <p:sp>
        <p:nvSpPr>
          <p:cNvPr id="1048669"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sp>
        <p:nvSpPr>
          <p:cNvPr id="1048753" name="幻灯片图像占位符 1"/>
          <p:cNvSpPr>
            <a:spLocks noGrp="1" noRot="1" noChangeAspect="1"/>
          </p:cNvSpPr>
          <p:nvPr>
            <p:ph type="sldImg"/>
          </p:nvPr>
        </p:nvSpPr>
        <p:spPr/>
      </p:sp>
      <p:sp>
        <p:nvSpPr>
          <p:cNvPr id="1048754" name="备注占位符 2"/>
          <p:cNvSpPr>
            <a:spLocks noGrp="1"/>
          </p:cNvSpPr>
          <p:nvPr>
            <p:ph type="body" idx="1"/>
          </p:nvPr>
        </p:nvSpPr>
        <p:spPr/>
        <p:txBody>
          <a:bodyPr/>
          <a:p>
            <a:pPr marL="0" marR="0" indent="0" algn="l" defTabSz="914400" rtl="0" eaLnBrk="1" fontAlgn="auto" latinLnBrk="0" hangingPunct="1">
              <a:lnSpc>
                <a:spcPct val="100000"/>
              </a:lnSpc>
              <a:spcBef>
                <a:spcPts val="0"/>
              </a:spcBef>
              <a:spcAft>
                <a:spcPts val="0"/>
              </a:spcAft>
              <a:buClrTx/>
              <a:buSzTx/>
              <a:buFontTx/>
              <a:buNone/>
            </a:pPr>
            <a:r>
              <a:rPr lang="en-US" altLang="zh-CN" dirty="0" smtClean="0">
                <a:sym typeface="+mn-ea"/>
              </a:rPr>
              <a:t>我们观察到，CSI</a:t>
            </a:r>
            <a:r>
              <a:rPr lang="zh-CN" altLang="en-US" dirty="0" smtClean="0">
                <a:sym typeface="+mn-ea"/>
              </a:rPr>
              <a:t>中的</a:t>
            </a:r>
            <a:r>
              <a:rPr lang="en-US" altLang="zh-CN" dirty="0" smtClean="0">
                <a:sym typeface="+mn-ea"/>
              </a:rPr>
              <a:t>人体活动信号和音频信号有相同的特点，都是由各个信号分段中的
频率成分和段间过渡决定其性质。所以我们借鉴语音合成领域中的线性预测分析方法，
该方法可以基于少量的参数产生任意数量、频率成分和原信号相似的信号。 
流程是这样的，首先将原始信号分段，然后从每个分段中提取
线性预测系数Ak作为预测器的系数，以白噪声为预测器的激励信号e(n),最后
把预测器的输出拼接起来，就会得到时频成分和原始信号类似的信号。
我们用音频展示一个直观的例子。
可以听到，合成信号和原信号非常相似。</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pPr>
            <a:endParaRPr lang="en-US" altLang="zh-CN" dirty="0" smtClean="0"/>
          </a:p>
        </p:txBody>
      </p:sp>
      <p:sp>
        <p:nvSpPr>
          <p:cNvPr id="1048755"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p>
            <a:r>
              <a:rPr lang="zh-CN" altLang="en-US" dirty="0" smtClean="0">
                <a:sym typeface="+mn-ea"/>
              </a:rPr>
              <a:t>先读</a:t>
            </a:r>
            <a:r>
              <a:rPr lang="en-US" altLang="zh-CN" dirty="0" smtClean="0">
                <a:sym typeface="+mn-ea"/>
              </a:rPr>
              <a:t>...</a:t>
            </a:r>
            <a:endParaRPr lang="zh-CN" altLang="en-US" dirty="0" smtClean="0">
              <a:sym typeface="+mn-ea"/>
            </a:endParaRPr>
          </a:p>
          <a:p>
            <a:endParaRPr lang="zh-CN" altLang="en-US" dirty="0" smtClean="0">
              <a:sym typeface="+mn-ea"/>
            </a:endParaRPr>
          </a:p>
          <a:p>
            <a:r>
              <a:rPr lang="zh-CN" altLang="en-US" dirty="0" smtClean="0">
                <a:sym typeface="+mn-ea"/>
              </a:rPr>
              <a:t>后面会介绍如何基于中心子载波的加扰值拓展出整个</a:t>
            </a:r>
            <a:r>
              <a:rPr lang="en-US" altLang="zh-CN" dirty="0" smtClean="0">
                <a:sym typeface="+mn-ea"/>
              </a:rPr>
              <a:t>OFDM</a:t>
            </a:r>
            <a:r>
              <a:rPr lang="zh-CN" altLang="en-US" dirty="0" smtClean="0">
                <a:sym typeface="+mn-ea"/>
              </a:rPr>
              <a:t>符号的加扰向量。</a:t>
            </a:r>
            <a:endParaRPr lang="zh-CN" altLang="en-US" dirty="0"/>
          </a:p>
          <a:p>
            <a:endParaRPr lang="zh-CN" altLang="en-US" dirty="0"/>
          </a:p>
        </p:txBody>
      </p:sp>
      <p:sp>
        <p:nvSpPr>
          <p:cNvPr id="1048772"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sp>
        <p:nvSpPr>
          <p:cNvPr id="1048786" name="幻灯片图像占位符 1"/>
          <p:cNvSpPr>
            <a:spLocks noGrp="1" noRot="1" noChangeAspect="1"/>
          </p:cNvSpPr>
          <p:nvPr>
            <p:ph type="sldImg"/>
          </p:nvPr>
        </p:nvSpPr>
        <p:spPr/>
      </p:sp>
      <p:sp>
        <p:nvSpPr>
          <p:cNvPr id="1048787" name="备注占位符 2"/>
          <p:cNvSpPr>
            <a:spLocks noGrp="1"/>
          </p:cNvSpPr>
          <p:nvPr>
            <p:ph type="body" idx="1"/>
          </p:nvPr>
        </p:nvSpPr>
        <p:spPr/>
        <p:txBody>
          <a:bodyPr/>
          <a:p>
            <a:r>
              <a:rPr lang="zh-CN" altLang="en-US" dirty="0" smtClean="0">
                <a:ea typeface="思源黑体 CN Bold" panose="020B0800000000000000"/>
              </a:rPr>
              <a:t>右边展示了在线性预测系数相同</a:t>
            </a:r>
            <a:r>
              <a:rPr lang="zh-CN" altLang="en-US" dirty="0" smtClean="0">
                <a:ea typeface="思源黑体 CN Bold" panose="020B0800000000000000"/>
              </a:rPr>
              <a:t>的情况下</a:t>
            </a:r>
            <a:r>
              <a:rPr lang="zh-CN" altLang="en-US" dirty="0" smtClean="0">
                <a:ea typeface="思源黑体 CN Bold" panose="020B0800000000000000"/>
              </a:rPr>
              <a:t>，使用不同的激励信号所生成的人体走路信号。</a:t>
            </a:r>
            <a:endParaRPr lang="en-US" altLang="zh-CN" dirty="0" smtClean="0">
              <a:ea typeface="思源黑体 CN Bold" panose="020B0800000000000000"/>
            </a:endParaRPr>
          </a:p>
          <a:p>
            <a:r>
              <a:rPr lang="zh-CN" altLang="en-US" dirty="0" smtClean="0">
                <a:ea typeface="思源黑体 CN Bold" panose="020B0800000000000000"/>
              </a:rPr>
              <a:t>可以看到，生成信号</a:t>
            </a:r>
            <a:r>
              <a:rPr lang="zh-CN" altLang="en-US" dirty="0" smtClean="0">
                <a:ea typeface="思源黑体 CN Bold" panose="020B0800000000000000"/>
              </a:rPr>
              <a:t>的时频分布非常相似，但它们的时域波形在</a:t>
            </a:r>
            <a:r>
              <a:rPr lang="zh-CN" altLang="en-US" dirty="0" smtClean="0">
                <a:ea typeface="思源黑体 CN Bold" panose="020B0800000000000000"/>
              </a:rPr>
              <a:t>细节上仍然</a:t>
            </a:r>
            <a:r>
              <a:rPr lang="zh-CN" altLang="en-US" dirty="0" smtClean="0">
                <a:ea typeface="思源黑体 CN Bold" panose="020B0800000000000000"/>
              </a:rPr>
              <a:t>存在区别</a:t>
            </a:r>
            <a:r>
              <a:rPr lang="zh-CN" altLang="en-US" dirty="0" smtClean="0">
                <a:ea typeface="思源黑体 CN Bold" panose="020B0800000000000000"/>
              </a:rPr>
              <a:t>。</a:t>
            </a:r>
            <a:endParaRPr lang="en-US" altLang="zh-CN" dirty="0" smtClean="0">
              <a:ea typeface="思源黑体 CN Bold" panose="020B0800000000000000"/>
            </a:endParaRPr>
          </a:p>
          <a:p>
            <a:r>
              <a:rPr lang="zh-CN" altLang="en-US" dirty="0" smtClean="0">
                <a:ea typeface="思源黑体 CN Bold" panose="020B0800000000000000"/>
              </a:rPr>
              <a:t>这使我们能够为相同的人体活动类型生成大量的随机样本，使窃听者无法</a:t>
            </a:r>
            <a:endParaRPr lang="zh-CN" altLang="en-US" dirty="0" smtClean="0">
              <a:ea typeface="思源黑体 CN Bold" panose="020B0800000000000000"/>
            </a:endParaRPr>
          </a:p>
          <a:p>
            <a:r>
              <a:rPr lang="zh-CN" altLang="en-US" dirty="0" smtClean="0">
                <a:ea typeface="思源黑体 CN Bold" panose="020B0800000000000000"/>
              </a:rPr>
              <a:t>破解出发射器所使用</a:t>
            </a:r>
            <a:r>
              <a:rPr lang="zh-CN" altLang="en-US" dirty="0" smtClean="0">
                <a:ea typeface="思源黑体 CN Bold" panose="020B0800000000000000"/>
              </a:rPr>
              <a:t>的具体加</a:t>
            </a:r>
            <a:r>
              <a:rPr lang="zh-CN" altLang="en-US" dirty="0" smtClean="0">
                <a:ea typeface="思源黑体 CN Bold" panose="020B0800000000000000"/>
              </a:rPr>
              <a:t>扰向量。</a:t>
            </a:r>
            <a:br>
              <a:rPr lang="zh-CN" altLang="en-US" dirty="0" smtClean="0">
                <a:ea typeface="思源黑体 CN Bold" panose="020B0800000000000000"/>
              </a:rPr>
            </a:br>
            <a:endParaRPr lang="zh-CN" altLang="en-US" dirty="0" smtClean="0">
              <a:ea typeface="思源黑体 CN Bold" panose="020B0800000000000000"/>
            </a:endParaRPr>
          </a:p>
          <a:p>
            <a:endParaRPr lang="zh-CN" altLang="en-US" dirty="0"/>
          </a:p>
        </p:txBody>
      </p:sp>
      <p:sp>
        <p:nvSpPr>
          <p:cNvPr id="1048788"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807" name="幻灯片图像占位符 1"/>
          <p:cNvSpPr>
            <a:spLocks noGrp="1" noRot="1" noChangeAspect="1"/>
          </p:cNvSpPr>
          <p:nvPr>
            <p:ph type="sldImg"/>
          </p:nvPr>
        </p:nvSpPr>
        <p:spPr/>
      </p:sp>
      <p:sp>
        <p:nvSpPr>
          <p:cNvPr id="1048808"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
        <p:nvSpPr>
          <p:cNvPr id="1" name="文本占位符 0"/>
          <p:cNvSpPr>
            <a:spLocks noGrp="1"/>
          </p:cNvSpPr>
          <p:nvPr>
            <p:ph type="body" idx="3"/>
          </p:nvPr>
        </p:nvSpPr>
        <p:spPr/>
        <p:txBody>
          <a:bodyPr/>
          <a:p>
            <a:r>
              <a:rPr lang="zh-CN" altLang="en-US"/>
              <a:t>从而得到加扰信号在时间维度上的变化。</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p:sp>
        <p:nvSpPr>
          <p:cNvPr id="1048825" name="幻灯片图像占位符 1"/>
          <p:cNvSpPr>
            <a:spLocks noGrp="1" noRot="1" noChangeAspect="1"/>
          </p:cNvSpPr>
          <p:nvPr>
            <p:ph type="sldImg"/>
          </p:nvPr>
        </p:nvSpPr>
        <p:spPr/>
      </p:sp>
      <p:sp>
        <p:nvSpPr>
          <p:cNvPr id="1048826"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
        <p:nvSpPr>
          <p:cNvPr id="1" name="文本占位符 0"/>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sp>
        <p:nvSpPr>
          <p:cNvPr id="1048838" name="幻灯片图像占位符 1"/>
          <p:cNvSpPr>
            <a:spLocks noGrp="1" noRot="1" noChangeAspect="1"/>
          </p:cNvSpPr>
          <p:nvPr>
            <p:ph type="sldImg"/>
          </p:nvPr>
        </p:nvSpPr>
        <p:spPr/>
      </p:sp>
      <p:sp>
        <p:nvSpPr>
          <p:cNvPr id="1048839" name="备注占位符 2"/>
          <p:cNvSpPr>
            <a:spLocks noGrp="1"/>
          </p:cNvSpPr>
          <p:nvPr>
            <p:ph type="body" idx="1"/>
          </p:nvPr>
        </p:nvSpPr>
        <p:spPr/>
        <p:txBody>
          <a:bodyPr/>
          <a:p>
            <a:r>
              <a:rPr lang="zh-CN" altLang="en-US" sz="1200" b="0" i="0" kern="1200" dirty="0" smtClean="0">
                <a:solidFill>
                  <a:schemeClr val="tx1"/>
                </a:solidFill>
                <a:effectLst/>
                <a:latin typeface="+mn-lt"/>
                <a:ea typeface="+mn-ea"/>
                <a:cs typeface="+mn-cs"/>
              </a:rPr>
              <a:t>我们根据信号</a:t>
            </a:r>
            <a:r>
              <a:rPr lang="zh-CN" altLang="en-US" sz="1200" b="0" i="0" kern="1200" dirty="0" smtClean="0">
                <a:solidFill>
                  <a:schemeClr val="tx1"/>
                </a:solidFill>
                <a:effectLst/>
                <a:latin typeface="+mn-lt"/>
                <a:ea typeface="+mn-ea"/>
                <a:cs typeface="+mn-cs"/>
              </a:rPr>
              <a:t>传播的时延模型引入两种时间延迟来构造不同子载波上的加扰值</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第一类延迟</a:t>
            </a:r>
            <a:r>
              <a:rPr lang="zh-CN" altLang="en-US" sz="1200" b="0" i="0" kern="1200" dirty="0" smtClean="0">
                <a:solidFill>
                  <a:schemeClr val="tx1"/>
                </a:solidFill>
                <a:effectLst/>
                <a:latin typeface="+mn-lt"/>
                <a:ea typeface="+mn-ea"/>
                <a:cs typeface="+mn-cs"/>
              </a:rPr>
              <a:t>， 𝜏</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𝑡</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，是应用于</a:t>
            </a:r>
            <a:r>
              <a:rPr lang="zh-CN" altLang="en-US" sz="1200" b="0" i="0" kern="1200" dirty="0" smtClean="0">
                <a:solidFill>
                  <a:schemeClr val="tx1"/>
                </a:solidFill>
                <a:effectLst/>
                <a:latin typeface="+mn-lt"/>
                <a:ea typeface="+mn-ea"/>
                <a:cs typeface="+mn-cs"/>
              </a:rPr>
              <a:t>所有</a:t>
            </a:r>
            <a:r>
              <a:rPr lang="zh-CN" altLang="en-US" sz="1200" b="0" i="0" kern="1200" dirty="0" smtClean="0">
                <a:solidFill>
                  <a:schemeClr val="tx1"/>
                </a:solidFill>
                <a:effectLst/>
                <a:latin typeface="+mn-lt"/>
                <a:ea typeface="+mn-ea"/>
                <a:cs typeface="+mn-cs"/>
              </a:rPr>
              <a:t>分量的</a:t>
            </a:r>
            <a:r>
              <a:rPr lang="zh-CN" altLang="en-US" sz="1200" b="0" i="0" kern="1200" dirty="0" smtClean="0">
                <a:solidFill>
                  <a:schemeClr val="tx1"/>
                </a:solidFill>
                <a:effectLst/>
                <a:latin typeface="+mn-lt"/>
                <a:ea typeface="+mn-ea"/>
                <a:cs typeface="+mn-cs"/>
              </a:rPr>
              <a:t>时间延迟。这类延迟的效果类似于 </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采样频偏和载波频偏的效果。</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第二类延迟， </a:t>
            </a:r>
            <a:r>
              <a:rPr lang="zh-CN" altLang="en-US" sz="1200" b="0" i="0" kern="1200" dirty="0" smtClean="0">
                <a:solidFill>
                  <a:schemeClr val="tx1"/>
                </a:solidFill>
                <a:effectLst/>
                <a:latin typeface="+mn-lt"/>
                <a:ea typeface="+mn-ea"/>
                <a:cs typeface="+mn-cs"/>
              </a:rPr>
              <a:t>𝜏𝑖</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𝑡</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模拟动态反射路径相对于直达路径的时延。</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dirty="0"/>
              <a:t>因为我们关注的是动态传播路径的长度变化规律，而不是长度本身，</a:t>
            </a:r>
            <a:endParaRPr lang="zh-CN" altLang="en-US" dirty="0"/>
          </a:p>
          <a:p>
            <a:r>
              <a:rPr lang="zh-CN" altLang="en-US" dirty="0"/>
              <a:t>所以我们根据原信号的主要频率来计算</a:t>
            </a:r>
            <a:r>
              <a:rPr lang="en-US" altLang="zh-CN" dirty="0"/>
              <a:t> </a:t>
            </a:r>
            <a:r>
              <a:rPr lang="zh-CN" altLang="en-US" dirty="0"/>
              <a:t>淘埃踢</a:t>
            </a:r>
            <a:r>
              <a:rPr lang="en-US" altLang="zh-CN" dirty="0"/>
              <a:t> </a:t>
            </a:r>
            <a:r>
              <a:rPr lang="zh-CN" altLang="en-US" dirty="0"/>
              <a:t>的变化规律，并限制它在某个区间内来回</a:t>
            </a:r>
            <a:r>
              <a:rPr lang="zh-CN" altLang="en-US" dirty="0"/>
              <a:t>波动。</a:t>
            </a:r>
            <a:endParaRPr lang="zh-CN" altLang="en-US" dirty="0"/>
          </a:p>
        </p:txBody>
      </p:sp>
      <p:sp>
        <p:nvSpPr>
          <p:cNvPr id="1048840"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07" name=""/>
        <p:cNvGrpSpPr/>
        <p:nvPr/>
      </p:nvGrpSpPr>
      <p:grpSpPr>
        <a:xfrm>
          <a:off x="0" y="0"/>
          <a:ext cx="0" cy="0"/>
          <a:chOff x="0" y="0"/>
          <a:chExt cx="0" cy="0"/>
        </a:xfrm>
      </p:grpSpPr>
      <p:sp>
        <p:nvSpPr>
          <p:cNvPr id="1048853" name="幻灯片图像占位符 1"/>
          <p:cNvSpPr>
            <a:spLocks noGrp="1" noRot="1" noChangeAspect="1"/>
          </p:cNvSpPr>
          <p:nvPr>
            <p:ph type="sldImg"/>
          </p:nvPr>
        </p:nvSpPr>
        <p:spPr/>
      </p:sp>
      <p:sp>
        <p:nvSpPr>
          <p:cNvPr id="1048854"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
        <p:nvSpPr>
          <p:cNvPr id="1" name="文本占位符 0"/>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11" name=""/>
        <p:cNvGrpSpPr/>
        <p:nvPr/>
      </p:nvGrpSpPr>
      <p:grpSpPr>
        <a:xfrm>
          <a:off x="0" y="0"/>
          <a:ext cx="0" cy="0"/>
          <a:chOff x="0" y="0"/>
          <a:chExt cx="0" cy="0"/>
        </a:xfrm>
      </p:grpSpPr>
      <p:sp>
        <p:nvSpPr>
          <p:cNvPr id="1048867" name="幻灯片图像占位符 1"/>
          <p:cNvSpPr>
            <a:spLocks noGrp="1" noRot="1" noChangeAspect="1"/>
          </p:cNvSpPr>
          <p:nvPr>
            <p:ph type="sldImg"/>
          </p:nvPr>
        </p:nvSpPr>
        <p:spPr/>
      </p:sp>
      <p:sp>
        <p:nvSpPr>
          <p:cNvPr id="1048868" name="备注占位符 2"/>
          <p:cNvSpPr>
            <a:spLocks noGrp="1"/>
          </p:cNvSpPr>
          <p:nvPr>
            <p:ph type="body" idx="1"/>
          </p:nvPr>
        </p:nvSpPr>
        <p:spPr/>
        <p:txBody>
          <a:bodyPr/>
          <a:p>
            <a:r>
              <a:rPr lang="zh-CN" altLang="en-US" dirty="0"/>
              <a:t>这里简单展示一下我们的加扰和解扰</a:t>
            </a:r>
            <a:r>
              <a:rPr lang="zh-CN" altLang="en-US" dirty="0"/>
              <a:t>效果</a:t>
            </a:r>
            <a:endParaRPr lang="zh-CN" altLang="en-US" dirty="0"/>
          </a:p>
          <a:p>
            <a:r>
              <a:rPr lang="zh-CN" altLang="en-US" dirty="0"/>
              <a:t>第一张图是环境静止时的</a:t>
            </a:r>
            <a:r>
              <a:rPr lang="zh-CN" altLang="en-US" dirty="0"/>
              <a:t>信号</a:t>
            </a:r>
            <a:endParaRPr lang="zh-CN" altLang="en-US" dirty="0"/>
          </a:p>
          <a:p>
            <a:r>
              <a:rPr lang="zh-CN" altLang="en-US" dirty="0"/>
              <a:t>第二张是坐下起立动作的</a:t>
            </a:r>
            <a:r>
              <a:rPr lang="zh-CN" altLang="en-US" dirty="0"/>
              <a:t>信号</a:t>
            </a:r>
            <a:endParaRPr lang="zh-CN" altLang="en-US" dirty="0"/>
          </a:p>
          <a:p>
            <a:r>
              <a:rPr lang="zh-CN" altLang="en-US" dirty="0"/>
              <a:t>第三张是用走路信号对坐下起立活动加扰，可见原始信息被掩盖</a:t>
            </a:r>
            <a:r>
              <a:rPr lang="zh-CN" altLang="en-US" dirty="0"/>
              <a:t>了</a:t>
            </a:r>
            <a:endParaRPr lang="zh-CN" altLang="en-US" dirty="0"/>
          </a:p>
          <a:p>
            <a:r>
              <a:rPr lang="zh-CN" altLang="en-US" dirty="0"/>
              <a:t>最后一张是解扰后的信号，可见和原始信号非常</a:t>
            </a:r>
            <a:r>
              <a:rPr lang="zh-CN" altLang="en-US" dirty="0"/>
              <a:t>相似</a:t>
            </a:r>
            <a:endParaRPr lang="zh-CN" altLang="en-US" dirty="0"/>
          </a:p>
        </p:txBody>
      </p:sp>
      <p:sp>
        <p:nvSpPr>
          <p:cNvPr id="1048869"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15" name=""/>
        <p:cNvGrpSpPr/>
        <p:nvPr/>
      </p:nvGrpSpPr>
      <p:grpSpPr>
        <a:xfrm>
          <a:off x="0" y="0"/>
          <a:ext cx="0" cy="0"/>
          <a:chOff x="0" y="0"/>
          <a:chExt cx="0" cy="0"/>
        </a:xfrm>
      </p:grpSpPr>
      <p:sp>
        <p:nvSpPr>
          <p:cNvPr id="1048878" name="幻灯片图像占位符 1"/>
          <p:cNvSpPr>
            <a:spLocks noGrp="1" noRot="1" noChangeAspect="1"/>
          </p:cNvSpPr>
          <p:nvPr>
            <p:ph type="sldImg"/>
          </p:nvPr>
        </p:nvSpPr>
        <p:spPr/>
      </p:sp>
      <p:sp>
        <p:nvSpPr>
          <p:cNvPr id="1048879" name="备注占位符 2"/>
          <p:cNvSpPr>
            <a:spLocks noGrp="1"/>
          </p:cNvSpPr>
          <p:nvPr>
            <p:ph type="body" idx="1"/>
          </p:nvPr>
        </p:nvSpPr>
        <p:spPr/>
        <p:txBody>
          <a:bodyPr/>
          <a:p>
            <a:r>
              <a:rPr lang="zh-CN" altLang="en-US" sz="1200" b="0" i="0" kern="1200" dirty="0" smtClean="0">
                <a:solidFill>
                  <a:schemeClr val="tx1"/>
                </a:solidFill>
                <a:effectLst/>
                <a:latin typeface="+mn-lt"/>
                <a:ea typeface="+mn-ea"/>
                <a:cs typeface="+mn-cs"/>
              </a:rPr>
              <a:t>我们在</a:t>
            </a:r>
            <a:r>
              <a:rPr lang="en-US" altLang="zh-CN" sz="1200" b="0" i="0" kern="1200" dirty="0" smtClean="0">
                <a:solidFill>
                  <a:schemeClr val="tx1"/>
                </a:solidFill>
                <a:effectLst/>
                <a:latin typeface="+mn-lt"/>
                <a:ea typeface="+mn-ea"/>
                <a:cs typeface="+mn-cs"/>
              </a:rPr>
              <a:t>FPGA</a:t>
            </a:r>
            <a:r>
              <a:rPr lang="zh-CN" altLang="en-US" sz="1200" b="0" i="0" kern="1200" dirty="0" smtClean="0">
                <a:solidFill>
                  <a:schemeClr val="tx1"/>
                </a:solidFill>
                <a:effectLst/>
                <a:latin typeface="+mn-lt"/>
                <a:ea typeface="+mn-ea"/>
                <a:cs typeface="+mn-cs"/>
              </a:rPr>
              <a:t>开发平台上基于 </a:t>
            </a:r>
            <a:r>
              <a:rPr lang="en-US" altLang="zh-CN" sz="1200" b="0" i="0" kern="1200" dirty="0" smtClean="0">
                <a:solidFill>
                  <a:schemeClr val="tx1"/>
                </a:solidFill>
                <a:effectLst/>
                <a:latin typeface="+mn-lt"/>
                <a:ea typeface="+mn-ea"/>
                <a:cs typeface="+mn-cs"/>
              </a:rPr>
              <a:t>OpenWiFi </a:t>
            </a:r>
            <a:r>
              <a:rPr lang="zh-CN" altLang="en-US" sz="1200" b="0" i="0" kern="1200" dirty="0" smtClean="0">
                <a:solidFill>
                  <a:schemeClr val="tx1"/>
                </a:solidFill>
                <a:effectLst/>
                <a:latin typeface="+mn-lt"/>
                <a:ea typeface="+mn-ea"/>
                <a:cs typeface="+mn-cs"/>
              </a:rPr>
              <a:t>框架实现了 </a:t>
            </a:r>
            <a:r>
              <a:rPr lang="en-US" altLang="zh-CN" sz="1200" b="0" i="0" kern="1200" dirty="0" smtClean="0">
                <a:solidFill>
                  <a:schemeClr val="tx1"/>
                </a:solidFill>
                <a:effectLst/>
                <a:latin typeface="+mn-lt"/>
                <a:ea typeface="+mn-ea"/>
                <a:cs typeface="+mn-cs"/>
              </a:rPr>
              <a:t>CSS</a:t>
            </a:r>
            <a:r>
              <a:rPr lang="zh-CN" altLang="en-US" sz="1200" b="0" i="0" kern="1200" dirty="0" smtClean="0">
                <a:solidFill>
                  <a:schemeClr val="tx1"/>
                </a:solidFill>
                <a:effectLst/>
                <a:latin typeface="+mn-lt"/>
                <a:ea typeface="+mn-ea"/>
                <a:cs typeface="+mn-cs"/>
              </a:rPr>
              <a:t>。</a:t>
            </a:r>
            <a:endParaRPr lang="zh-CN" altLang="en-US"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pPr>
            <a:r>
              <a:rPr lang="zh-CN" altLang="en-US" dirty="0" smtClean="0"/>
              <a:t>首先在操作系统的用户空间中</a:t>
            </a:r>
            <a:r>
              <a:rPr lang="zh-CN" altLang="en-US" dirty="0" smtClean="0"/>
              <a:t>产生加扰向量，并存入位于驱动中的缓存区，</a:t>
            </a:r>
            <a:endParaRPr lang="zh-CN" altLang="en-US" dirty="0" smtClean="0"/>
          </a:p>
          <a:p>
            <a:pPr marL="0" marR="0" indent="0" algn="l" defTabSz="914400" rtl="0" eaLnBrk="1" fontAlgn="auto" latinLnBrk="0" hangingPunct="1">
              <a:lnSpc>
                <a:spcPct val="100000"/>
              </a:lnSpc>
              <a:spcBef>
                <a:spcPts val="0"/>
              </a:spcBef>
              <a:spcAft>
                <a:spcPts val="0"/>
              </a:spcAft>
              <a:buClrTx/>
              <a:buSzTx/>
              <a:buFontTx/>
              <a:buNone/>
            </a:pPr>
            <a:endParaRPr lang="en-US" altLang="zh-CN" dirty="0" smtClean="0"/>
          </a:p>
          <a:p>
            <a:r>
              <a:rPr lang="zh-CN" altLang="en-US" sz="1200" b="0" i="0" kern="1200" dirty="0" smtClean="0">
                <a:solidFill>
                  <a:schemeClr val="tx1"/>
                </a:solidFill>
                <a:effectLst/>
                <a:latin typeface="+mn-lt"/>
                <a:ea typeface="+mn-ea"/>
                <a:cs typeface="+mn-cs"/>
              </a:rPr>
              <a:t>随后在网卡驱动中根据发送时刻为每个数据帧选择一个加扰向量，通过</a:t>
            </a:r>
            <a:r>
              <a:rPr lang="en-US" altLang="zh-CN" sz="1200" b="0" i="0" kern="1200" dirty="0" smtClean="0">
                <a:solidFill>
                  <a:schemeClr val="tx1"/>
                </a:solidFill>
                <a:effectLst/>
                <a:latin typeface="+mn-lt"/>
                <a:ea typeface="+mn-ea"/>
                <a:cs typeface="+mn-cs"/>
              </a:rPr>
              <a:t>DMA</a:t>
            </a:r>
            <a:r>
              <a:rPr lang="zh-CN" altLang="en-US" sz="1200" b="0" i="0" kern="1200" dirty="0" smtClean="0">
                <a:solidFill>
                  <a:schemeClr val="tx1"/>
                </a:solidFill>
                <a:effectLst/>
                <a:latin typeface="+mn-lt"/>
                <a:ea typeface="+mn-ea"/>
                <a:cs typeface="+mn-cs"/>
              </a:rPr>
              <a:t>传输到物理层</a:t>
            </a:r>
            <a:endParaRPr lang="zh-CN" altLang="en-US"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最后在物理层的基带信号处理过程中将每个</a:t>
            </a:r>
            <a:r>
              <a:rPr lang="en-US" altLang="zh-CN" sz="1200" b="0" i="0" kern="1200" dirty="0" smtClean="0">
                <a:solidFill>
                  <a:schemeClr val="tx1"/>
                </a:solidFill>
                <a:effectLst/>
                <a:latin typeface="+mn-lt"/>
                <a:ea typeface="+mn-ea"/>
                <a:cs typeface="+mn-cs"/>
              </a:rPr>
              <a:t>OFDM</a:t>
            </a:r>
            <a:r>
              <a:rPr lang="zh-CN" altLang="en-US" sz="1200" b="0" i="0" kern="1200" dirty="0" smtClean="0">
                <a:solidFill>
                  <a:schemeClr val="tx1"/>
                </a:solidFill>
                <a:effectLst/>
                <a:latin typeface="+mn-lt"/>
                <a:ea typeface="+mn-ea"/>
                <a:cs typeface="+mn-cs"/>
              </a:rPr>
              <a:t>符号乘以所选的加扰向量，完成</a:t>
            </a:r>
            <a:r>
              <a:rPr lang="zh-CN" altLang="en-US" sz="1200" b="0" i="0" kern="1200" dirty="0" smtClean="0">
                <a:solidFill>
                  <a:schemeClr val="tx1"/>
                </a:solidFill>
                <a:effectLst/>
                <a:latin typeface="+mn-lt"/>
                <a:ea typeface="+mn-ea"/>
                <a:cs typeface="+mn-cs"/>
              </a:rPr>
              <a:t>信道加</a:t>
            </a:r>
            <a:r>
              <a:rPr lang="zh-CN" altLang="en-US" sz="1200" b="0" i="0" kern="1200" dirty="0" smtClean="0">
                <a:solidFill>
                  <a:schemeClr val="tx1"/>
                </a:solidFill>
                <a:effectLst/>
                <a:latin typeface="+mn-lt"/>
                <a:ea typeface="+mn-ea"/>
                <a:cs typeface="+mn-cs"/>
              </a:rPr>
              <a:t>扰</a:t>
            </a:r>
            <a:endParaRPr lang="en-US" altLang="zh-CN" sz="1200" b="0" i="0" kern="1200" dirty="0" smtClean="0">
              <a:solidFill>
                <a:schemeClr val="tx1"/>
              </a:solidFill>
              <a:effectLst/>
              <a:latin typeface="+mn-lt"/>
              <a:ea typeface="+mn-ea"/>
              <a:cs typeface="+mn-cs"/>
            </a:endParaRPr>
          </a:p>
          <a:p>
            <a:endParaRPr lang="en-US" altLang="zh-CN" dirty="0" smtClean="0"/>
          </a:p>
          <a:p>
            <a:r>
              <a:rPr lang="zh-CN" altLang="en-US" dirty="0" smtClean="0"/>
              <a:t>对于合法感知器，它首先</a:t>
            </a:r>
            <a:r>
              <a:rPr lang="zh-CN" altLang="en-US" dirty="0" smtClean="0"/>
              <a:t>根据共享</a:t>
            </a:r>
            <a:r>
              <a:rPr lang="zh-CN" altLang="en-US" dirty="0" smtClean="0"/>
              <a:t>的密钥</a:t>
            </a:r>
            <a:r>
              <a:rPr lang="en-US" altLang="zh-CN" dirty="0" smtClean="0"/>
              <a:t>K</a:t>
            </a:r>
            <a:r>
              <a:rPr lang="zh-CN" altLang="en-US" dirty="0" smtClean="0"/>
              <a:t>生成完全相同的加扰向量序列，然后根据数据包</a:t>
            </a:r>
            <a:endParaRPr lang="en-US" altLang="zh-CN" dirty="0" smtClean="0"/>
          </a:p>
          <a:p>
            <a:r>
              <a:rPr lang="zh-CN" altLang="en-US" dirty="0" smtClean="0"/>
              <a:t>的接收时刻找到</a:t>
            </a:r>
            <a:r>
              <a:rPr lang="zh-CN" altLang="en-US" dirty="0" smtClean="0"/>
              <a:t>对应的加扰向量完成</a:t>
            </a:r>
            <a:r>
              <a:rPr lang="zh-CN" altLang="en-US" dirty="0" smtClean="0"/>
              <a:t>解扰。</a:t>
            </a:r>
            <a:endParaRPr lang="zh-CN" altLang="en-US" dirty="0" smtClean="0"/>
          </a:p>
        </p:txBody>
      </p:sp>
      <p:sp>
        <p:nvSpPr>
          <p:cNvPr id="1048880"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19" name=""/>
        <p:cNvGrpSpPr/>
        <p:nvPr/>
      </p:nvGrpSpPr>
      <p:grpSpPr>
        <a:xfrm>
          <a:off x="0" y="0"/>
          <a:ext cx="0" cy="0"/>
          <a:chOff x="0" y="0"/>
          <a:chExt cx="0" cy="0"/>
        </a:xfrm>
      </p:grpSpPr>
      <p:sp>
        <p:nvSpPr>
          <p:cNvPr id="1048892" name="幻灯片图像占位符 1"/>
          <p:cNvSpPr>
            <a:spLocks noGrp="1" noRot="1" noChangeAspect="1"/>
          </p:cNvSpPr>
          <p:nvPr>
            <p:ph type="sldImg"/>
          </p:nvPr>
        </p:nvSpPr>
        <p:spPr/>
      </p:sp>
      <p:sp>
        <p:nvSpPr>
          <p:cNvPr id="1048893" name="备注占位符 2"/>
          <p:cNvSpPr>
            <a:spLocks noGrp="1"/>
          </p:cNvSpPr>
          <p:nvPr>
            <p:ph type="body" idx="1"/>
          </p:nvPr>
        </p:nvSpPr>
        <p:spPr/>
        <p:txBody>
          <a:bodyPr/>
          <a:p>
            <a:r>
              <a:rPr lang="zh-CN" altLang="en-US" dirty="0" smtClean="0"/>
              <a:t>为了验证系统的效果，我们开展了大量的实验，</a:t>
            </a:r>
            <a:endParaRPr lang="zh-CN" altLang="en-US" dirty="0" smtClean="0"/>
          </a:p>
          <a:p>
            <a:r>
              <a:rPr lang="zh-CN" altLang="en-US">
                <a:sym typeface="+mn-ea"/>
              </a:rPr>
              <a:t>评估</a:t>
            </a:r>
            <a:r>
              <a:rPr lang="en-US" altLang="zh-CN">
                <a:sym typeface="+mn-ea"/>
              </a:rPr>
              <a:t>CSS</a:t>
            </a:r>
            <a:r>
              <a:rPr lang="zh-CN" altLang="en-US">
                <a:sym typeface="+mn-ea"/>
              </a:rPr>
              <a:t>系统的通信性能、加扰和解扰性能</a:t>
            </a:r>
            <a:endParaRPr lang="zh-CN" altLang="en-US"/>
          </a:p>
          <a:p>
            <a:r>
              <a:rPr lang="zh-CN" altLang="en-US" dirty="0" smtClean="0"/>
              <a:t>这是我们的实验环境和实验设备</a:t>
            </a:r>
            <a:endParaRPr lang="zh-CN" altLang="en-US" dirty="0"/>
          </a:p>
        </p:txBody>
      </p:sp>
      <p:sp>
        <p:nvSpPr>
          <p:cNvPr id="1048894"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23" name=""/>
        <p:cNvGrpSpPr/>
        <p:nvPr/>
      </p:nvGrpSpPr>
      <p:grpSpPr>
        <a:xfrm>
          <a:off x="0" y="0"/>
          <a:ext cx="0" cy="0"/>
          <a:chOff x="0" y="0"/>
          <a:chExt cx="0" cy="0"/>
        </a:xfrm>
      </p:grpSpPr>
      <p:sp>
        <p:nvSpPr>
          <p:cNvPr id="1048904" name="幻灯片图像占位符 1"/>
          <p:cNvSpPr>
            <a:spLocks noGrp="1" noRot="1" noChangeAspect="1"/>
          </p:cNvSpPr>
          <p:nvPr>
            <p:ph type="sldImg"/>
          </p:nvPr>
        </p:nvSpPr>
        <p:spPr/>
      </p:sp>
      <p:sp>
        <p:nvSpPr>
          <p:cNvPr id="1048905" name="备注占位符 2"/>
          <p:cNvSpPr>
            <a:spLocks noGrp="1"/>
          </p:cNvSpPr>
          <p:nvPr>
            <p:ph type="body" idx="1"/>
          </p:nvPr>
        </p:nvSpPr>
        <p:spPr/>
        <p:txBody>
          <a:bodyPr/>
          <a:p>
            <a:r>
              <a:rPr lang="zh-CN" altLang="en-US" dirty="0" smtClean="0">
                <a:ea typeface="思源黑体 CN Bold" panose="020B0800000000000000"/>
              </a:rPr>
              <a:t>我们用</a:t>
            </a:r>
            <a:r>
              <a:rPr lang="en-US" altLang="zh-CN" dirty="0" smtClean="0">
                <a:ea typeface="思源黑体 CN Bold" panose="020B0800000000000000"/>
              </a:rPr>
              <a:t>iperf</a:t>
            </a:r>
            <a:r>
              <a:rPr lang="zh-CN" altLang="en-US" dirty="0" smtClean="0">
                <a:ea typeface="思源黑体 CN Bold" panose="020B0800000000000000"/>
              </a:rPr>
              <a:t>工具测量端到端的</a:t>
            </a:r>
            <a:r>
              <a:rPr lang="zh-CN" altLang="en-US" dirty="0" smtClean="0">
                <a:solidFill>
                  <a:srgbClr val="FF0000"/>
                </a:solidFill>
                <a:ea typeface="思源黑体 CN Bold" panose="020B0800000000000000"/>
              </a:rPr>
              <a:t>数据吞吐量</a:t>
            </a:r>
            <a:r>
              <a:rPr lang="zh-CN" altLang="en-US" dirty="0" smtClean="0">
                <a:ea typeface="思源黑体 CN Bold" panose="020B0800000000000000"/>
              </a:rPr>
              <a:t>和</a:t>
            </a:r>
            <a:r>
              <a:rPr lang="zh-CN" altLang="en-US" dirty="0" smtClean="0">
                <a:solidFill>
                  <a:srgbClr val="FF0000"/>
                </a:solidFill>
                <a:ea typeface="思源黑体 CN Bold" panose="020B0800000000000000"/>
              </a:rPr>
              <a:t>丢包率</a:t>
            </a:r>
            <a:r>
              <a:rPr lang="zh-CN" altLang="en-US" dirty="0" smtClean="0">
                <a:ea typeface="思源黑体 CN Bold" panose="020B0800000000000000"/>
              </a:rPr>
              <a:t>作为系统通信性能的关键评估指标。</a:t>
            </a:r>
            <a:endParaRPr lang="en-US" altLang="zh-CN" dirty="0" smtClean="0">
              <a:ea typeface="思源黑体 CN Bold" panose="020B0800000000000000"/>
            </a:endParaRPr>
          </a:p>
          <a:p>
            <a:endParaRPr lang="en-US" altLang="zh-CN" dirty="0" smtClean="0">
              <a:ea typeface="思源黑体 CN Bold" panose="020B0800000000000000"/>
            </a:endParaRPr>
          </a:p>
          <a:p>
            <a:r>
              <a:rPr lang="zh-CN" altLang="en-US" dirty="0" smtClean="0">
                <a:ea typeface="思源黑体 CN Bold" panose="020B0800000000000000"/>
              </a:rPr>
              <a:t>结论：实现了 </a:t>
            </a:r>
            <a:r>
              <a:rPr lang="en-US" altLang="zh-CN" dirty="0" smtClean="0">
                <a:ea typeface="思源黑体 CN Bold" panose="020B0800000000000000"/>
              </a:rPr>
              <a:t>CSS </a:t>
            </a:r>
            <a:r>
              <a:rPr lang="zh-CN" altLang="en-US" dirty="0" smtClean="0">
                <a:ea typeface="思源黑体 CN Bold" panose="020B0800000000000000"/>
              </a:rPr>
              <a:t>的 </a:t>
            </a:r>
            <a:r>
              <a:rPr lang="en-US" altLang="zh-CN" dirty="0" smtClean="0">
                <a:ea typeface="思源黑体 CN Bold" panose="020B0800000000000000"/>
              </a:rPr>
              <a:t>OpenWiFi </a:t>
            </a:r>
            <a:r>
              <a:rPr lang="zh-CN" altLang="en-US" dirty="0" smtClean="0">
                <a:ea typeface="思源黑体 CN Bold" panose="020B0800000000000000"/>
              </a:rPr>
              <a:t>和原始的 </a:t>
            </a:r>
            <a:r>
              <a:rPr lang="en-US" altLang="zh-CN" dirty="0" smtClean="0">
                <a:ea typeface="思源黑体 CN Bold" panose="020B0800000000000000"/>
              </a:rPr>
              <a:t>OpenWiFi </a:t>
            </a:r>
            <a:r>
              <a:rPr lang="zh-CN" altLang="en-US" dirty="0" smtClean="0">
                <a:ea typeface="思源黑体 CN Bold" panose="020B0800000000000000"/>
              </a:rPr>
              <a:t>相比，</a:t>
            </a:r>
            <a:endParaRPr lang="en-US" altLang="zh-CN" dirty="0" smtClean="0">
              <a:ea typeface="思源黑体 CN Bold" panose="020B0800000000000000"/>
            </a:endParaRPr>
          </a:p>
          <a:p>
            <a:r>
              <a:rPr lang="zh-CN" altLang="en-US" dirty="0" smtClean="0">
                <a:ea typeface="思源黑体 CN Bold" panose="020B0800000000000000"/>
              </a:rPr>
              <a:t>在除了 </a:t>
            </a:r>
            <a:r>
              <a:rPr lang="en-US" altLang="zh-CN" dirty="0" smtClean="0">
                <a:ea typeface="思源黑体 CN Bold" panose="020B0800000000000000"/>
              </a:rPr>
              <a:t>64QAM </a:t>
            </a:r>
            <a:r>
              <a:rPr lang="zh-CN" altLang="en-US" dirty="0" smtClean="0">
                <a:ea typeface="思源黑体 CN Bold" panose="020B0800000000000000"/>
              </a:rPr>
              <a:t>的其他所有调制模式下都能保持在和原始 </a:t>
            </a:r>
            <a:r>
              <a:rPr lang="en-US" altLang="zh-CN" dirty="0" smtClean="0">
                <a:ea typeface="思源黑体 CN Bold" panose="020B0800000000000000"/>
              </a:rPr>
              <a:t>OpenWiFi </a:t>
            </a:r>
            <a:r>
              <a:rPr lang="zh-CN" altLang="en-US" dirty="0" smtClean="0">
                <a:ea typeface="思源黑体 CN Bold" panose="020B0800000000000000"/>
              </a:rPr>
              <a:t>相同的水平。 </a:t>
            </a:r>
            <a:br>
              <a:rPr lang="zh-CN" altLang="en-US" dirty="0" smtClean="0">
                <a:ea typeface="思源黑体 CN Bold" panose="020B0800000000000000"/>
              </a:rPr>
            </a:br>
            <a:endParaRPr lang="zh-CN" altLang="en-US" dirty="0">
              <a:ea typeface="思源黑体 CN Bold" panose="020B0800000000000000"/>
            </a:endParaRPr>
          </a:p>
        </p:txBody>
      </p:sp>
      <p:sp>
        <p:nvSpPr>
          <p:cNvPr id="1048906"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27" name=""/>
        <p:cNvGrpSpPr/>
        <p:nvPr/>
      </p:nvGrpSpPr>
      <p:grpSpPr>
        <a:xfrm>
          <a:off x="0" y="0"/>
          <a:ext cx="0" cy="0"/>
          <a:chOff x="0" y="0"/>
          <a:chExt cx="0" cy="0"/>
        </a:xfrm>
      </p:grpSpPr>
      <p:sp>
        <p:nvSpPr>
          <p:cNvPr id="1048916" name="幻灯片图像占位符 1"/>
          <p:cNvSpPr>
            <a:spLocks noGrp="1" noRot="1" noChangeAspect="1"/>
          </p:cNvSpPr>
          <p:nvPr>
            <p:ph type="sldImg"/>
          </p:nvPr>
        </p:nvSpPr>
        <p:spPr/>
      </p:sp>
      <p:sp>
        <p:nvSpPr>
          <p:cNvPr id="1048917" name="备注占位符 2"/>
          <p:cNvSpPr>
            <a:spLocks noGrp="1"/>
          </p:cNvSpPr>
          <p:nvPr>
            <p:ph type="body" idx="1"/>
          </p:nvPr>
        </p:nvSpPr>
        <p:spPr/>
        <p:txBody>
          <a:bodyPr/>
          <a:p>
            <a:r>
              <a:rPr lang="zh-CN" altLang="en-US" dirty="0" smtClean="0">
                <a:ea typeface="思源黑体 CN Bold" panose="020B0800000000000000"/>
              </a:rPr>
              <a:t>我们着重对比了在</a:t>
            </a:r>
            <a:r>
              <a:rPr lang="en-US" altLang="zh-CN" dirty="0" smtClean="0">
                <a:ea typeface="思源黑体 CN Bold" panose="020B0800000000000000"/>
              </a:rPr>
              <a:t>64QAM</a:t>
            </a:r>
            <a:r>
              <a:rPr lang="zh-CN" altLang="en-US" dirty="0" smtClean="0">
                <a:ea typeface="思源黑体 CN Bold" panose="020B0800000000000000"/>
              </a:rPr>
              <a:t>调制模式下，若干接收设备，在不同收发距离、不同加扰强度下的数据通信性能。</a:t>
            </a:r>
            <a:endParaRPr lang="en-US" altLang="zh-CN" dirty="0" smtClean="0">
              <a:ea typeface="思源黑体 CN Bold" panose="020B0800000000000000"/>
            </a:endParaRPr>
          </a:p>
          <a:p>
            <a:endParaRPr lang="en-US" altLang="zh-CN" dirty="0" smtClean="0">
              <a:ea typeface="思源黑体 CN Bold" panose="020B0800000000000000"/>
            </a:endParaRPr>
          </a:p>
          <a:p>
            <a:r>
              <a:rPr lang="zh-CN" altLang="en-US" dirty="0" smtClean="0">
                <a:ea typeface="思源黑体 CN Bold" panose="020B0800000000000000"/>
              </a:rPr>
              <a:t>结论：所有测试设备在不同距离、不同加扰强度下，使用 </a:t>
            </a:r>
            <a:r>
              <a:rPr lang="en-US" altLang="zh-CN" dirty="0" smtClean="0">
                <a:ea typeface="思源黑体 CN Bold" panose="020B0800000000000000"/>
              </a:rPr>
              <a:t>64QAM </a:t>
            </a:r>
            <a:r>
              <a:rPr lang="zh-CN" altLang="en-US" dirty="0" smtClean="0">
                <a:ea typeface="思源黑体 CN Bold" panose="020B0800000000000000"/>
              </a:rPr>
              <a:t>调制模式并没有使通信性能发生质的下降。 </a:t>
            </a:r>
            <a:endParaRPr lang="en-US" altLang="zh-CN" dirty="0" smtClean="0">
              <a:ea typeface="思源黑体 CN Bold" panose="020B0800000000000000"/>
            </a:endParaRPr>
          </a:p>
          <a:p>
            <a:pPr marL="742950" lvl="1" indent="-285750">
              <a:buFont typeface="Arial" panose="020B0604020202090204" pitchFamily="34" charset="0"/>
              <a:buChar char="•"/>
            </a:pPr>
            <a:r>
              <a:rPr lang="zh-CN" altLang="en-US" dirty="0" smtClean="0">
                <a:ea typeface="思源黑体 CN Bold" panose="020B0800000000000000"/>
              </a:rPr>
              <a:t>数据吞吐量比原始</a:t>
            </a:r>
            <a:r>
              <a:rPr lang="en-US" altLang="zh-CN" dirty="0" smtClean="0">
                <a:ea typeface="思源黑体 CN Bold" panose="020B0800000000000000"/>
              </a:rPr>
              <a:t>OpenWiFi</a:t>
            </a:r>
            <a:r>
              <a:rPr lang="zh-CN" altLang="en-US" dirty="0" smtClean="0">
                <a:ea typeface="思源黑体 CN Bold" panose="020B0800000000000000"/>
              </a:rPr>
              <a:t>下降约</a:t>
            </a:r>
            <a:r>
              <a:rPr lang="en-US" altLang="zh-CN" dirty="0" smtClean="0">
                <a:ea typeface="思源黑体 CN Bold" panose="020B0800000000000000"/>
              </a:rPr>
              <a:t>3%</a:t>
            </a:r>
            <a:endParaRPr lang="en-US" altLang="zh-CN" dirty="0" smtClean="0">
              <a:ea typeface="思源黑体 CN Bold" panose="020B0800000000000000"/>
            </a:endParaRPr>
          </a:p>
          <a:p>
            <a:pPr marL="742950" lvl="1" indent="-285750">
              <a:buFont typeface="Arial" panose="020B0604020202090204" pitchFamily="34" charset="0"/>
              <a:buChar char="•"/>
            </a:pPr>
            <a:r>
              <a:rPr lang="zh-CN" altLang="en-US" dirty="0" smtClean="0">
                <a:ea typeface="思源黑体 CN Bold" panose="020B0800000000000000"/>
              </a:rPr>
              <a:t>丢包率小幅度上升，但仍呈现出一定随机性</a:t>
            </a:r>
            <a:endParaRPr lang="zh-CN" altLang="en-US" dirty="0" smtClean="0">
              <a:ea typeface="思源黑体 CN Bold" panose="020B0800000000000000"/>
            </a:endParaRPr>
          </a:p>
          <a:p>
            <a:endParaRPr lang="en-US" altLang="zh-CN" dirty="0" smtClean="0"/>
          </a:p>
          <a:p>
            <a:r>
              <a:rPr lang="zh-CN" altLang="en-US" sz="1200" b="0" i="0" kern="1200" dirty="0" smtClean="0">
                <a:solidFill>
                  <a:schemeClr val="tx1"/>
                </a:solidFill>
                <a:effectLst/>
                <a:latin typeface="+mn-lt"/>
                <a:ea typeface="+mn-ea"/>
                <a:cs typeface="+mn-cs"/>
              </a:rPr>
              <a:t>为了保护隐私付出一点代价未尝不可接受</a:t>
            </a:r>
            <a:r>
              <a:rPr lang="zh-CN" altLang="en-US" dirty="0" smtClean="0"/>
              <a:t> ，微小的峰值性能下降未必会对实际体验产生影响。</a:t>
            </a:r>
            <a:br>
              <a:rPr lang="zh-CN" altLang="en-US" dirty="0" smtClean="0"/>
            </a:br>
            <a:endParaRPr lang="zh-CN" altLang="en-US" dirty="0"/>
          </a:p>
        </p:txBody>
      </p:sp>
      <p:sp>
        <p:nvSpPr>
          <p:cNvPr id="1048918"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31" name=""/>
        <p:cNvGrpSpPr/>
        <p:nvPr/>
      </p:nvGrpSpPr>
      <p:grpSpPr>
        <a:xfrm>
          <a:off x="0" y="0"/>
          <a:ext cx="0" cy="0"/>
          <a:chOff x="0" y="0"/>
          <a:chExt cx="0" cy="0"/>
        </a:xfrm>
      </p:grpSpPr>
      <p:sp>
        <p:nvSpPr>
          <p:cNvPr id="1048930" name="幻灯片图像占位符 1"/>
          <p:cNvSpPr>
            <a:spLocks noGrp="1" noRot="1" noChangeAspect="1"/>
          </p:cNvSpPr>
          <p:nvPr>
            <p:ph type="sldImg"/>
          </p:nvPr>
        </p:nvSpPr>
        <p:spPr/>
      </p:sp>
      <p:sp>
        <p:nvSpPr>
          <p:cNvPr id="1048931" name="备注占位符 2"/>
          <p:cNvSpPr>
            <a:spLocks noGrp="1"/>
          </p:cNvSpPr>
          <p:nvPr>
            <p:ph type="body" idx="1"/>
          </p:nvPr>
        </p:nvSpPr>
        <p:spPr/>
        <p:txBody>
          <a:bodyPr/>
          <a:p>
            <a:r>
              <a:rPr lang="zh-CN" altLang="en-US" dirty="0" smtClean="0"/>
              <a:t>我们在机器学习识别模型上检验了</a:t>
            </a:r>
            <a:r>
              <a:rPr lang="en-US" altLang="zh-CN" dirty="0" smtClean="0"/>
              <a:t>CSS</a:t>
            </a:r>
            <a:r>
              <a:rPr lang="zh-CN" altLang="en-US" dirty="0" smtClean="0"/>
              <a:t>的加扰性能和合法感知器的性能。</a:t>
            </a:r>
            <a:endParaRPr lang="en-US" altLang="zh-CN" dirty="0" smtClean="0"/>
          </a:p>
          <a:p>
            <a:endParaRPr lang="en-US" altLang="zh-CN" dirty="0" smtClean="0"/>
          </a:p>
          <a:p>
            <a:r>
              <a:rPr lang="zh-CN" altLang="en-US" dirty="0" smtClean="0"/>
              <a:t>在第一个场景中，环境是静止的，</a:t>
            </a:r>
            <a:r>
              <a:rPr lang="en-US" altLang="zh-CN" dirty="0" smtClean="0"/>
              <a:t>CSS</a:t>
            </a:r>
            <a:r>
              <a:rPr lang="zh-CN" altLang="en-US" dirty="0" smtClean="0"/>
              <a:t>发送模拟</a:t>
            </a:r>
            <a:r>
              <a:rPr lang="zh-CN" altLang="en-US" dirty="0" smtClean="0"/>
              <a:t>信号欺骗</a:t>
            </a:r>
            <a:r>
              <a:rPr lang="zh-CN" altLang="en-US" dirty="0" smtClean="0"/>
              <a:t>窃听者，</a:t>
            </a:r>
            <a:endParaRPr lang="en-US" altLang="zh-CN" dirty="0" smtClean="0"/>
          </a:p>
          <a:p>
            <a:r>
              <a:rPr lang="zh-CN" altLang="en-US" dirty="0" smtClean="0"/>
              <a:t>欺骗成功率是</a:t>
            </a:r>
            <a:r>
              <a:rPr lang="en-US" altLang="zh-CN" dirty="0" smtClean="0"/>
              <a:t>99%</a:t>
            </a:r>
            <a:r>
              <a:rPr lang="zh-CN" altLang="en-US" dirty="0" smtClean="0"/>
              <a:t>，</a:t>
            </a:r>
            <a:endParaRPr lang="en-US" altLang="zh-CN" dirty="0" smtClean="0"/>
          </a:p>
          <a:p>
            <a:r>
              <a:rPr lang="zh-CN" altLang="en-US" dirty="0" smtClean="0"/>
              <a:t>而合法感知器解扰后，</a:t>
            </a:r>
            <a:r>
              <a:rPr lang="en-US" altLang="zh-CN" dirty="0" smtClean="0"/>
              <a:t>99%</a:t>
            </a:r>
            <a:r>
              <a:rPr lang="zh-CN" altLang="en-US" dirty="0" smtClean="0"/>
              <a:t>的样本被正确识别为静止。</a:t>
            </a:r>
            <a:endParaRPr lang="en-US" altLang="zh-CN" dirty="0" smtClean="0"/>
          </a:p>
          <a:p>
            <a:endParaRPr lang="en-US" altLang="zh-CN" dirty="0" smtClean="0"/>
          </a:p>
          <a:p>
            <a:r>
              <a:rPr lang="zh-CN" altLang="en-US" dirty="0" smtClean="0"/>
              <a:t>在第二个场景中，环境中存在真实的人体活动，而发射器使用走路信号</a:t>
            </a:r>
            <a:endParaRPr lang="en-US" altLang="zh-CN" dirty="0" smtClean="0"/>
          </a:p>
          <a:p>
            <a:r>
              <a:rPr lang="zh-CN" altLang="en-US" dirty="0" smtClean="0"/>
              <a:t>去掩盖环境中的真实信息，可见不论环境中的人在做什么动作，模型都倾向于</a:t>
            </a:r>
            <a:endParaRPr lang="zh-CN" altLang="en-US" dirty="0" smtClean="0"/>
          </a:p>
          <a:p>
            <a:pPr marL="0" marR="0" lvl="1" indent="0" algn="l" defTabSz="914400" rtl="0" eaLnBrk="1" fontAlgn="auto" latinLnBrk="0" hangingPunct="1">
              <a:lnSpc>
                <a:spcPct val="100000"/>
              </a:lnSpc>
              <a:spcBef>
                <a:spcPts val="0"/>
              </a:spcBef>
              <a:spcAft>
                <a:spcPts val="0"/>
              </a:spcAft>
              <a:buClrTx/>
              <a:buSzTx/>
              <a:buFontTx/>
              <a:buNone/>
            </a:pPr>
            <a:r>
              <a:rPr lang="zh-CN" altLang="en-US" dirty="0" smtClean="0"/>
              <a:t>认为环境有人在走路；</a:t>
            </a:r>
            <a:endParaRPr lang="zh-CN" altLang="en-US" dirty="0" smtClean="0"/>
          </a:p>
          <a:p>
            <a:pPr marL="0" marR="0" lvl="1" indent="0" algn="l" defTabSz="914400" rtl="0" eaLnBrk="1" fontAlgn="auto" latinLnBrk="0" hangingPunct="1">
              <a:lnSpc>
                <a:spcPct val="100000"/>
              </a:lnSpc>
              <a:spcBef>
                <a:spcPts val="0"/>
              </a:spcBef>
              <a:spcAft>
                <a:spcPts val="0"/>
              </a:spcAft>
              <a:buClrTx/>
              <a:buSzTx/>
              <a:buFontTx/>
              <a:buNone/>
            </a:pPr>
            <a:endParaRPr lang="zh-CN" altLang="en-US" dirty="0" smtClean="0">
              <a:ea typeface="思源黑体 CN Bold" panose="020B0800000000000000"/>
            </a:endParaRPr>
          </a:p>
          <a:p>
            <a:pPr marL="0" marR="0" lvl="1" indent="0" algn="l" defTabSz="914400" rtl="0" eaLnBrk="1" fontAlgn="auto" latinLnBrk="0" hangingPunct="1">
              <a:lnSpc>
                <a:spcPct val="100000"/>
              </a:lnSpc>
              <a:spcBef>
                <a:spcPts val="0"/>
              </a:spcBef>
              <a:spcAft>
                <a:spcPts val="0"/>
              </a:spcAft>
              <a:buClrTx/>
              <a:buSzTx/>
              <a:buFontTx/>
              <a:buNone/>
            </a:pPr>
            <a:r>
              <a:rPr lang="zh-CN" altLang="en-US" dirty="0" smtClean="0">
                <a:ea typeface="思源黑体 CN Bold" panose="020B0800000000000000"/>
              </a:rPr>
              <a:t>合法感知器对信道状态解扰后，</a:t>
            </a:r>
            <a:r>
              <a:rPr lang="en-US" altLang="zh-CN" dirty="0" smtClean="0">
                <a:ea typeface="思源黑体 CN Bold" panose="020B0800000000000000"/>
              </a:rPr>
              <a:t>99%</a:t>
            </a:r>
            <a:r>
              <a:rPr lang="zh-CN" altLang="en-US" dirty="0" smtClean="0">
                <a:ea typeface="思源黑体 CN Bold" panose="020B0800000000000000"/>
              </a:rPr>
              <a:t>的样本都被</a:t>
            </a:r>
            <a:r>
              <a:rPr lang="zh-CN" altLang="en-US" dirty="0" smtClean="0">
                <a:ea typeface="思源黑体 CN Bold" panose="020B0800000000000000"/>
              </a:rPr>
              <a:t>正确识别为相应的真实动作</a:t>
            </a:r>
            <a:endParaRPr lang="en-US" altLang="zh-CN" dirty="0" smtClean="0">
              <a:ea typeface="思源黑体 CN Bold" panose="020B0800000000000000"/>
            </a:endParaRPr>
          </a:p>
          <a:p>
            <a:endParaRPr lang="zh-CN" altLang="en-US" dirty="0" smtClean="0"/>
          </a:p>
          <a:p>
            <a:endParaRPr lang="zh-CN" altLang="en-US" dirty="0"/>
          </a:p>
        </p:txBody>
      </p:sp>
      <p:sp>
        <p:nvSpPr>
          <p:cNvPr id="1048932"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39" name=""/>
        <p:cNvGrpSpPr/>
        <p:nvPr/>
      </p:nvGrpSpPr>
      <p:grpSpPr>
        <a:xfrm>
          <a:off x="0" y="0"/>
          <a:ext cx="0" cy="0"/>
          <a:chOff x="0" y="0"/>
          <a:chExt cx="0" cy="0"/>
        </a:xfrm>
      </p:grpSpPr>
      <p:sp>
        <p:nvSpPr>
          <p:cNvPr id="1048952" name="幻灯片图像占位符 1"/>
          <p:cNvSpPr>
            <a:spLocks noGrp="1" noRot="1" noChangeAspect="1"/>
          </p:cNvSpPr>
          <p:nvPr>
            <p:ph type="sldImg"/>
          </p:nvPr>
        </p:nvSpPr>
        <p:spPr/>
      </p:sp>
      <p:sp>
        <p:nvSpPr>
          <p:cNvPr id="1048953" name="备注占位符 2"/>
          <p:cNvSpPr>
            <a:spLocks noGrp="1"/>
          </p:cNvSpPr>
          <p:nvPr>
            <p:ph type="body" idx="1"/>
          </p:nvPr>
        </p:nvSpPr>
        <p:spPr/>
        <p:txBody>
          <a:bodyPr/>
          <a:p>
            <a:r>
              <a:rPr lang="zh-CN" altLang="en-US" dirty="0" smtClean="0"/>
              <a:t>最后做一个简单的总结， 读之</a:t>
            </a:r>
            <a:endParaRPr lang="zh-CN" altLang="en-US" dirty="0"/>
          </a:p>
        </p:txBody>
      </p:sp>
      <p:sp>
        <p:nvSpPr>
          <p:cNvPr id="1048954"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35" name=""/>
        <p:cNvGrpSpPr/>
        <p:nvPr/>
      </p:nvGrpSpPr>
      <p:grpSpPr>
        <a:xfrm>
          <a:off x="0" y="0"/>
          <a:ext cx="0" cy="0"/>
          <a:chOff x="0" y="0"/>
          <a:chExt cx="0" cy="0"/>
        </a:xfrm>
      </p:grpSpPr>
      <p:sp>
        <p:nvSpPr>
          <p:cNvPr id="1048941" name="幻灯片图像占位符 1"/>
          <p:cNvSpPr>
            <a:spLocks noGrp="1" noRot="1" noChangeAspect="1"/>
          </p:cNvSpPr>
          <p:nvPr>
            <p:ph type="sldImg"/>
          </p:nvPr>
        </p:nvSpPr>
        <p:spPr/>
      </p:sp>
      <p:sp>
        <p:nvSpPr>
          <p:cNvPr id="1048942" name="备注占位符 2"/>
          <p:cNvSpPr>
            <a:spLocks noGrp="1"/>
          </p:cNvSpPr>
          <p:nvPr>
            <p:ph type="body" idx="1"/>
          </p:nvPr>
        </p:nvSpPr>
        <p:spPr/>
        <p:txBody>
          <a:bodyPr/>
          <a:p>
            <a:pPr marL="0" marR="0" lvl="1" indent="0" algn="l" defTabSz="914400" rtl="0" eaLnBrk="1" fontAlgn="auto" latinLnBrk="0" hangingPunct="1">
              <a:lnSpc>
                <a:spcPct val="100000"/>
              </a:lnSpc>
              <a:spcBef>
                <a:spcPts val="0"/>
              </a:spcBef>
              <a:spcAft>
                <a:spcPts val="0"/>
              </a:spcAft>
              <a:buClrTx/>
              <a:buSzTx/>
              <a:buFontTx/>
              <a:buNone/>
            </a:pPr>
            <a:r>
              <a:rPr lang="zh-CN" altLang="en-US" dirty="0" smtClean="0"/>
              <a:t>我们可以尝试</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在多发射天线场景下实现我们的加扰方案，以更好地应对多天线窃听者</a:t>
            </a:r>
            <a:endParaRPr lang="en-US" altLang="zh-CN"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endParaRPr>
          </a:p>
          <a:p>
            <a:endParaRPr lang="en-US" altLang="zh-CN" dirty="0" smtClean="0"/>
          </a:p>
          <a:p>
            <a:r>
              <a:rPr lang="zh-CN" altLang="en-US" dirty="0" smtClean="0"/>
              <a:t>也可以在物理层选择加扰向量，以提供更高的时间精度</a:t>
            </a:r>
            <a:endParaRPr lang="en-US" altLang="zh-CN" dirty="0" smtClean="0"/>
          </a:p>
          <a:p>
            <a:endParaRPr lang="en-US" altLang="zh-CN" dirty="0" smtClean="0"/>
          </a:p>
          <a:p>
            <a:r>
              <a:rPr lang="zh-CN" altLang="en-US" dirty="0" smtClean="0"/>
              <a:t>也可以模拟更多场景的信道状态以应对更多的窃听场景</a:t>
            </a:r>
            <a:endParaRPr lang="zh-CN" altLang="en-US" dirty="0"/>
          </a:p>
        </p:txBody>
      </p:sp>
      <p:sp>
        <p:nvSpPr>
          <p:cNvPr id="1048943"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43" name=""/>
        <p:cNvGrpSpPr/>
        <p:nvPr/>
      </p:nvGrpSpPr>
      <p:grpSpPr>
        <a:xfrm>
          <a:off x="0" y="0"/>
          <a:ext cx="0" cy="0"/>
          <a:chOff x="0" y="0"/>
          <a:chExt cx="0" cy="0"/>
        </a:xfrm>
      </p:grpSpPr>
      <p:sp>
        <p:nvSpPr>
          <p:cNvPr id="1048964" name="幻灯片图像占位符 1"/>
          <p:cNvSpPr>
            <a:spLocks noGrp="1" noRot="1" noChangeAspect="1"/>
          </p:cNvSpPr>
          <p:nvPr>
            <p:ph type="sldImg"/>
          </p:nvPr>
        </p:nvSpPr>
        <p:spPr/>
      </p:sp>
      <p:sp>
        <p:nvSpPr>
          <p:cNvPr id="1048965" name="备注占位符 2"/>
          <p:cNvSpPr>
            <a:spLocks noGrp="1"/>
          </p:cNvSpPr>
          <p:nvPr>
            <p:ph type="body" idx="1"/>
          </p:nvPr>
        </p:nvSpPr>
        <p:spPr/>
        <p:txBody>
          <a:bodyPr/>
          <a:p>
            <a:r>
              <a:rPr lang="zh-CN" altLang="en-US" dirty="0" smtClean="0"/>
              <a:t>我在攻读硕士研究生期间的科研成果是以第一作者在</a:t>
            </a:r>
            <a:r>
              <a:rPr lang="en-US" altLang="zh-CN" dirty="0" smtClean="0"/>
              <a:t>ICDCS 2024</a:t>
            </a:r>
            <a:r>
              <a:rPr lang="zh-CN" altLang="en-US" dirty="0" smtClean="0"/>
              <a:t>上发表了一篇论文，</a:t>
            </a:r>
            <a:endParaRPr lang="en-US" altLang="zh-CN" dirty="0" smtClean="0"/>
          </a:p>
          <a:p>
            <a:r>
              <a:rPr lang="zh-CN" altLang="en-US" dirty="0" smtClean="0"/>
              <a:t>并且申请了相关技术的专利。</a:t>
            </a:r>
            <a:endParaRPr lang="en-US" altLang="zh-CN" dirty="0" smtClean="0"/>
          </a:p>
        </p:txBody>
      </p:sp>
      <p:sp>
        <p:nvSpPr>
          <p:cNvPr id="1048966" name="灯片编号占位符 3"/>
          <p:cNvSpPr>
            <a:spLocks noGrp="1"/>
          </p:cNvSpPr>
          <p:nvPr>
            <p:ph type="sldNum" sz="quarter" idx="5"/>
          </p:nvPr>
        </p:nvSpPr>
        <p:spPr/>
        <p:txBody>
          <a:bodyPr/>
          <a:p>
            <a:fld id="{0DD7248C-4AAE-4EF2-A19E-668559CC609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49" name=""/>
        <p:cNvGrpSpPr/>
        <p:nvPr/>
      </p:nvGrpSpPr>
      <p:grpSpPr>
        <a:xfrm>
          <a:off x="0" y="0"/>
          <a:ext cx="0" cy="0"/>
          <a:chOff x="0" y="0"/>
          <a:chExt cx="0" cy="0"/>
        </a:xfrm>
      </p:grpSpPr>
      <p:sp>
        <p:nvSpPr>
          <p:cNvPr id="1049037" name="幻灯片图像占位符 1"/>
          <p:cNvSpPr>
            <a:spLocks noGrp="1" noRot="1" noChangeAspect="1"/>
          </p:cNvSpPr>
          <p:nvPr>
            <p:ph type="sldImg"/>
          </p:nvPr>
        </p:nvSpPr>
        <p:spPr/>
      </p:sp>
      <p:sp>
        <p:nvSpPr>
          <p:cNvPr id="1049038" name="备注占位符 2"/>
          <p:cNvSpPr>
            <a:spLocks noGrp="1"/>
          </p:cNvSpPr>
          <p:nvPr>
            <p:ph type="body" idx="1"/>
          </p:nvPr>
        </p:nvSpPr>
        <p:spPr/>
        <p:txBody>
          <a:bodyPr/>
          <a:p>
            <a:r>
              <a:rPr lang="zh-CN" altLang="en-US" dirty="0" smtClean="0"/>
              <a:t>我的汇报到此结束，感谢各位老师，期待您</a:t>
            </a:r>
            <a:r>
              <a:rPr lang="zh-CN" altLang="en-US" sz="1200" b="0" i="0" kern="1200" dirty="0" smtClean="0">
                <a:solidFill>
                  <a:schemeClr val="tx1"/>
                </a:solidFill>
                <a:effectLst/>
                <a:latin typeface="+mn-lt"/>
                <a:ea typeface="+mn-ea"/>
                <a:cs typeface="+mn-cs"/>
              </a:rPr>
              <a:t>的宝贵意见。</a:t>
            </a:r>
            <a:endParaRPr lang="zh-CN" altLang="en-US" dirty="0"/>
          </a:p>
        </p:txBody>
      </p:sp>
      <p:sp>
        <p:nvSpPr>
          <p:cNvPr id="1049039"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54" name=""/>
        <p:cNvGrpSpPr/>
        <p:nvPr/>
      </p:nvGrpSpPr>
      <p:grpSpPr>
        <a:xfrm>
          <a:off x="0" y="0"/>
          <a:ext cx="0" cy="0"/>
          <a:chOff x="0" y="0"/>
          <a:chExt cx="0" cy="0"/>
        </a:xfrm>
      </p:grpSpPr>
      <p:sp>
        <p:nvSpPr>
          <p:cNvPr id="1049056" name="幻灯片图像占位符 1"/>
          <p:cNvSpPr>
            <a:spLocks noGrp="1" noRot="1" noChangeAspect="1"/>
          </p:cNvSpPr>
          <p:nvPr>
            <p:ph type="sldImg"/>
          </p:nvPr>
        </p:nvSpPr>
        <p:spPr/>
      </p:sp>
      <p:sp>
        <p:nvSpPr>
          <p:cNvPr id="1049057" name="备注占位符 2"/>
          <p:cNvSpPr>
            <a:spLocks noGrp="1"/>
          </p:cNvSpPr>
          <p:nvPr>
            <p:ph type="body" idx="1"/>
          </p:nvPr>
        </p:nvSpPr>
        <p:spPr/>
        <p:txBody>
          <a:bodyPr/>
          <a:p>
            <a:r>
              <a:rPr lang="zh-CN" altLang="en-US" dirty="0" smtClean="0"/>
              <a:t>我们要对信道状态加扰，那什么是信道状态呢？</a:t>
            </a:r>
            <a:endParaRPr lang="en-US" altLang="zh-CN" dirty="0" smtClean="0"/>
          </a:p>
          <a:p>
            <a:endParaRPr lang="en-US" altLang="zh-CN" dirty="0" smtClean="0"/>
          </a:p>
          <a:p>
            <a:r>
              <a:rPr lang="zh-CN" altLang="en-US" dirty="0" smtClean="0"/>
              <a:t>根据</a:t>
            </a:r>
            <a:r>
              <a:rPr lang="en-US" altLang="zh-CN" dirty="0" smtClean="0"/>
              <a:t>Wi-Fi</a:t>
            </a:r>
            <a:r>
              <a:rPr lang="zh-CN" altLang="en-US" dirty="0" smtClean="0"/>
              <a:t>协议标准，发射器在每个数据帧的起始位置设置了固定内容的前导符号，记为</a:t>
            </a:r>
            <a:r>
              <a:rPr lang="en-US" altLang="zh-CN" dirty="0" smtClean="0"/>
              <a:t>X(</a:t>
            </a:r>
            <a:r>
              <a:rPr lang="en-US" altLang="zh-CN" dirty="0" err="1" smtClean="0"/>
              <a:t>f,t</a:t>
            </a:r>
            <a:r>
              <a:rPr lang="en-US" altLang="zh-CN" dirty="0" smtClean="0"/>
              <a:t>)</a:t>
            </a:r>
            <a:endParaRPr lang="en-US" altLang="zh-CN" dirty="0" smtClean="0"/>
          </a:p>
          <a:p>
            <a:r>
              <a:rPr lang="zh-CN" altLang="en-US" dirty="0" smtClean="0"/>
              <a:t>它们是接收机已知的固定内容。</a:t>
            </a:r>
            <a:endParaRPr lang="en-US" altLang="zh-CN" dirty="0" smtClean="0"/>
          </a:p>
          <a:p>
            <a:r>
              <a:rPr lang="zh-CN" altLang="en-US" dirty="0" smtClean="0"/>
              <a:t>设接收器接收的信号为</a:t>
            </a:r>
            <a:r>
              <a:rPr lang="en-US" altLang="zh-CN" dirty="0" smtClean="0"/>
              <a:t>Y(</a:t>
            </a:r>
            <a:r>
              <a:rPr lang="en-US" altLang="zh-CN" dirty="0" err="1" smtClean="0"/>
              <a:t>f,t</a:t>
            </a:r>
            <a:r>
              <a:rPr lang="en-US" altLang="zh-CN" dirty="0" smtClean="0"/>
              <a:t>)</a:t>
            </a:r>
            <a:r>
              <a:rPr lang="zh-CN" altLang="en-US" dirty="0" smtClean="0"/>
              <a:t>，那么接收器用</a:t>
            </a:r>
            <a:r>
              <a:rPr lang="en-US" altLang="zh-CN" dirty="0" smtClean="0"/>
              <a:t>Y(</a:t>
            </a:r>
            <a:r>
              <a:rPr lang="en-US" altLang="zh-CN" dirty="0" err="1" smtClean="0"/>
              <a:t>f,t</a:t>
            </a:r>
            <a:r>
              <a:rPr lang="en-US" altLang="zh-CN" dirty="0" smtClean="0"/>
              <a:t>)</a:t>
            </a:r>
            <a:r>
              <a:rPr lang="zh-CN" altLang="en-US" dirty="0" smtClean="0"/>
              <a:t>除以</a:t>
            </a:r>
            <a:r>
              <a:rPr lang="en-US" altLang="zh-CN" dirty="0" smtClean="0"/>
              <a:t>X(</a:t>
            </a:r>
            <a:r>
              <a:rPr lang="en-US" altLang="zh-CN" dirty="0" err="1" smtClean="0"/>
              <a:t>f,t</a:t>
            </a:r>
            <a:r>
              <a:rPr lang="en-US" altLang="zh-CN" dirty="0" smtClean="0"/>
              <a:t>)</a:t>
            </a:r>
            <a:r>
              <a:rPr lang="zh-CN" altLang="en-US" dirty="0" smtClean="0"/>
              <a:t>计算信道频率相应，即信道状态，记为</a:t>
            </a:r>
            <a:r>
              <a:rPr lang="en-US" altLang="zh-CN" dirty="0" smtClean="0"/>
              <a:t>H(</a:t>
            </a:r>
            <a:r>
              <a:rPr lang="en-US" altLang="zh-CN" dirty="0" err="1" smtClean="0"/>
              <a:t>f,t</a:t>
            </a:r>
            <a:r>
              <a:rPr lang="en-US" altLang="zh-CN" dirty="0" smtClean="0"/>
              <a:t>)</a:t>
            </a:r>
            <a:r>
              <a:rPr lang="zh-CN" altLang="en-US" dirty="0" smtClean="0"/>
              <a:t>。</a:t>
            </a:r>
            <a:endParaRPr lang="en-US" altLang="zh-CN" dirty="0" smtClean="0"/>
          </a:p>
          <a:p>
            <a:r>
              <a:rPr lang="zh-CN" altLang="en-US" dirty="0" smtClean="0"/>
              <a:t>随着时间的推移，不同数据帧的 𝐻的变化中蕴含着环境中物体的运动信息。</a:t>
            </a:r>
            <a:endParaRPr lang="en-US" altLang="zh-CN" dirty="0" smtClean="0"/>
          </a:p>
          <a:p>
            <a:endParaRPr lang="en-US" altLang="zh-CN" dirty="0" smtClean="0"/>
          </a:p>
          <a:p>
            <a:r>
              <a:rPr lang="zh-CN" altLang="en-US" dirty="0" smtClean="0"/>
              <a:t>右边是个直观的例子，当环境静止时，</a:t>
            </a:r>
            <a:r>
              <a:rPr lang="en-US" altLang="zh-CN" dirty="0" smtClean="0"/>
              <a:t>CSI</a:t>
            </a:r>
            <a:r>
              <a:rPr lang="zh-CN" altLang="en-US" dirty="0" smtClean="0"/>
              <a:t>的幅度变化和时频分布和白噪声很类似。</a:t>
            </a:r>
            <a:endParaRPr lang="en-US" altLang="zh-CN" dirty="0" smtClean="0"/>
          </a:p>
          <a:p>
            <a:r>
              <a:rPr lang="zh-CN" altLang="en-US" dirty="0" smtClean="0"/>
              <a:t>当环境中有人在做坐下起立活动时，从时频图可以分别看到两个明显的加速和减速过程。</a:t>
            </a:r>
            <a:endParaRPr lang="en-US" altLang="zh-CN" dirty="0" smtClean="0"/>
          </a:p>
        </p:txBody>
      </p:sp>
      <p:sp>
        <p:nvSpPr>
          <p:cNvPr id="1049058"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58" name=""/>
        <p:cNvGrpSpPr/>
        <p:nvPr/>
      </p:nvGrpSpPr>
      <p:grpSpPr>
        <a:xfrm>
          <a:off x="0" y="0"/>
          <a:ext cx="0" cy="0"/>
          <a:chOff x="0" y="0"/>
          <a:chExt cx="0" cy="0"/>
        </a:xfrm>
      </p:grpSpPr>
      <p:sp>
        <p:nvSpPr>
          <p:cNvPr id="1049068" name="幻灯片图像占位符 1"/>
          <p:cNvSpPr>
            <a:spLocks noGrp="1" noRot="1" noChangeAspect="1"/>
          </p:cNvSpPr>
          <p:nvPr>
            <p:ph type="sldImg"/>
          </p:nvPr>
        </p:nvSpPr>
        <p:spPr/>
      </p:sp>
      <p:sp>
        <p:nvSpPr>
          <p:cNvPr id="1049069" name="备注占位符 2"/>
          <p:cNvSpPr>
            <a:spLocks noGrp="1"/>
          </p:cNvSpPr>
          <p:nvPr>
            <p:ph type="body" idx="1"/>
          </p:nvPr>
        </p:nvSpPr>
        <p:spPr/>
        <p:txBody>
          <a:bodyPr/>
          <a:p>
            <a:endParaRPr lang="zh-CN" altLang="en-US" dirty="0"/>
          </a:p>
        </p:txBody>
      </p:sp>
      <p:sp>
        <p:nvSpPr>
          <p:cNvPr id="1049070"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62" name=""/>
        <p:cNvGrpSpPr/>
        <p:nvPr/>
      </p:nvGrpSpPr>
      <p:grpSpPr>
        <a:xfrm>
          <a:off x="0" y="0"/>
          <a:ext cx="0" cy="0"/>
          <a:chOff x="0" y="0"/>
          <a:chExt cx="0" cy="0"/>
        </a:xfrm>
      </p:grpSpPr>
      <p:sp>
        <p:nvSpPr>
          <p:cNvPr id="1049080" name="幻灯片图像占位符 1"/>
          <p:cNvSpPr>
            <a:spLocks noGrp="1" noRot="1" noChangeAspect="1"/>
          </p:cNvSpPr>
          <p:nvPr>
            <p:ph type="sldImg"/>
          </p:nvPr>
        </p:nvSpPr>
        <p:spPr/>
      </p:sp>
      <p:sp>
        <p:nvSpPr>
          <p:cNvPr id="1049081" name="备注占位符 2"/>
          <p:cNvSpPr>
            <a:spLocks noGrp="1"/>
          </p:cNvSpPr>
          <p:nvPr>
            <p:ph type="body" idx="1"/>
          </p:nvPr>
        </p:nvSpPr>
        <p:spPr/>
        <p:txBody>
          <a:bodyPr/>
          <a:p>
            <a:r>
              <a:rPr lang="zh-CN" altLang="en-US" dirty="0" smtClean="0"/>
              <a:t>如第一张图所示，接收机通过已经和前导符号和接收信号做互相关，</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pPr>
            <a:r>
              <a:rPr lang="zh-CN" altLang="en-US" dirty="0" smtClean="0"/>
              <a:t>以定位每个</a:t>
            </a:r>
            <a:r>
              <a:rPr lang="en-US" altLang="zh-CN" dirty="0" smtClean="0"/>
              <a:t>OFDM</a:t>
            </a:r>
            <a:r>
              <a:rPr lang="zh-CN" altLang="en-US" dirty="0" smtClean="0"/>
              <a:t>符号的起始位置，</a:t>
            </a:r>
            <a:r>
              <a:rPr lang="zh-CN" altLang="en-US" dirty="0" smtClean="0">
                <a:ea typeface="思源黑体 CN Bold" panose="020B0800000000000000"/>
              </a:rPr>
              <a:t>为了使接收器仍然可以基于 前导符号做符号同步，</a:t>
            </a:r>
            <a:endParaRPr lang="en-US" altLang="zh-CN" dirty="0" smtClean="0">
              <a:ea typeface="思源黑体 CN Bold" panose="020B0800000000000000"/>
            </a:endParaRPr>
          </a:p>
          <a:p>
            <a:pPr marL="0" marR="0" indent="0" algn="l" defTabSz="914400" rtl="0" eaLnBrk="1" fontAlgn="auto" latinLnBrk="0" hangingPunct="1">
              <a:lnSpc>
                <a:spcPct val="100000"/>
              </a:lnSpc>
              <a:spcBef>
                <a:spcPts val="0"/>
              </a:spcBef>
              <a:spcAft>
                <a:spcPts val="0"/>
              </a:spcAft>
              <a:buClrTx/>
              <a:buSzTx/>
              <a:buFontTx/>
              <a:buNone/>
            </a:pPr>
            <a:r>
              <a:rPr lang="zh-CN" altLang="en-US" dirty="0" smtClean="0">
                <a:ea typeface="思源黑体 CN Bold" panose="020B0800000000000000"/>
              </a:rPr>
              <a:t>单个加扰向量 𝑆</a:t>
            </a:r>
            <a:r>
              <a:rPr lang="en-US" altLang="zh-CN" dirty="0" smtClean="0">
                <a:ea typeface="思源黑体 CN Bold" panose="020B0800000000000000"/>
              </a:rPr>
              <a:t>(</a:t>
            </a:r>
            <a:r>
              <a:rPr lang="zh-CN" altLang="en-US" dirty="0" smtClean="0">
                <a:ea typeface="思源黑体 CN Bold" panose="020B0800000000000000"/>
              </a:rPr>
              <a:t>𝑓</a:t>
            </a:r>
            <a:r>
              <a:rPr lang="en-US" altLang="zh-CN" dirty="0" smtClean="0">
                <a:ea typeface="思源黑体 CN Bold" panose="020B0800000000000000"/>
              </a:rPr>
              <a:t>, </a:t>
            </a:r>
            <a:r>
              <a:rPr lang="zh-CN" altLang="en-US" dirty="0" smtClean="0">
                <a:ea typeface="思源黑体 CN Bold" panose="020B0800000000000000"/>
              </a:rPr>
              <a:t>𝑡</a:t>
            </a:r>
            <a:r>
              <a:rPr lang="en-US" altLang="zh-CN" dirty="0" smtClean="0">
                <a:ea typeface="思源黑体 CN Bold" panose="020B0800000000000000"/>
              </a:rPr>
              <a:t>)</a:t>
            </a:r>
            <a:r>
              <a:rPr lang="zh-CN" altLang="en-US" dirty="0" smtClean="0">
                <a:ea typeface="思源黑体 CN Bold" panose="020B0800000000000000"/>
              </a:rPr>
              <a:t>在不同子载波上的相位取值要符合信号传播的时延模型，不能突变。</a:t>
            </a:r>
            <a:endParaRPr lang="en-US" altLang="zh-CN" dirty="0" smtClean="0">
              <a:ea typeface="思源黑体 CN Bold" panose="020B0800000000000000"/>
            </a:endParaRPr>
          </a:p>
          <a:p>
            <a:endParaRPr lang="en-US" altLang="zh-CN" dirty="0" smtClean="0"/>
          </a:p>
          <a:p>
            <a:r>
              <a:rPr lang="zh-CN" altLang="en-US" dirty="0" smtClean="0"/>
              <a:t>根据中心子载波的加扰值，基于信号传播的时延模型产生所有子载波上的</a:t>
            </a:r>
            <a:endParaRPr lang="en-US" altLang="zh-CN" dirty="0" smtClean="0"/>
          </a:p>
          <a:p>
            <a:r>
              <a:rPr lang="zh-CN" altLang="en-US" dirty="0" smtClean="0"/>
              <a:t>加扰向量还有一个好处就是可以保留接收机基于前导符号的符号同步功能。</a:t>
            </a:r>
            <a:endParaRPr lang="en-US" altLang="zh-CN" dirty="0" smtClean="0"/>
          </a:p>
          <a:p>
            <a:endParaRPr lang="en-US" altLang="zh-CN" dirty="0" smtClean="0"/>
          </a:p>
          <a:p>
            <a:r>
              <a:rPr lang="zh-CN" altLang="en-US" dirty="0" smtClean="0"/>
              <a:t>第二张图展示了没有加扰时，接收机做互相关的结果，可以</a:t>
            </a:r>
            <a:r>
              <a:rPr lang="zh-CN" altLang="en-US" dirty="0" smtClean="0"/>
              <a:t>看到两</a:t>
            </a:r>
            <a:r>
              <a:rPr lang="zh-CN" altLang="en-US" dirty="0" smtClean="0"/>
              <a:t>个明显的峰值，</a:t>
            </a:r>
            <a:endParaRPr lang="en-US" altLang="zh-CN" dirty="0" smtClean="0"/>
          </a:p>
          <a:p>
            <a:r>
              <a:rPr lang="zh-CN" altLang="en-US" dirty="0" smtClean="0"/>
              <a:t>它们指示</a:t>
            </a:r>
            <a:r>
              <a:rPr lang="zh-CN" altLang="en-US" dirty="0" smtClean="0"/>
              <a:t>着</a:t>
            </a:r>
            <a:r>
              <a:rPr lang="zh-CN" altLang="en-US" baseline="0" dirty="0" smtClean="0"/>
              <a:t> </a:t>
            </a:r>
            <a:r>
              <a:rPr lang="en-US" altLang="zh-CN" dirty="0" smtClean="0"/>
              <a:t>LTF </a:t>
            </a:r>
            <a:r>
              <a:rPr lang="zh-CN" altLang="en-US" dirty="0" smtClean="0"/>
              <a:t>符号的起始位置。</a:t>
            </a:r>
            <a:endParaRPr lang="en-US" altLang="zh-CN" dirty="0" smtClean="0"/>
          </a:p>
          <a:p>
            <a:endParaRPr lang="en-US" altLang="zh-CN" dirty="0" smtClean="0"/>
          </a:p>
          <a:p>
            <a:r>
              <a:rPr lang="zh-CN" altLang="en-US" dirty="0" smtClean="0"/>
              <a:t>当加扰向量各个子载波的加扰值随机取值时，互相关结果如图</a:t>
            </a:r>
            <a:r>
              <a:rPr lang="en-US" altLang="zh-CN" dirty="0" smtClean="0"/>
              <a:t>C</a:t>
            </a:r>
            <a:r>
              <a:rPr lang="zh-CN" altLang="en-US" dirty="0" smtClean="0"/>
              <a:t>所示，可见无明显峰值，接收器无法确定各</a:t>
            </a:r>
            <a:endParaRPr lang="zh-CN" altLang="en-US" dirty="0" smtClean="0"/>
          </a:p>
          <a:p>
            <a:r>
              <a:rPr lang="zh-CN" altLang="en-US" dirty="0" smtClean="0"/>
              <a:t>个 </a:t>
            </a:r>
            <a:r>
              <a:rPr lang="en-US" altLang="zh-CN" dirty="0" smtClean="0"/>
              <a:t>OFDM </a:t>
            </a:r>
            <a:r>
              <a:rPr lang="zh-CN" altLang="en-US" dirty="0" smtClean="0"/>
              <a:t>符号的边界。</a:t>
            </a:r>
            <a:endParaRPr lang="en-US" altLang="zh-CN" dirty="0" smtClean="0"/>
          </a:p>
          <a:p>
            <a:endParaRPr lang="en-US" altLang="zh-CN" dirty="0" smtClean="0"/>
          </a:p>
          <a:p>
            <a:r>
              <a:rPr lang="zh-CN" altLang="en-US" dirty="0" smtClean="0"/>
              <a:t>当我们根据时延模型确定各子载波上的加扰值时，互相关结果如图</a:t>
            </a:r>
            <a:r>
              <a:rPr lang="en-US" altLang="zh-CN" dirty="0" smtClean="0"/>
              <a:t>D</a:t>
            </a:r>
            <a:r>
              <a:rPr lang="zh-CN" altLang="en-US" dirty="0" smtClean="0"/>
              <a:t>所示，仍然有两个明显的峰值</a:t>
            </a:r>
            <a:endParaRPr lang="en-US" altLang="zh-CN" dirty="0" smtClean="0"/>
          </a:p>
          <a:p>
            <a:r>
              <a:rPr lang="zh-CN" altLang="en-US" dirty="0" smtClean="0"/>
              <a:t>指示着</a:t>
            </a:r>
            <a:r>
              <a:rPr lang="en-US" altLang="zh-CN" dirty="0" smtClean="0"/>
              <a:t>LTF</a:t>
            </a:r>
            <a:r>
              <a:rPr lang="zh-CN" altLang="en-US" dirty="0" smtClean="0"/>
              <a:t>的起始位置。</a:t>
            </a:r>
            <a:endParaRPr lang="en-US" altLang="zh-CN" dirty="0" smtClean="0"/>
          </a:p>
        </p:txBody>
      </p:sp>
      <p:sp>
        <p:nvSpPr>
          <p:cNvPr id="1049082"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66" name=""/>
        <p:cNvGrpSpPr/>
        <p:nvPr/>
      </p:nvGrpSpPr>
      <p:grpSpPr>
        <a:xfrm>
          <a:off x="0" y="0"/>
          <a:ext cx="0" cy="0"/>
          <a:chOff x="0" y="0"/>
          <a:chExt cx="0" cy="0"/>
        </a:xfrm>
      </p:grpSpPr>
      <p:sp>
        <p:nvSpPr>
          <p:cNvPr id="1049095" name="幻灯片图像占位符 1"/>
          <p:cNvSpPr>
            <a:spLocks noGrp="1" noRot="1" noChangeAspect="1"/>
          </p:cNvSpPr>
          <p:nvPr>
            <p:ph type="sldImg"/>
          </p:nvPr>
        </p:nvSpPr>
        <p:spPr/>
      </p:sp>
      <p:sp>
        <p:nvSpPr>
          <p:cNvPr id="1049096" name="备注占位符 2"/>
          <p:cNvSpPr>
            <a:spLocks noGrp="1"/>
          </p:cNvSpPr>
          <p:nvPr>
            <p:ph type="body" idx="1"/>
          </p:nvPr>
        </p:nvSpPr>
        <p:spPr/>
        <p:txBody>
          <a:bodyPr/>
          <a:p>
            <a:r>
              <a:rPr lang="zh-CN" altLang="en-US" dirty="0" smtClean="0"/>
              <a:t>我们在</a:t>
            </a:r>
            <a:r>
              <a:rPr lang="en-US" altLang="zh-CN" dirty="0" smtClean="0">
                <a:ea typeface="思源黑体 CN Bold" panose="020B0800000000000000"/>
              </a:rPr>
              <a:t>Xilinx ZCU-102 FPGA </a:t>
            </a:r>
            <a:r>
              <a:rPr lang="zh-CN" altLang="en-US" dirty="0" smtClean="0">
                <a:ea typeface="思源黑体 CN Bold" panose="020B0800000000000000"/>
              </a:rPr>
              <a:t>开发版实现了我们的加扰方案，</a:t>
            </a:r>
            <a:endParaRPr lang="en-US" altLang="zh-CN" dirty="0" smtClean="0">
              <a:ea typeface="思源黑体 CN Bold" panose="020B0800000000000000"/>
            </a:endParaRPr>
          </a:p>
          <a:p>
            <a:r>
              <a:rPr lang="zh-CN" altLang="en-US" dirty="0" smtClean="0">
                <a:ea typeface="思源黑体 CN Bold" panose="020B0800000000000000"/>
              </a:rPr>
              <a:t>搭载一颗四核 </a:t>
            </a:r>
            <a:r>
              <a:rPr lang="en-US" altLang="zh-CN" dirty="0" smtClean="0">
                <a:ea typeface="思源黑体 CN Bold" panose="020B0800000000000000"/>
              </a:rPr>
              <a:t>ARM Cortex-A53 CPU</a:t>
            </a:r>
            <a:r>
              <a:rPr lang="zh-CN" altLang="en-US" dirty="0" smtClean="0">
                <a:ea typeface="思源黑体 CN Bold" panose="020B0800000000000000"/>
              </a:rPr>
              <a:t>，它的性能只相当于</a:t>
            </a:r>
            <a:r>
              <a:rPr lang="en-US" altLang="zh-CN" dirty="0" smtClean="0">
                <a:ea typeface="思源黑体 CN Bold" panose="020B0800000000000000"/>
              </a:rPr>
              <a:t>10</a:t>
            </a:r>
            <a:r>
              <a:rPr lang="zh-CN" altLang="en-US" dirty="0" smtClean="0">
                <a:ea typeface="思源黑体 CN Bold" panose="020B0800000000000000"/>
              </a:rPr>
              <a:t>年前的手机旗舰处理器</a:t>
            </a:r>
            <a:r>
              <a:rPr lang="zh-CN" altLang="en-US" dirty="0" smtClean="0">
                <a:ea typeface="+mn-ea"/>
              </a:rPr>
              <a:t>。</a:t>
            </a:r>
            <a:endParaRPr lang="en-US" altLang="zh-CN" dirty="0" smtClean="0">
              <a:ea typeface="+mn-ea"/>
            </a:endParaRPr>
          </a:p>
          <a:p>
            <a:r>
              <a:rPr lang="zh-CN" altLang="en-US" dirty="0" smtClean="0">
                <a:ea typeface="+mn-ea"/>
              </a:rPr>
              <a:t>尽管如此，用</a:t>
            </a:r>
            <a:r>
              <a:rPr lang="en-US" altLang="zh-CN" dirty="0" smtClean="0">
                <a:ea typeface="+mn-ea"/>
              </a:rPr>
              <a:t>python</a:t>
            </a:r>
            <a:r>
              <a:rPr lang="zh-CN" altLang="en-US" dirty="0" smtClean="0">
                <a:ea typeface="+mn-ea"/>
              </a:rPr>
              <a:t>生成可供使用</a:t>
            </a:r>
            <a:r>
              <a:rPr lang="en-US" altLang="zh-CN" dirty="0" smtClean="0">
                <a:ea typeface="+mn-ea"/>
              </a:rPr>
              <a:t>10</a:t>
            </a:r>
            <a:r>
              <a:rPr lang="zh-CN" altLang="en-US" dirty="0" smtClean="0">
                <a:ea typeface="+mn-ea"/>
              </a:rPr>
              <a:t>秒的加扰向量只需要</a:t>
            </a:r>
            <a:r>
              <a:rPr lang="en-US" altLang="zh-CN" dirty="0" smtClean="0">
                <a:ea typeface="+mn-ea"/>
              </a:rPr>
              <a:t>1.16</a:t>
            </a:r>
            <a:r>
              <a:rPr lang="zh-CN" altLang="en-US" dirty="0" smtClean="0">
                <a:ea typeface="+mn-ea"/>
              </a:rPr>
              <a:t>秒。</a:t>
            </a:r>
            <a:endParaRPr lang="en-US" altLang="zh-CN" dirty="0" smtClean="0">
              <a:ea typeface="+mn-ea"/>
            </a:endParaRPr>
          </a:p>
          <a:p>
            <a:endParaRPr lang="en-US" altLang="zh-CN" dirty="0" smtClean="0">
              <a:ea typeface="+mn-ea"/>
            </a:endParaRPr>
          </a:p>
          <a:p>
            <a:r>
              <a:rPr lang="zh-CN" altLang="en-US" dirty="0" smtClean="0">
                <a:ea typeface="思源黑体 CN Bold" panose="020B0800000000000000"/>
              </a:rPr>
              <a:t>在低负载的多核系统上，这不会增加系统发送数据的时延，因为网卡驱动并不关系</a:t>
            </a:r>
            <a:endParaRPr lang="en-US" altLang="zh-CN" dirty="0" smtClean="0">
              <a:ea typeface="思源黑体 CN Bold" panose="020B0800000000000000"/>
            </a:endParaRPr>
          </a:p>
          <a:p>
            <a:r>
              <a:rPr lang="zh-CN" altLang="en-US" dirty="0" smtClean="0">
                <a:ea typeface="思源黑体 CN Bold" panose="020B0800000000000000"/>
              </a:rPr>
              <a:t>加扰向量的产生过程和具体内容，它只是简单地根据时间从特定位置取出一个加扰向量</a:t>
            </a:r>
            <a:endParaRPr lang="en-US" altLang="zh-CN" dirty="0" smtClean="0">
              <a:ea typeface="思源黑体 CN Bold" panose="020B0800000000000000"/>
            </a:endParaRPr>
          </a:p>
          <a:p>
            <a:r>
              <a:rPr lang="zh-CN" altLang="en-US" dirty="0" smtClean="0">
                <a:ea typeface="思源黑体 CN Bold" panose="020B0800000000000000"/>
              </a:rPr>
              <a:t>交给</a:t>
            </a:r>
            <a:r>
              <a:rPr lang="en-US" altLang="zh-CN" dirty="0" smtClean="0">
                <a:ea typeface="思源黑体 CN Bold" panose="020B0800000000000000"/>
              </a:rPr>
              <a:t>DMA</a:t>
            </a:r>
            <a:r>
              <a:rPr lang="zh-CN" altLang="en-US" dirty="0" smtClean="0">
                <a:ea typeface="思源黑体 CN Bold" panose="020B0800000000000000"/>
              </a:rPr>
              <a:t>异步地传给网卡物理层。</a:t>
            </a:r>
            <a:endParaRPr lang="en-US" altLang="zh-CN" dirty="0" smtClean="0">
              <a:ea typeface="思源黑体 CN Bold" panose="020B0800000000000000"/>
            </a:endParaRPr>
          </a:p>
          <a:p>
            <a:endParaRPr lang="en-US" altLang="zh-CN" dirty="0" smtClean="0">
              <a:ea typeface="思源黑体 CN Bold" panose="020B0800000000000000"/>
            </a:endParaRPr>
          </a:p>
          <a:p>
            <a:r>
              <a:rPr lang="zh-CN" altLang="en-US" dirty="0" smtClean="0">
                <a:ea typeface="思源黑体 CN Bold" panose="020B0800000000000000"/>
              </a:rPr>
              <a:t>在</a:t>
            </a:r>
            <a:r>
              <a:rPr lang="en-US" altLang="zh-CN" dirty="0" smtClean="0">
                <a:ea typeface="思源黑体 CN Bold" panose="020B0800000000000000"/>
              </a:rPr>
              <a:t>FPGA</a:t>
            </a:r>
            <a:r>
              <a:rPr lang="zh-CN" altLang="en-US" dirty="0" smtClean="0">
                <a:ea typeface="思源黑体 CN Bold" panose="020B0800000000000000"/>
              </a:rPr>
              <a:t>资源消耗上，对资源数量没概念没关系，从消耗资源的占比上可以看出，</a:t>
            </a:r>
            <a:endParaRPr lang="en-US" altLang="zh-CN" dirty="0" smtClean="0">
              <a:ea typeface="思源黑体 CN Bold" panose="020B0800000000000000"/>
            </a:endParaRPr>
          </a:p>
          <a:p>
            <a:r>
              <a:rPr lang="en-US" altLang="zh-CN" dirty="0" smtClean="0">
                <a:ea typeface="思源黑体 CN Bold" panose="020B0800000000000000"/>
              </a:rPr>
              <a:t>CSS </a:t>
            </a:r>
            <a:r>
              <a:rPr lang="zh-CN" altLang="en-US" dirty="0" smtClean="0">
                <a:ea typeface="思源黑体 CN Bold" panose="020B0800000000000000"/>
              </a:rPr>
              <a:t>只消耗了很少的硬件资源，在某些其他资源有限的平台上也不会构成瓶颈。</a:t>
            </a:r>
            <a:endParaRPr lang="en-US" altLang="zh-CN" dirty="0" smtClean="0">
              <a:ea typeface="思源黑体 CN Bold" panose="020B0800000000000000"/>
            </a:endParaRPr>
          </a:p>
          <a:p>
            <a:endParaRPr lang="en-US" altLang="zh-CN" dirty="0" smtClean="0">
              <a:ea typeface="思源黑体 CN Bold" panose="020B0800000000000000"/>
            </a:endParaRPr>
          </a:p>
          <a:p>
            <a:r>
              <a:rPr lang="zh-CN" altLang="en-US" sz="1200" b="0" i="0" kern="1200" dirty="0" smtClean="0">
                <a:solidFill>
                  <a:schemeClr val="tx1"/>
                </a:solidFill>
                <a:effectLst/>
                <a:latin typeface="+mn-lt"/>
                <a:ea typeface="+mn-ea"/>
                <a:cs typeface="+mn-cs"/>
              </a:rPr>
              <a:t>信号峰均比越大，对发射机的功率放大器和射频链路的性能要求就越高。 </a:t>
            </a:r>
            <a:br>
              <a:rPr lang="zh-CN" altLang="en-US" dirty="0" smtClean="0"/>
            </a:br>
            <a:r>
              <a:rPr lang="zh-CN" altLang="en-US" dirty="0" smtClean="0"/>
              <a:t>我们的</a:t>
            </a:r>
            <a:r>
              <a:rPr lang="zh-CN" altLang="en-US" dirty="0" smtClean="0">
                <a:ea typeface="思源黑体 CN Bold" panose="020B0800000000000000"/>
              </a:rPr>
              <a:t>仿真计算显示，在每种调制模式下，加扰后的信号与原始信号具有相同的信号峰均比分布。</a:t>
            </a:r>
            <a:endParaRPr lang="en-US" altLang="zh-CN" dirty="0" smtClean="0">
              <a:ea typeface="思源黑体 CN Bold" panose="020B0800000000000000"/>
            </a:endParaRPr>
          </a:p>
          <a:p>
            <a:endParaRPr lang="en-US" altLang="zh-CN" dirty="0" smtClean="0">
              <a:ea typeface="思源黑体 CN Bold" panose="020B0800000000000000"/>
            </a:endParaRPr>
          </a:p>
        </p:txBody>
      </p:sp>
      <p:sp>
        <p:nvSpPr>
          <p:cNvPr id="1049097"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70" name=""/>
        <p:cNvGrpSpPr/>
        <p:nvPr/>
      </p:nvGrpSpPr>
      <p:grpSpPr>
        <a:xfrm>
          <a:off x="0" y="0"/>
          <a:ext cx="0" cy="0"/>
          <a:chOff x="0" y="0"/>
          <a:chExt cx="0" cy="0"/>
        </a:xfrm>
      </p:grpSpPr>
      <p:sp>
        <p:nvSpPr>
          <p:cNvPr id="1049108" name="幻灯片图像占位符 1"/>
          <p:cNvSpPr>
            <a:spLocks noGrp="1" noRot="1" noChangeAspect="1"/>
          </p:cNvSpPr>
          <p:nvPr>
            <p:ph type="sldImg"/>
          </p:nvPr>
        </p:nvSpPr>
        <p:spPr/>
      </p:sp>
      <p:sp>
        <p:nvSpPr>
          <p:cNvPr id="1049109" name="备注占位符 2"/>
          <p:cNvSpPr>
            <a:spLocks noGrp="1"/>
          </p:cNvSpPr>
          <p:nvPr>
            <p:ph type="body" idx="1"/>
          </p:nvPr>
        </p:nvSpPr>
        <p:spPr/>
        <p:txBody>
          <a:bodyPr/>
          <a:p>
            <a:r>
              <a:rPr lang="zh-CN" altLang="en-US" dirty="0" smtClean="0">
                <a:ea typeface="思源黑体 CN Bold" panose="020B0800000000000000"/>
              </a:rPr>
              <a:t>右图使用相同的走路动作的 </a:t>
            </a:r>
            <a:r>
              <a:rPr lang="en-US" altLang="zh-CN" dirty="0" smtClean="0">
                <a:ea typeface="思源黑体 CN Bold" panose="020B0800000000000000"/>
              </a:rPr>
              <a:t>LPC </a:t>
            </a:r>
            <a:r>
              <a:rPr lang="zh-CN" altLang="en-US" dirty="0" smtClean="0">
                <a:ea typeface="思源黑体 CN Bold" panose="020B0800000000000000"/>
              </a:rPr>
              <a:t>系数生成的两个生成信号。</a:t>
            </a:r>
            <a:endParaRPr lang="en-US" altLang="zh-CN" dirty="0" smtClean="0">
              <a:ea typeface="思源黑体 CN Bold" panose="020B0800000000000000"/>
            </a:endParaRPr>
          </a:p>
          <a:p>
            <a:r>
              <a:rPr lang="zh-CN" altLang="en-US" dirty="0" smtClean="0">
                <a:ea typeface="思源黑体 CN Bold" panose="020B0800000000000000"/>
              </a:rPr>
              <a:t>可以观察到，生成信号的波形和时频图都与图 </a:t>
            </a:r>
            <a:r>
              <a:rPr lang="en-US" altLang="zh-CN" dirty="0" smtClean="0">
                <a:ea typeface="思源黑体 CN Bold" panose="020B0800000000000000"/>
              </a:rPr>
              <a:t>4-2(a) </a:t>
            </a:r>
            <a:r>
              <a:rPr lang="zh-CN" altLang="en-US" dirty="0" smtClean="0">
                <a:ea typeface="思源黑体 CN Bold" panose="020B0800000000000000"/>
              </a:rPr>
              <a:t>中的</a:t>
            </a:r>
            <a:endParaRPr lang="en-US" altLang="zh-CN" dirty="0" smtClean="0">
              <a:ea typeface="思源黑体 CN Bold" panose="020B0800000000000000"/>
            </a:endParaRPr>
          </a:p>
          <a:p>
            <a:r>
              <a:rPr lang="zh-CN" altLang="en-US" dirty="0" smtClean="0">
                <a:ea typeface="思源黑体 CN Bold" panose="020B0800000000000000"/>
              </a:rPr>
              <a:t>真实人体活动信号样本相似。因此，窃听者很难判断这些</a:t>
            </a:r>
            <a:endParaRPr lang="en-US" altLang="zh-CN" dirty="0" smtClean="0">
              <a:ea typeface="思源黑体 CN Bold" panose="020B0800000000000000"/>
            </a:endParaRPr>
          </a:p>
          <a:p>
            <a:r>
              <a:rPr lang="zh-CN" altLang="en-US" dirty="0" smtClean="0">
                <a:ea typeface="思源黑体 CN Bold" panose="020B0800000000000000"/>
              </a:rPr>
              <a:t>信号是真实的还是发射器主动对信号加扰造成的。</a:t>
            </a:r>
            <a:endParaRPr lang="en-US" altLang="zh-CN" dirty="0" smtClean="0">
              <a:ea typeface="思源黑体 CN Bold" panose="020B0800000000000000"/>
            </a:endParaRPr>
          </a:p>
          <a:p>
            <a:endParaRPr lang="en-US" altLang="zh-CN" dirty="0" smtClean="0">
              <a:ea typeface="思源黑体 CN Bold" panose="020B0800000000000000"/>
            </a:endParaRPr>
          </a:p>
          <a:p>
            <a:r>
              <a:rPr lang="zh-CN" altLang="en-US" dirty="0" smtClean="0">
                <a:ea typeface="思源黑体 CN Bold" panose="020B0800000000000000"/>
              </a:rPr>
              <a:t>同时，我们可以观察到这些生成信号在细节上仍然存在差别。</a:t>
            </a:r>
            <a:endParaRPr lang="en-US" altLang="zh-CN" dirty="0" smtClean="0">
              <a:ea typeface="思源黑体 CN Bold" panose="020B0800000000000000"/>
            </a:endParaRPr>
          </a:p>
          <a:p>
            <a:r>
              <a:rPr lang="zh-CN" altLang="en-US" dirty="0" smtClean="0">
                <a:ea typeface="思源黑体 CN Bold" panose="020B0800000000000000"/>
              </a:rPr>
              <a:t>即使这些生成信号是由相同的 </a:t>
            </a:r>
            <a:r>
              <a:rPr lang="en-US" altLang="zh-CN" dirty="0" smtClean="0">
                <a:ea typeface="思源黑体 CN Bold" panose="020B0800000000000000"/>
              </a:rPr>
              <a:t>LPC </a:t>
            </a:r>
            <a:r>
              <a:rPr lang="zh-CN" altLang="en-US" dirty="0" smtClean="0">
                <a:ea typeface="思源黑体 CN Bold" panose="020B0800000000000000"/>
              </a:rPr>
              <a:t>系数生成的，但由于它们</a:t>
            </a:r>
            <a:endParaRPr lang="en-US" altLang="zh-CN" dirty="0" smtClean="0">
              <a:ea typeface="思源黑体 CN Bold" panose="020B0800000000000000"/>
            </a:endParaRPr>
          </a:p>
          <a:p>
            <a:r>
              <a:rPr lang="zh-CN" altLang="en-US" dirty="0" smtClean="0">
                <a:ea typeface="思源黑体 CN Bold" panose="020B0800000000000000"/>
              </a:rPr>
              <a:t>的激励信号不同，输出就有所不同。这使我们能够为相同的</a:t>
            </a:r>
            <a:endParaRPr lang="en-US" altLang="zh-CN" dirty="0" smtClean="0">
              <a:ea typeface="思源黑体 CN Bold" panose="020B0800000000000000"/>
            </a:endParaRPr>
          </a:p>
          <a:p>
            <a:r>
              <a:rPr lang="zh-CN" altLang="en-US" dirty="0" smtClean="0">
                <a:ea typeface="思源黑体 CN Bold" panose="020B0800000000000000"/>
              </a:rPr>
              <a:t>人体活动类型生成大量的随机样本，使窃听者无法</a:t>
            </a:r>
            <a:endParaRPr lang="zh-CN" altLang="en-US" dirty="0" smtClean="0">
              <a:ea typeface="思源黑体 CN Bold" panose="020B0800000000000000"/>
            </a:endParaRPr>
          </a:p>
          <a:p>
            <a:r>
              <a:rPr lang="zh-CN" altLang="en-US" dirty="0" smtClean="0">
                <a:ea typeface="思源黑体 CN Bold" panose="020B0800000000000000"/>
              </a:rPr>
              <a:t>破解出发射器所使用的确切加扰向量。</a:t>
            </a:r>
            <a:br>
              <a:rPr lang="zh-CN" altLang="en-US" dirty="0" smtClean="0">
                <a:ea typeface="思源黑体 CN Bold" panose="020B0800000000000000"/>
              </a:rPr>
            </a:br>
            <a:endParaRPr lang="zh-CN" altLang="en-US" dirty="0" smtClean="0">
              <a:ea typeface="思源黑体 CN Bold" panose="020B0800000000000000"/>
            </a:endParaRPr>
          </a:p>
          <a:p>
            <a:endParaRPr lang="zh-CN" altLang="en-US" dirty="0"/>
          </a:p>
        </p:txBody>
      </p:sp>
      <p:sp>
        <p:nvSpPr>
          <p:cNvPr id="1049110" name="灯片编号占位符 3"/>
          <p:cNvSpPr>
            <a:spLocks noGrp="1"/>
          </p:cNvSpPr>
          <p:nvPr>
            <p:ph type="sldNum" sz="quarter" idx="5"/>
          </p:nvPr>
        </p:nvSpPr>
        <p:spPr/>
        <p:txBody>
          <a:bodyPr/>
          <a:p>
            <a:fld id="{43CA62FC-0B47-4E10-B99E-3B02E4C499D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image" Target="../media/image4.GIF"/><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5" Type="http://schemas.openxmlformats.org/officeDocument/2006/relationships/image" Target="../media/image4.GIF"/><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71" name=""/>
        <p:cNvGrpSpPr/>
        <p:nvPr/>
      </p:nvGrpSpPr>
      <p:grpSpPr>
        <a:xfrm>
          <a:off x="0" y="0"/>
          <a:ext cx="0" cy="0"/>
          <a:chOff x="0" y="0"/>
          <a:chExt cx="0" cy="0"/>
        </a:xfrm>
      </p:grpSpPr>
      <p:sp>
        <p:nvSpPr>
          <p:cNvPr id="1049111"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1049112"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049113" name="日期占位符 3"/>
          <p:cNvSpPr>
            <a:spLocks noGrp="1"/>
          </p:cNvSpPr>
          <p:nvPr>
            <p:ph type="dt" sz="half" idx="10"/>
          </p:nvPr>
        </p:nvSpPr>
        <p:spPr/>
        <p:txBody>
          <a:bodyPr/>
          <a:p>
            <a:fld id="{402A388A-1B01-424B-B3F5-B2A58CD1E139}" type="datetimeFigureOut">
              <a:rPr lang="zh-CN" altLang="en-US" smtClean="0"/>
            </a:fld>
            <a:endParaRPr lang="zh-CN" altLang="en-US"/>
          </a:p>
        </p:txBody>
      </p:sp>
      <p:sp>
        <p:nvSpPr>
          <p:cNvPr id="1049114" name="页脚占位符 4"/>
          <p:cNvSpPr>
            <a:spLocks noGrp="1"/>
          </p:cNvSpPr>
          <p:nvPr>
            <p:ph type="ftr" sz="quarter" idx="11"/>
          </p:nvPr>
        </p:nvSpPr>
        <p:spPr/>
        <p:txBody>
          <a:bodyPr/>
          <a:p>
            <a:endParaRPr lang="zh-CN" altLang="en-US"/>
          </a:p>
        </p:txBody>
      </p:sp>
      <p:sp>
        <p:nvSpPr>
          <p:cNvPr id="1049115" name="灯片编号占位符 5"/>
          <p:cNvSpPr>
            <a:spLocks noGrp="1"/>
          </p:cNvSpPr>
          <p:nvPr>
            <p:ph type="sldNum" sz="quarter" idx="12"/>
          </p:nvPr>
        </p:nvSpPr>
        <p:spPr/>
        <p:txBody>
          <a:bodyPr/>
          <a:p>
            <a:fld id="{369FAE15-0E22-46CE-8AA1-4BC4E10EB78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78" name=""/>
        <p:cNvGrpSpPr/>
        <p:nvPr/>
      </p:nvGrpSpPr>
      <p:grpSpPr>
        <a:xfrm>
          <a:off x="0" y="0"/>
          <a:ext cx="0" cy="0"/>
          <a:chOff x="0" y="0"/>
          <a:chExt cx="0" cy="0"/>
        </a:xfrm>
      </p:grpSpPr>
      <p:sp>
        <p:nvSpPr>
          <p:cNvPr id="1049147" name="标题 1"/>
          <p:cNvSpPr>
            <a:spLocks noGrp="1"/>
          </p:cNvSpPr>
          <p:nvPr>
            <p:ph type="title"/>
          </p:nvPr>
        </p:nvSpPr>
        <p:spPr/>
        <p:txBody>
          <a:bodyPr/>
          <a:p>
            <a:r>
              <a:rPr lang="zh-CN" altLang="en-US"/>
              <a:t>单击此处编辑母版标题样式</a:t>
            </a:r>
            <a:endParaRPr lang="zh-CN" altLang="en-US"/>
          </a:p>
        </p:txBody>
      </p:sp>
      <p:sp>
        <p:nvSpPr>
          <p:cNvPr id="1049148" name="内容占位符 2"/>
          <p:cNvSpPr>
            <a:spLocks noGrp="1"/>
          </p:cNvSpPr>
          <p:nvPr>
            <p:ph idx="1" hasCustomPrompt="1"/>
          </p:nvPr>
        </p:nvSpPr>
        <p:spPr/>
        <p:txBody>
          <a:bodyPr/>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9149" name="日期占位符 3"/>
          <p:cNvSpPr>
            <a:spLocks noGrp="1"/>
          </p:cNvSpPr>
          <p:nvPr>
            <p:ph type="dt" sz="half" idx="10"/>
          </p:nvPr>
        </p:nvSpPr>
        <p:spPr/>
        <p:txBody>
          <a:bodyPr/>
          <a:p>
            <a:fld id="{402A388A-1B01-424B-B3F5-B2A58CD1E139}" type="datetimeFigureOut">
              <a:rPr lang="zh-CN" altLang="en-US" smtClean="0"/>
            </a:fld>
            <a:endParaRPr lang="zh-CN" altLang="en-US"/>
          </a:p>
        </p:txBody>
      </p:sp>
      <p:sp>
        <p:nvSpPr>
          <p:cNvPr id="1049150" name="页脚占位符 4"/>
          <p:cNvSpPr>
            <a:spLocks noGrp="1"/>
          </p:cNvSpPr>
          <p:nvPr>
            <p:ph type="ftr" sz="quarter" idx="11"/>
          </p:nvPr>
        </p:nvSpPr>
        <p:spPr/>
        <p:txBody>
          <a:bodyPr/>
          <a:p>
            <a:endParaRPr lang="zh-CN" altLang="en-US"/>
          </a:p>
        </p:txBody>
      </p:sp>
      <p:sp>
        <p:nvSpPr>
          <p:cNvPr id="1049151" name="灯片编号占位符 5"/>
          <p:cNvSpPr>
            <a:spLocks noGrp="1"/>
          </p:cNvSpPr>
          <p:nvPr>
            <p:ph type="sldNum" sz="quarter" idx="12"/>
          </p:nvPr>
        </p:nvSpPr>
        <p:spPr/>
        <p:txBody>
          <a:bodyPr/>
          <a:p>
            <a:fld id="{369FAE15-0E22-46CE-8AA1-4BC4E10EB78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75" name=""/>
        <p:cNvGrpSpPr/>
        <p:nvPr/>
      </p:nvGrpSpPr>
      <p:grpSpPr>
        <a:xfrm>
          <a:off x="0" y="0"/>
          <a:ext cx="0" cy="0"/>
          <a:chOff x="0" y="0"/>
          <a:chExt cx="0" cy="0"/>
        </a:xfrm>
      </p:grpSpPr>
      <p:sp>
        <p:nvSpPr>
          <p:cNvPr id="1049131"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1049132"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1049133" name="日期占位符 3"/>
          <p:cNvSpPr>
            <a:spLocks noGrp="1"/>
          </p:cNvSpPr>
          <p:nvPr>
            <p:ph type="dt" sz="half" idx="10"/>
          </p:nvPr>
        </p:nvSpPr>
        <p:spPr/>
        <p:txBody>
          <a:bodyPr/>
          <a:p>
            <a:fld id="{402A388A-1B01-424B-B3F5-B2A58CD1E139}" type="datetimeFigureOut">
              <a:rPr lang="zh-CN" altLang="en-US" smtClean="0"/>
            </a:fld>
            <a:endParaRPr lang="zh-CN" altLang="en-US"/>
          </a:p>
        </p:txBody>
      </p:sp>
      <p:sp>
        <p:nvSpPr>
          <p:cNvPr id="1049134" name="页脚占位符 4"/>
          <p:cNvSpPr>
            <a:spLocks noGrp="1"/>
          </p:cNvSpPr>
          <p:nvPr>
            <p:ph type="ftr" sz="quarter" idx="11"/>
          </p:nvPr>
        </p:nvSpPr>
        <p:spPr/>
        <p:txBody>
          <a:bodyPr/>
          <a:p>
            <a:endParaRPr lang="zh-CN" altLang="en-US"/>
          </a:p>
        </p:txBody>
      </p:sp>
      <p:sp>
        <p:nvSpPr>
          <p:cNvPr id="1049135" name="灯片编号占位符 5"/>
          <p:cNvSpPr>
            <a:spLocks noGrp="1"/>
          </p:cNvSpPr>
          <p:nvPr>
            <p:ph type="sldNum" sz="quarter" idx="12"/>
          </p:nvPr>
        </p:nvSpPr>
        <p:spPr/>
        <p:txBody>
          <a:bodyPr/>
          <a:p>
            <a:fld id="{369FAE15-0E22-46CE-8AA1-4BC4E10EB78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80" name=""/>
        <p:cNvGrpSpPr/>
        <p:nvPr/>
      </p:nvGrpSpPr>
      <p:grpSpPr>
        <a:xfrm>
          <a:off x="0" y="0"/>
          <a:ext cx="0" cy="0"/>
          <a:chOff x="0" y="0"/>
          <a:chExt cx="0" cy="0"/>
        </a:xfrm>
      </p:grpSpPr>
      <p:sp>
        <p:nvSpPr>
          <p:cNvPr id="1049157" name="标题 1"/>
          <p:cNvSpPr>
            <a:spLocks noGrp="1"/>
          </p:cNvSpPr>
          <p:nvPr>
            <p:ph type="title"/>
          </p:nvPr>
        </p:nvSpPr>
        <p:spPr/>
        <p:txBody>
          <a:bodyPr/>
          <a:p>
            <a:r>
              <a:rPr lang="zh-CN" altLang="en-US"/>
              <a:t>单击此处编辑母版标题样式</a:t>
            </a:r>
            <a:endParaRPr lang="zh-CN" altLang="en-US"/>
          </a:p>
        </p:txBody>
      </p:sp>
      <p:sp>
        <p:nvSpPr>
          <p:cNvPr id="1049158" name="内容占位符 2"/>
          <p:cNvSpPr>
            <a:spLocks noGrp="1"/>
          </p:cNvSpPr>
          <p:nvPr>
            <p:ph sz="half" idx="1" hasCustomPrompt="1"/>
          </p:nvPr>
        </p:nvSpPr>
        <p:spPr>
          <a:xfrm>
            <a:off x="838200" y="1825625"/>
            <a:ext cx="5181600" cy="4351338"/>
          </a:xfrm>
        </p:spPr>
        <p:txBody>
          <a:bodyPr/>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9159" name="内容占位符 3"/>
          <p:cNvSpPr>
            <a:spLocks noGrp="1"/>
          </p:cNvSpPr>
          <p:nvPr>
            <p:ph sz="half" idx="2" hasCustomPrompt="1"/>
          </p:nvPr>
        </p:nvSpPr>
        <p:spPr>
          <a:xfrm>
            <a:off x="6172200" y="1825625"/>
            <a:ext cx="5181600" cy="4351338"/>
          </a:xfrm>
        </p:spPr>
        <p:txBody>
          <a:bodyPr/>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9160" name="日期占位符 4"/>
          <p:cNvSpPr>
            <a:spLocks noGrp="1"/>
          </p:cNvSpPr>
          <p:nvPr>
            <p:ph type="dt" sz="half" idx="10"/>
          </p:nvPr>
        </p:nvSpPr>
        <p:spPr/>
        <p:txBody>
          <a:bodyPr/>
          <a:p>
            <a:fld id="{402A388A-1B01-424B-B3F5-B2A58CD1E139}" type="datetimeFigureOut">
              <a:rPr lang="zh-CN" altLang="en-US" smtClean="0"/>
            </a:fld>
            <a:endParaRPr lang="zh-CN" altLang="en-US"/>
          </a:p>
        </p:txBody>
      </p:sp>
      <p:sp>
        <p:nvSpPr>
          <p:cNvPr id="1049161" name="页脚占位符 5"/>
          <p:cNvSpPr>
            <a:spLocks noGrp="1"/>
          </p:cNvSpPr>
          <p:nvPr>
            <p:ph type="ftr" sz="quarter" idx="11"/>
          </p:nvPr>
        </p:nvSpPr>
        <p:spPr/>
        <p:txBody>
          <a:bodyPr/>
          <a:p>
            <a:endParaRPr lang="zh-CN" altLang="en-US"/>
          </a:p>
        </p:txBody>
      </p:sp>
      <p:sp>
        <p:nvSpPr>
          <p:cNvPr id="1049162" name="灯片编号占位符 6"/>
          <p:cNvSpPr>
            <a:spLocks noGrp="1"/>
          </p:cNvSpPr>
          <p:nvPr>
            <p:ph type="sldNum" sz="quarter" idx="12"/>
          </p:nvPr>
        </p:nvSpPr>
        <p:spPr/>
        <p:txBody>
          <a:bodyPr/>
          <a:p>
            <a:fld id="{369FAE15-0E22-46CE-8AA1-4BC4E10EB78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76" name=""/>
        <p:cNvGrpSpPr/>
        <p:nvPr/>
      </p:nvGrpSpPr>
      <p:grpSpPr>
        <a:xfrm>
          <a:off x="0" y="0"/>
          <a:ext cx="0" cy="0"/>
          <a:chOff x="0" y="0"/>
          <a:chExt cx="0" cy="0"/>
        </a:xfrm>
      </p:grpSpPr>
      <p:sp>
        <p:nvSpPr>
          <p:cNvPr id="1049136" name="标题 1"/>
          <p:cNvSpPr>
            <a:spLocks noGrp="1"/>
          </p:cNvSpPr>
          <p:nvPr>
            <p:ph type="title"/>
          </p:nvPr>
        </p:nvSpPr>
        <p:spPr>
          <a:xfrm>
            <a:off x="839788" y="365125"/>
            <a:ext cx="10515600" cy="1325563"/>
          </a:xfrm>
        </p:spPr>
        <p:txBody>
          <a:bodyPr/>
          <a:p>
            <a:r>
              <a:rPr lang="zh-CN" altLang="en-US"/>
              <a:t>单击此处编辑母版标题样式</a:t>
            </a:r>
            <a:endParaRPr lang="zh-CN" altLang="en-US"/>
          </a:p>
        </p:txBody>
      </p:sp>
      <p:sp>
        <p:nvSpPr>
          <p:cNvPr id="1049137"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049138" name="内容占位符 3"/>
          <p:cNvSpPr>
            <a:spLocks noGrp="1"/>
          </p:cNvSpPr>
          <p:nvPr>
            <p:ph sz="half" idx="2" hasCustomPrompt="1"/>
          </p:nvPr>
        </p:nvSpPr>
        <p:spPr>
          <a:xfrm>
            <a:off x="839788" y="2505075"/>
            <a:ext cx="5157787" cy="3684588"/>
          </a:xfrm>
        </p:spPr>
        <p:txBody>
          <a:bodyPr/>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9139"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049140" name="内容占位符 5"/>
          <p:cNvSpPr>
            <a:spLocks noGrp="1"/>
          </p:cNvSpPr>
          <p:nvPr>
            <p:ph sz="quarter" idx="4" hasCustomPrompt="1"/>
          </p:nvPr>
        </p:nvSpPr>
        <p:spPr>
          <a:xfrm>
            <a:off x="6172200" y="2505075"/>
            <a:ext cx="5183188" cy="3684588"/>
          </a:xfrm>
        </p:spPr>
        <p:txBody>
          <a:bodyPr/>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9141" name="日期占位符 6"/>
          <p:cNvSpPr>
            <a:spLocks noGrp="1"/>
          </p:cNvSpPr>
          <p:nvPr>
            <p:ph type="dt" sz="half" idx="10"/>
          </p:nvPr>
        </p:nvSpPr>
        <p:spPr/>
        <p:txBody>
          <a:bodyPr/>
          <a:p>
            <a:fld id="{402A388A-1B01-424B-B3F5-B2A58CD1E139}" type="datetimeFigureOut">
              <a:rPr lang="zh-CN" altLang="en-US" smtClean="0"/>
            </a:fld>
            <a:endParaRPr lang="zh-CN" altLang="en-US"/>
          </a:p>
        </p:txBody>
      </p:sp>
      <p:sp>
        <p:nvSpPr>
          <p:cNvPr id="1049142" name="页脚占位符 7"/>
          <p:cNvSpPr>
            <a:spLocks noGrp="1"/>
          </p:cNvSpPr>
          <p:nvPr>
            <p:ph type="ftr" sz="quarter" idx="11"/>
          </p:nvPr>
        </p:nvSpPr>
        <p:spPr/>
        <p:txBody>
          <a:bodyPr/>
          <a:p>
            <a:endParaRPr lang="zh-CN" altLang="en-US"/>
          </a:p>
        </p:txBody>
      </p:sp>
      <p:sp>
        <p:nvSpPr>
          <p:cNvPr id="1049143" name="灯片编号占位符 8"/>
          <p:cNvSpPr>
            <a:spLocks noGrp="1"/>
          </p:cNvSpPr>
          <p:nvPr>
            <p:ph type="sldNum" sz="quarter" idx="12"/>
          </p:nvPr>
        </p:nvSpPr>
        <p:spPr/>
        <p:txBody>
          <a:bodyPr/>
          <a:p>
            <a:fld id="{369FAE15-0E22-46CE-8AA1-4BC4E10EB78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72" name=""/>
        <p:cNvGrpSpPr/>
        <p:nvPr/>
      </p:nvGrpSpPr>
      <p:grpSpPr>
        <a:xfrm>
          <a:off x="0" y="0"/>
          <a:ext cx="0" cy="0"/>
          <a:chOff x="0" y="0"/>
          <a:chExt cx="0" cy="0"/>
        </a:xfrm>
      </p:grpSpPr>
      <p:sp>
        <p:nvSpPr>
          <p:cNvPr id="1049116" name="标题 1"/>
          <p:cNvSpPr>
            <a:spLocks noGrp="1"/>
          </p:cNvSpPr>
          <p:nvPr>
            <p:ph type="title"/>
          </p:nvPr>
        </p:nvSpPr>
        <p:spPr/>
        <p:txBody>
          <a:bodyPr/>
          <a:p>
            <a:r>
              <a:rPr lang="zh-CN" altLang="en-US"/>
              <a:t>单击此处编辑母版标题样式</a:t>
            </a:r>
            <a:endParaRPr lang="zh-CN" altLang="en-US"/>
          </a:p>
        </p:txBody>
      </p:sp>
      <p:sp>
        <p:nvSpPr>
          <p:cNvPr id="1049117" name="日期占位符 2"/>
          <p:cNvSpPr>
            <a:spLocks noGrp="1"/>
          </p:cNvSpPr>
          <p:nvPr>
            <p:ph type="dt" sz="half" idx="10"/>
          </p:nvPr>
        </p:nvSpPr>
        <p:spPr/>
        <p:txBody>
          <a:bodyPr/>
          <a:p>
            <a:fld id="{402A388A-1B01-424B-B3F5-B2A58CD1E139}" type="datetimeFigureOut">
              <a:rPr lang="zh-CN" altLang="en-US" smtClean="0"/>
            </a:fld>
            <a:endParaRPr lang="zh-CN" altLang="en-US"/>
          </a:p>
        </p:txBody>
      </p:sp>
      <p:sp>
        <p:nvSpPr>
          <p:cNvPr id="1049118" name="页脚占位符 3"/>
          <p:cNvSpPr>
            <a:spLocks noGrp="1"/>
          </p:cNvSpPr>
          <p:nvPr>
            <p:ph type="ftr" sz="quarter" idx="11"/>
          </p:nvPr>
        </p:nvSpPr>
        <p:spPr/>
        <p:txBody>
          <a:bodyPr/>
          <a:p>
            <a:endParaRPr lang="zh-CN" altLang="en-US"/>
          </a:p>
        </p:txBody>
      </p:sp>
      <p:sp>
        <p:nvSpPr>
          <p:cNvPr id="1049119" name="灯片编号占位符 4"/>
          <p:cNvSpPr>
            <a:spLocks noGrp="1"/>
          </p:cNvSpPr>
          <p:nvPr>
            <p:ph type="sldNum" sz="quarter" idx="12"/>
          </p:nvPr>
        </p:nvSpPr>
        <p:spPr/>
        <p:txBody>
          <a:bodyPr/>
          <a:p>
            <a:fld id="{369FAE15-0E22-46CE-8AA1-4BC4E10EB78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77" name=""/>
        <p:cNvGrpSpPr/>
        <p:nvPr/>
      </p:nvGrpSpPr>
      <p:grpSpPr>
        <a:xfrm>
          <a:off x="0" y="0"/>
          <a:ext cx="0" cy="0"/>
          <a:chOff x="0" y="0"/>
          <a:chExt cx="0" cy="0"/>
        </a:xfrm>
      </p:grpSpPr>
      <p:sp>
        <p:nvSpPr>
          <p:cNvPr id="1049144" name="日期占位符 1"/>
          <p:cNvSpPr>
            <a:spLocks noGrp="1"/>
          </p:cNvSpPr>
          <p:nvPr>
            <p:ph type="dt" sz="half" idx="10"/>
          </p:nvPr>
        </p:nvSpPr>
        <p:spPr/>
        <p:txBody>
          <a:bodyPr/>
          <a:p>
            <a:fld id="{402A388A-1B01-424B-B3F5-B2A58CD1E139}" type="datetimeFigureOut">
              <a:rPr lang="zh-CN" altLang="en-US" smtClean="0"/>
            </a:fld>
            <a:endParaRPr lang="zh-CN" altLang="en-US"/>
          </a:p>
        </p:txBody>
      </p:sp>
      <p:sp>
        <p:nvSpPr>
          <p:cNvPr id="1049145" name="页脚占位符 2"/>
          <p:cNvSpPr>
            <a:spLocks noGrp="1"/>
          </p:cNvSpPr>
          <p:nvPr>
            <p:ph type="ftr" sz="quarter" idx="11"/>
          </p:nvPr>
        </p:nvSpPr>
        <p:spPr/>
        <p:txBody>
          <a:bodyPr/>
          <a:p>
            <a:endParaRPr lang="zh-CN" altLang="en-US"/>
          </a:p>
        </p:txBody>
      </p:sp>
      <p:sp>
        <p:nvSpPr>
          <p:cNvPr id="1049146" name="灯片编号占位符 3"/>
          <p:cNvSpPr>
            <a:spLocks noGrp="1"/>
          </p:cNvSpPr>
          <p:nvPr>
            <p:ph type="sldNum" sz="quarter" idx="12"/>
          </p:nvPr>
        </p:nvSpPr>
        <p:spPr/>
        <p:txBody>
          <a:bodyPr/>
          <a:p>
            <a:fld id="{369FAE15-0E22-46CE-8AA1-4BC4E10EB78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81" name=""/>
        <p:cNvGrpSpPr/>
        <p:nvPr/>
      </p:nvGrpSpPr>
      <p:grpSpPr>
        <a:xfrm>
          <a:off x="0" y="0"/>
          <a:ext cx="0" cy="0"/>
          <a:chOff x="0" y="0"/>
          <a:chExt cx="0" cy="0"/>
        </a:xfrm>
      </p:grpSpPr>
      <p:sp>
        <p:nvSpPr>
          <p:cNvPr id="1049163"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1049164"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9165"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49166" name="日期占位符 4"/>
          <p:cNvSpPr>
            <a:spLocks noGrp="1"/>
          </p:cNvSpPr>
          <p:nvPr>
            <p:ph type="dt" sz="half" idx="10"/>
          </p:nvPr>
        </p:nvSpPr>
        <p:spPr/>
        <p:txBody>
          <a:bodyPr/>
          <a:p>
            <a:fld id="{402A388A-1B01-424B-B3F5-B2A58CD1E139}" type="datetimeFigureOut">
              <a:rPr lang="zh-CN" altLang="en-US" smtClean="0"/>
            </a:fld>
            <a:endParaRPr lang="zh-CN" altLang="en-US"/>
          </a:p>
        </p:txBody>
      </p:sp>
      <p:sp>
        <p:nvSpPr>
          <p:cNvPr id="1049167" name="页脚占位符 5"/>
          <p:cNvSpPr>
            <a:spLocks noGrp="1"/>
          </p:cNvSpPr>
          <p:nvPr>
            <p:ph type="ftr" sz="quarter" idx="11"/>
          </p:nvPr>
        </p:nvSpPr>
        <p:spPr/>
        <p:txBody>
          <a:bodyPr/>
          <a:p>
            <a:endParaRPr lang="zh-CN" altLang="en-US"/>
          </a:p>
        </p:txBody>
      </p:sp>
      <p:sp>
        <p:nvSpPr>
          <p:cNvPr id="1049168" name="灯片编号占位符 6"/>
          <p:cNvSpPr>
            <a:spLocks noGrp="1"/>
          </p:cNvSpPr>
          <p:nvPr>
            <p:ph type="sldNum" sz="quarter" idx="12"/>
          </p:nvPr>
        </p:nvSpPr>
        <p:spPr/>
        <p:txBody>
          <a:bodyPr/>
          <a:p>
            <a:fld id="{369FAE15-0E22-46CE-8AA1-4BC4E10EB78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74" name=""/>
        <p:cNvGrpSpPr/>
        <p:nvPr/>
      </p:nvGrpSpPr>
      <p:grpSpPr>
        <a:xfrm>
          <a:off x="0" y="0"/>
          <a:ext cx="0" cy="0"/>
          <a:chOff x="0" y="0"/>
          <a:chExt cx="0" cy="0"/>
        </a:xfrm>
      </p:grpSpPr>
      <p:sp>
        <p:nvSpPr>
          <p:cNvPr id="1049125"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1049126"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9127"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49128" name="日期占位符 4"/>
          <p:cNvSpPr>
            <a:spLocks noGrp="1"/>
          </p:cNvSpPr>
          <p:nvPr>
            <p:ph type="dt" sz="half" idx="10"/>
          </p:nvPr>
        </p:nvSpPr>
        <p:spPr/>
        <p:txBody>
          <a:bodyPr/>
          <a:p>
            <a:fld id="{402A388A-1B01-424B-B3F5-B2A58CD1E139}" type="datetimeFigureOut">
              <a:rPr lang="zh-CN" altLang="en-US" smtClean="0"/>
            </a:fld>
            <a:endParaRPr lang="zh-CN" altLang="en-US"/>
          </a:p>
        </p:txBody>
      </p:sp>
      <p:sp>
        <p:nvSpPr>
          <p:cNvPr id="1049129" name="页脚占位符 5"/>
          <p:cNvSpPr>
            <a:spLocks noGrp="1"/>
          </p:cNvSpPr>
          <p:nvPr>
            <p:ph type="ftr" sz="quarter" idx="11"/>
          </p:nvPr>
        </p:nvSpPr>
        <p:spPr/>
        <p:txBody>
          <a:bodyPr/>
          <a:p>
            <a:endParaRPr lang="zh-CN" altLang="en-US"/>
          </a:p>
        </p:txBody>
      </p:sp>
      <p:sp>
        <p:nvSpPr>
          <p:cNvPr id="1049130" name="灯片编号占位符 6"/>
          <p:cNvSpPr>
            <a:spLocks noGrp="1"/>
          </p:cNvSpPr>
          <p:nvPr>
            <p:ph type="sldNum" sz="quarter" idx="12"/>
          </p:nvPr>
        </p:nvSpPr>
        <p:spPr/>
        <p:txBody>
          <a:bodyPr/>
          <a:p>
            <a:fld id="{369FAE15-0E22-46CE-8AA1-4BC4E10EB78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79" name=""/>
        <p:cNvGrpSpPr/>
        <p:nvPr/>
      </p:nvGrpSpPr>
      <p:grpSpPr>
        <a:xfrm>
          <a:off x="0" y="0"/>
          <a:ext cx="0" cy="0"/>
          <a:chOff x="0" y="0"/>
          <a:chExt cx="0" cy="0"/>
        </a:xfrm>
      </p:grpSpPr>
      <p:sp>
        <p:nvSpPr>
          <p:cNvPr id="1049152" name="标题 1"/>
          <p:cNvSpPr>
            <a:spLocks noGrp="1"/>
          </p:cNvSpPr>
          <p:nvPr>
            <p:ph type="title"/>
          </p:nvPr>
        </p:nvSpPr>
        <p:spPr/>
        <p:txBody>
          <a:bodyPr/>
          <a:p>
            <a:r>
              <a:rPr lang="zh-CN" altLang="en-US"/>
              <a:t>单击此处编辑母版标题样式</a:t>
            </a:r>
            <a:endParaRPr lang="zh-CN" altLang="en-US"/>
          </a:p>
        </p:txBody>
      </p:sp>
      <p:sp>
        <p:nvSpPr>
          <p:cNvPr id="1049153" name="竖排文字占位符 2"/>
          <p:cNvSpPr>
            <a:spLocks noGrp="1"/>
          </p:cNvSpPr>
          <p:nvPr>
            <p:ph type="body" orient="vert" idx="1" hasCustomPrompt="1"/>
          </p:nvPr>
        </p:nvSpPr>
        <p:spPr/>
        <p:txBody>
          <a:bodyPr vert="eaVert"/>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9154" name="日期占位符 3"/>
          <p:cNvSpPr>
            <a:spLocks noGrp="1"/>
          </p:cNvSpPr>
          <p:nvPr>
            <p:ph type="dt" sz="half" idx="10"/>
          </p:nvPr>
        </p:nvSpPr>
        <p:spPr/>
        <p:txBody>
          <a:bodyPr/>
          <a:p>
            <a:fld id="{402A388A-1B01-424B-B3F5-B2A58CD1E139}" type="datetimeFigureOut">
              <a:rPr lang="zh-CN" altLang="en-US" smtClean="0"/>
            </a:fld>
            <a:endParaRPr lang="zh-CN" altLang="en-US"/>
          </a:p>
        </p:txBody>
      </p:sp>
      <p:sp>
        <p:nvSpPr>
          <p:cNvPr id="1049155" name="页脚占位符 4"/>
          <p:cNvSpPr>
            <a:spLocks noGrp="1"/>
          </p:cNvSpPr>
          <p:nvPr>
            <p:ph type="ftr" sz="quarter" idx="11"/>
          </p:nvPr>
        </p:nvSpPr>
        <p:spPr/>
        <p:txBody>
          <a:bodyPr/>
          <a:p>
            <a:endParaRPr lang="zh-CN" altLang="en-US"/>
          </a:p>
        </p:txBody>
      </p:sp>
      <p:sp>
        <p:nvSpPr>
          <p:cNvPr id="1049156" name="灯片编号占位符 5"/>
          <p:cNvSpPr>
            <a:spLocks noGrp="1"/>
          </p:cNvSpPr>
          <p:nvPr>
            <p:ph type="sldNum" sz="quarter" idx="12"/>
          </p:nvPr>
        </p:nvSpPr>
        <p:spPr/>
        <p:txBody>
          <a:bodyPr/>
          <a:p>
            <a:fld id="{369FAE15-0E22-46CE-8AA1-4BC4E10EB78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73" name=""/>
        <p:cNvGrpSpPr/>
        <p:nvPr/>
      </p:nvGrpSpPr>
      <p:grpSpPr>
        <a:xfrm>
          <a:off x="0" y="0"/>
          <a:ext cx="0" cy="0"/>
          <a:chOff x="0" y="0"/>
          <a:chExt cx="0" cy="0"/>
        </a:xfrm>
      </p:grpSpPr>
      <p:sp>
        <p:nvSpPr>
          <p:cNvPr id="1049120" name="竖排标题 1"/>
          <p:cNvSpPr>
            <a:spLocks noGrp="1"/>
          </p:cNvSpPr>
          <p:nvPr>
            <p:ph type="title" orient="vert"/>
          </p:nvPr>
        </p:nvSpPr>
        <p:spPr>
          <a:xfrm>
            <a:off x="8724900" y="365125"/>
            <a:ext cx="2628900" cy="5811838"/>
          </a:xfrm>
        </p:spPr>
        <p:txBody>
          <a:bodyPr vert="eaVert"/>
          <a:p>
            <a:r>
              <a:rPr lang="zh-CN" altLang="en-US"/>
              <a:t>单击此处编辑母版标题样式</a:t>
            </a:r>
            <a:endParaRPr lang="zh-CN" altLang="en-US"/>
          </a:p>
        </p:txBody>
      </p:sp>
      <p:sp>
        <p:nvSpPr>
          <p:cNvPr id="1049121" name="竖排文字占位符 2"/>
          <p:cNvSpPr>
            <a:spLocks noGrp="1"/>
          </p:cNvSpPr>
          <p:nvPr>
            <p:ph type="body" orient="vert" idx="1" hasCustomPrompt="1"/>
          </p:nvPr>
        </p:nvSpPr>
        <p:spPr>
          <a:xfrm>
            <a:off x="838200" y="365125"/>
            <a:ext cx="7734300" cy="5811838"/>
          </a:xfrm>
        </p:spPr>
        <p:txBody>
          <a:bodyPr vert="eaVert"/>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9122" name="日期占位符 3"/>
          <p:cNvSpPr>
            <a:spLocks noGrp="1"/>
          </p:cNvSpPr>
          <p:nvPr>
            <p:ph type="dt" sz="half" idx="10"/>
          </p:nvPr>
        </p:nvSpPr>
        <p:spPr/>
        <p:txBody>
          <a:bodyPr/>
          <a:p>
            <a:fld id="{402A388A-1B01-424B-B3F5-B2A58CD1E139}" type="datetimeFigureOut">
              <a:rPr lang="zh-CN" altLang="en-US" smtClean="0"/>
            </a:fld>
            <a:endParaRPr lang="zh-CN" altLang="en-US"/>
          </a:p>
        </p:txBody>
      </p:sp>
      <p:sp>
        <p:nvSpPr>
          <p:cNvPr id="1049123" name="页脚占位符 4"/>
          <p:cNvSpPr>
            <a:spLocks noGrp="1"/>
          </p:cNvSpPr>
          <p:nvPr>
            <p:ph type="ftr" sz="quarter" idx="11"/>
          </p:nvPr>
        </p:nvSpPr>
        <p:spPr/>
        <p:txBody>
          <a:bodyPr/>
          <a:p>
            <a:endParaRPr lang="zh-CN" altLang="en-US"/>
          </a:p>
        </p:txBody>
      </p:sp>
      <p:sp>
        <p:nvSpPr>
          <p:cNvPr id="1049124" name="灯片编号占位符 5"/>
          <p:cNvSpPr>
            <a:spLocks noGrp="1"/>
          </p:cNvSpPr>
          <p:nvPr>
            <p:ph type="sldNum" sz="quarter" idx="12"/>
          </p:nvPr>
        </p:nvSpPr>
        <p:spPr/>
        <p:txBody>
          <a:bodyPr/>
          <a:p>
            <a:fld id="{369FAE15-0E22-46CE-8AA1-4BC4E10EB783}"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封面">
    <p:bg>
      <p:bgPr>
        <a:blipFill dpi="0" rotWithShape="1">
          <a:blip r:embed="rId2">
            <a:alphaModFix amt="14000"/>
            <a:lum/>
          </a:blip>
          <a:srcRect/>
          <a:stretch>
            <a:fillRect l="-9000" r="-9000"/>
          </a:stretch>
        </a:blipFill>
        <a:effectLst/>
      </p:bgPr>
    </p:bg>
    <p:spTree>
      <p:nvGrpSpPr>
        <p:cNvPr id="72" name=""/>
        <p:cNvGrpSpPr/>
        <p:nvPr/>
      </p:nvGrpSpPr>
      <p:grpSpPr>
        <a:xfrm>
          <a:off x="0" y="0"/>
          <a:ext cx="0" cy="0"/>
          <a:chOff x="0" y="0"/>
          <a:chExt cx="0" cy="0"/>
        </a:xfrm>
      </p:grpSpPr>
      <p:sp>
        <p:nvSpPr>
          <p:cNvPr id="1048670" name="任意多边形: 形状 52"/>
          <p:cNvSpPr/>
          <p:nvPr userDrawn="1"/>
        </p:nvSpPr>
        <p:spPr>
          <a:xfrm flipH="1">
            <a:off x="-843" y="610947"/>
            <a:ext cx="10910940" cy="5773943"/>
          </a:xfrm>
          <a:custGeom>
            <a:avLst/>
            <a:gdLst>
              <a:gd name="connsiteX0" fmla="*/ 10979546 w 10979546"/>
              <a:gd name="connsiteY0" fmla="*/ 0 h 5553797"/>
              <a:gd name="connsiteX1" fmla="*/ 20163 w 10979546"/>
              <a:gd name="connsiteY1" fmla="*/ 0 h 5553797"/>
              <a:gd name="connsiteX2" fmla="*/ 3044826 w 10979546"/>
              <a:gd name="connsiteY2" fmla="*/ 2767674 h 5553797"/>
              <a:gd name="connsiteX3" fmla="*/ 0 w 10979546"/>
              <a:gd name="connsiteY3" fmla="*/ 5553797 h 5553797"/>
              <a:gd name="connsiteX4" fmla="*/ 10979546 w 10979546"/>
              <a:gd name="connsiteY4" fmla="*/ 5553797 h 5553797"/>
              <a:gd name="connsiteX5" fmla="*/ 10979546 w 10979546"/>
              <a:gd name="connsiteY5" fmla="*/ 0 h 5553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79546" h="5553797">
                <a:moveTo>
                  <a:pt x="10979546" y="0"/>
                </a:moveTo>
                <a:lnTo>
                  <a:pt x="20163" y="0"/>
                </a:lnTo>
                <a:lnTo>
                  <a:pt x="3044826" y="2767674"/>
                </a:lnTo>
                <a:lnTo>
                  <a:pt x="0" y="5553797"/>
                </a:lnTo>
                <a:lnTo>
                  <a:pt x="10979546" y="5553797"/>
                </a:lnTo>
                <a:lnTo>
                  <a:pt x="10979546" y="0"/>
                </a:lnTo>
                <a:close/>
              </a:path>
            </a:pathLst>
          </a:cu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pic>
        <p:nvPicPr>
          <p:cNvPr id="2097165" name="!!南京大学"/>
          <p:cNvPicPr>
            <a:picLocks noChangeAspect="1"/>
          </p:cNvPicPr>
          <p:nvPr userDrawn="1"/>
        </p:nvPicPr>
        <p:blipFill>
          <a:blip r:embed="rId3"/>
          <a:stretch>
            <a:fillRect/>
          </a:stretch>
        </p:blipFill>
        <p:spPr>
          <a:xfrm>
            <a:off x="689621" y="1037953"/>
            <a:ext cx="1776838" cy="861855"/>
          </a:xfrm>
          <a:prstGeom prst="rect">
            <a:avLst/>
          </a:prstGeom>
        </p:spPr>
      </p:pic>
      <p:sp>
        <p:nvSpPr>
          <p:cNvPr id="1048671" name="标题 6"/>
          <p:cNvSpPr>
            <a:spLocks noGrp="1"/>
          </p:cNvSpPr>
          <p:nvPr>
            <p:ph type="title" hasCustomPrompt="1"/>
          </p:nvPr>
        </p:nvSpPr>
        <p:spPr>
          <a:xfrm>
            <a:off x="891684" y="2501659"/>
            <a:ext cx="6209055" cy="1015324"/>
          </a:xfrm>
          <a:prstGeom prst="rect">
            <a:avLst/>
          </a:prstGeom>
        </p:spPr>
        <p:txBody>
          <a:bodyPr anchor="ctr">
            <a:noAutofit/>
          </a:bodyPr>
          <a:lstStyle>
            <a:lvl1pPr marL="0" algn="l" defTabSz="914400" rtl="0" eaLnBrk="1" latinLnBrk="0" hangingPunct="1">
              <a:defRPr lang="zh-CN" altLang="en-US" sz="5400" b="0" kern="1200" spc="600" dirty="0">
                <a:gradFill>
                  <a:gsLst>
                    <a:gs pos="0">
                      <a:srgbClr val="99097D"/>
                    </a:gs>
                    <a:gs pos="43000">
                      <a:srgbClr val="8C0062"/>
                    </a:gs>
                    <a:gs pos="100000">
                      <a:srgbClr val="9E008B"/>
                    </a:gs>
                  </a:gsLst>
                  <a:lin ang="3000000" scaled="0"/>
                </a:gradFill>
                <a:effectLst/>
                <a:latin typeface="思源黑体 CN Bold" panose="020B0800000000000000" pitchFamily="34" charset="-122"/>
                <a:ea typeface="思源黑体 CN Bold" panose="020B0800000000000000" pitchFamily="34" charset="-122"/>
                <a:cs typeface="+mn-cs"/>
              </a:defRPr>
            </a:lvl1pPr>
          </a:lstStyle>
          <a:p>
            <a:r>
              <a:rPr lang="zh-CN" altLang="en-US" dirty="0"/>
              <a:t>在这里填写标题</a:t>
            </a:r>
            <a:endParaRPr lang="zh-CN" altLang="en-US" dirty="0"/>
          </a:p>
        </p:txBody>
      </p:sp>
      <p:sp>
        <p:nvSpPr>
          <p:cNvPr id="1048672" name="文本占位符 11"/>
          <p:cNvSpPr>
            <a:spLocks noGrp="1"/>
          </p:cNvSpPr>
          <p:nvPr>
            <p:ph type="body" sz="quarter" idx="13" hasCustomPrompt="1"/>
          </p:nvPr>
        </p:nvSpPr>
        <p:spPr>
          <a:xfrm>
            <a:off x="891685" y="3558904"/>
            <a:ext cx="6342492" cy="424732"/>
          </a:xfrm>
          <a:prstGeom prst="rect">
            <a:avLst/>
          </a:prstGeom>
          <a:noFill/>
        </p:spPr>
        <p:txBody>
          <a:bodyPr wrap="square" rtlCol="0">
            <a:spAutoFit/>
          </a:bodyPr>
          <a:lstStyle>
            <a:lvl1pPr marL="0" indent="0" algn="l">
              <a:buNone/>
              <a:defRPr lang="zh-CN" altLang="en-US" sz="2400" spc="300" baseline="0" dirty="0">
                <a:solidFill>
                  <a:schemeClr val="tx1">
                    <a:lumMod val="50000"/>
                    <a:lumOff val="50000"/>
                  </a:schemeClr>
                </a:solidFill>
                <a:effectLst/>
              </a:defRPr>
            </a:lvl1pPr>
          </a:lstStyle>
          <a:p>
            <a:pPr marL="0" lvl="0" algn="dist"/>
            <a:r>
              <a:rPr lang="en-US" altLang="zh-CN" dirty="0"/>
              <a:t>TITLE OF PRESENTATION GOES HERE</a:t>
            </a:r>
            <a:endParaRPr lang="zh-CN" altLang="en-US" dirty="0"/>
          </a:p>
        </p:txBody>
      </p:sp>
      <p:sp>
        <p:nvSpPr>
          <p:cNvPr id="1048673" name="文本占位符 11"/>
          <p:cNvSpPr>
            <a:spLocks noGrp="1"/>
          </p:cNvSpPr>
          <p:nvPr>
            <p:ph type="body" sz="quarter" idx="14" hasCustomPrompt="1"/>
          </p:nvPr>
        </p:nvSpPr>
        <p:spPr>
          <a:xfrm>
            <a:off x="960870" y="4567178"/>
            <a:ext cx="2764378" cy="313932"/>
          </a:xfrm>
          <a:prstGeom prst="rect">
            <a:avLst/>
          </a:prstGeom>
          <a:noFill/>
        </p:spPr>
        <p:txBody>
          <a:bodyPr wrap="square" rtlCol="0">
            <a:spAutoFit/>
          </a:bodyPr>
          <a:lstStyle>
            <a:lvl1pPr marL="0" indent="0" algn="dist">
              <a:buNone/>
              <a:defRPr lang="zh-CN" altLang="en-US" sz="1600" dirty="0">
                <a:solidFill>
                  <a:schemeClr val="tx1">
                    <a:lumMod val="50000"/>
                    <a:lumOff val="50000"/>
                  </a:schemeClr>
                </a:solidFill>
                <a:effectLst/>
                <a:latin typeface="思源黑体 CN Normal" panose="020B0400000000000000" pitchFamily="34" charset="-122"/>
                <a:ea typeface="思源黑体 CN Normal" panose="020B0400000000000000" pitchFamily="34" charset="-122"/>
              </a:defRPr>
            </a:lvl1pPr>
          </a:lstStyle>
          <a:p>
            <a:pPr marL="0" lvl="0" algn="dist"/>
            <a:r>
              <a:rPr lang="zh-CN" altLang="en-US" dirty="0"/>
              <a:t>南京大学</a:t>
            </a:r>
            <a:r>
              <a:rPr lang="en-US" altLang="zh-CN" dirty="0"/>
              <a:t>XX</a:t>
            </a:r>
            <a:r>
              <a:rPr lang="zh-CN" altLang="en-US" dirty="0"/>
              <a:t>学院 姓名</a:t>
            </a:r>
            <a:endParaRPr lang="zh-CN" altLang="en-US" dirty="0"/>
          </a:p>
        </p:txBody>
      </p:sp>
      <p:pic>
        <p:nvPicPr>
          <p:cNvPr id="2097166" name="图片 41" descr="图片包含 名片, 文字&#10;&#10;描述已自动生成"/>
          <p:cNvPicPr>
            <a:picLocks noChangeAspect="1"/>
          </p:cNvPicPr>
          <p:nvPr userDrawn="1"/>
        </p:nvPicPr>
        <p:blipFill rotWithShape="1">
          <a:blip r:embed="rId4">
            <a:alphaModFix amt="35000"/>
          </a:blip>
          <a:srcRect l="3302" t="47518" r="13479" b="31213"/>
          <a:stretch>
            <a:fillRect/>
          </a:stretch>
        </p:blipFill>
        <p:spPr>
          <a:xfrm>
            <a:off x="-319278" y="6899714"/>
            <a:ext cx="13548360" cy="1922637"/>
          </a:xfrm>
          <a:prstGeom prst="rect">
            <a:avLst/>
          </a:prstGeom>
        </p:spPr>
      </p:pic>
      <p:sp>
        <p:nvSpPr>
          <p:cNvPr id="1048674" name="日期占位符 1050"/>
          <p:cNvSpPr txBox="1"/>
          <p:nvPr userDrawn="1"/>
        </p:nvSpPr>
        <p:spPr>
          <a:xfrm>
            <a:off x="973395" y="4921872"/>
            <a:ext cx="1542497"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fld id="{42D7D00D-E433-4875-A481-385606666357}" type="datetime2">
              <a:rPr lang="zh-CN" altLang="en-US" sz="1400" b="0" smtClean="0">
                <a:solidFill>
                  <a:srgbClr val="850063"/>
                </a:solidFill>
                <a:latin typeface="思源黑体 CN Normal" panose="020B0400000000000000" pitchFamily="34" charset="-122"/>
                <a:ea typeface="思源黑体 CN Normal" panose="020B0400000000000000" pitchFamily="34" charset="-122"/>
              </a:rPr>
            </a:fld>
            <a:endParaRPr lang="zh-CN" altLang="en-US" b="0" dirty="0">
              <a:solidFill>
                <a:srgbClr val="850063"/>
              </a:solidFill>
              <a:latin typeface="思源黑体 CN Normal" panose="020B0400000000000000" pitchFamily="34" charset="-122"/>
              <a:ea typeface="思源黑体 CN Normal" panose="020B0400000000000000" pitchFamily="34" charset="-122"/>
            </a:endParaRPr>
          </a:p>
        </p:txBody>
      </p:sp>
      <p:grpSp>
        <p:nvGrpSpPr>
          <p:cNvPr id="73" name="组合 3"/>
          <p:cNvGrpSpPr/>
          <p:nvPr userDrawn="1"/>
        </p:nvGrpSpPr>
        <p:grpSpPr>
          <a:xfrm>
            <a:off x="973395" y="4192345"/>
            <a:ext cx="3501490" cy="170588"/>
            <a:chOff x="4399588" y="4016383"/>
            <a:chExt cx="3352852" cy="86344"/>
          </a:xfrm>
        </p:grpSpPr>
        <p:sp>
          <p:nvSpPr>
            <p:cNvPr id="1048675" name="矩形 24"/>
            <p:cNvSpPr/>
            <p:nvPr userDrawn="1"/>
          </p:nvSpPr>
          <p:spPr>
            <a:xfrm>
              <a:off x="4437740" y="4037958"/>
              <a:ext cx="3314700" cy="45719"/>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097167" name="图片 2"/>
            <p:cNvPicPr>
              <a:picLocks noChangeAspect="1"/>
            </p:cNvPicPr>
            <p:nvPr userDrawn="1"/>
          </p:nvPicPr>
          <p:blipFill>
            <a:blip r:embed="rId5"/>
            <a:stretch>
              <a:fillRect/>
            </a:stretch>
          </p:blipFill>
          <p:spPr>
            <a:xfrm>
              <a:off x="4399588" y="4016383"/>
              <a:ext cx="3315600" cy="86344"/>
            </a:xfrm>
            <a:prstGeom prst="rect">
              <a:avLst/>
            </a:prstGeom>
          </p:spPr>
        </p:pic>
      </p:grpSp>
      <p:sp>
        <p:nvSpPr>
          <p:cNvPr id="1048676" name="箭头: V 形 7"/>
          <p:cNvSpPr/>
          <p:nvPr userDrawn="1"/>
        </p:nvSpPr>
        <p:spPr>
          <a:xfrm flipH="1">
            <a:off x="8120914" y="654814"/>
            <a:ext cx="3287008" cy="5713776"/>
          </a:xfrm>
          <a:prstGeom prst="chevron">
            <a:avLst>
              <a:gd name="adj" fmla="val 9113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677" name="任意多边形: 形状 57"/>
          <p:cNvSpPr/>
          <p:nvPr userDrawn="1"/>
        </p:nvSpPr>
        <p:spPr>
          <a:xfrm flipH="1">
            <a:off x="8839509" y="654061"/>
            <a:ext cx="3353334" cy="5773942"/>
          </a:xfrm>
          <a:custGeom>
            <a:avLst/>
            <a:gdLst>
              <a:gd name="connsiteX0" fmla="*/ 328671 w 3353334"/>
              <a:gd name="connsiteY0" fmla="*/ 0 h 5553796"/>
              <a:gd name="connsiteX1" fmla="*/ 0 w 3353334"/>
              <a:gd name="connsiteY1" fmla="*/ 0 h 5553796"/>
              <a:gd name="connsiteX2" fmla="*/ 0 w 3353334"/>
              <a:gd name="connsiteY2" fmla="*/ 323408 h 5553796"/>
              <a:gd name="connsiteX3" fmla="*/ 2711050 w 3353334"/>
              <a:gd name="connsiteY3" fmla="*/ 2804115 h 5553796"/>
              <a:gd name="connsiteX4" fmla="*/ 0 w 3353334"/>
              <a:gd name="connsiteY4" fmla="*/ 5284821 h 5553796"/>
              <a:gd name="connsiteX5" fmla="*/ 0 w 3353334"/>
              <a:gd name="connsiteY5" fmla="*/ 5553796 h 5553796"/>
              <a:gd name="connsiteX6" fmla="*/ 308508 w 3353334"/>
              <a:gd name="connsiteY6" fmla="*/ 5553796 h 5553796"/>
              <a:gd name="connsiteX7" fmla="*/ 3353334 w 3353334"/>
              <a:gd name="connsiteY7" fmla="*/ 2767674 h 5553796"/>
              <a:gd name="connsiteX8" fmla="*/ 328671 w 3353334"/>
              <a:gd name="connsiteY8" fmla="*/ 0 h 555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3334" h="5553796">
                <a:moveTo>
                  <a:pt x="328671" y="0"/>
                </a:moveTo>
                <a:lnTo>
                  <a:pt x="0" y="0"/>
                </a:lnTo>
                <a:lnTo>
                  <a:pt x="0" y="323408"/>
                </a:lnTo>
                <a:lnTo>
                  <a:pt x="2711050" y="2804115"/>
                </a:lnTo>
                <a:lnTo>
                  <a:pt x="0" y="5284821"/>
                </a:lnTo>
                <a:lnTo>
                  <a:pt x="0" y="5553796"/>
                </a:lnTo>
                <a:lnTo>
                  <a:pt x="308508" y="5553796"/>
                </a:lnTo>
                <a:lnTo>
                  <a:pt x="3353334" y="2767674"/>
                </a:lnTo>
                <a:lnTo>
                  <a:pt x="328671" y="0"/>
                </a:lnTo>
                <a:close/>
              </a:path>
            </a:pathLst>
          </a:custGeom>
          <a:solidFill>
            <a:srgbClr val="990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678" name="任意多边形: 形状 51"/>
          <p:cNvSpPr/>
          <p:nvPr userDrawn="1"/>
        </p:nvSpPr>
        <p:spPr>
          <a:xfrm flipH="1">
            <a:off x="10064423" y="1526756"/>
            <a:ext cx="2127575" cy="4047951"/>
          </a:xfrm>
          <a:custGeom>
            <a:avLst/>
            <a:gdLst>
              <a:gd name="connsiteX0" fmla="*/ 0 w 2021800"/>
              <a:gd name="connsiteY0" fmla="*/ 0 h 3700037"/>
              <a:gd name="connsiteX1" fmla="*/ 0 w 2021800"/>
              <a:gd name="connsiteY1" fmla="*/ 3700037 h 3700037"/>
              <a:gd name="connsiteX2" fmla="*/ 2021800 w 2021800"/>
              <a:gd name="connsiteY2" fmla="*/ 1850019 h 3700037"/>
              <a:gd name="connsiteX3" fmla="*/ 0 w 2021800"/>
              <a:gd name="connsiteY3" fmla="*/ 0 h 3700037"/>
            </a:gdLst>
            <a:ahLst/>
            <a:cxnLst>
              <a:cxn ang="0">
                <a:pos x="connsiteX0" y="connsiteY0"/>
              </a:cxn>
              <a:cxn ang="0">
                <a:pos x="connsiteX1" y="connsiteY1"/>
              </a:cxn>
              <a:cxn ang="0">
                <a:pos x="connsiteX2" y="connsiteY2"/>
              </a:cxn>
              <a:cxn ang="0">
                <a:pos x="connsiteX3" y="connsiteY3"/>
              </a:cxn>
            </a:cxnLst>
            <a:rect l="l" t="t" r="r" b="b"/>
            <a:pathLst>
              <a:path w="2021800" h="3700037">
                <a:moveTo>
                  <a:pt x="0" y="0"/>
                </a:moveTo>
                <a:lnTo>
                  <a:pt x="0" y="3700037"/>
                </a:lnTo>
                <a:lnTo>
                  <a:pt x="2021800" y="1850019"/>
                </a:lnTo>
                <a:lnTo>
                  <a:pt x="0" y="0"/>
                </a:lnTo>
                <a:close/>
              </a:path>
            </a:pathLst>
          </a:cu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nvGrpSpPr>
          <p:cNvPr id="74" name="组合 20"/>
          <p:cNvGrpSpPr/>
          <p:nvPr userDrawn="1"/>
        </p:nvGrpSpPr>
        <p:grpSpPr>
          <a:xfrm>
            <a:off x="10659351" y="3264062"/>
            <a:ext cx="1392692" cy="491924"/>
            <a:chOff x="714375" y="1419225"/>
            <a:chExt cx="11134427" cy="2133600"/>
          </a:xfrm>
        </p:grpSpPr>
        <p:cxnSp>
          <p:nvCxnSpPr>
            <p:cNvPr id="3145731" name="直接连接符 21"/>
            <p:cNvCxnSpPr/>
            <p:nvPr/>
          </p:nvCxnSpPr>
          <p:spPr>
            <a:xfrm flipH="1">
              <a:off x="3010201" y="3171825"/>
              <a:ext cx="275931" cy="371475"/>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32" name="直接连接符 27"/>
            <p:cNvCxnSpPr/>
            <p:nvPr/>
          </p:nvCxnSpPr>
          <p:spPr>
            <a:xfrm>
              <a:off x="9296402" y="3171225"/>
              <a:ext cx="266400" cy="38160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33" name="直接连接符 28"/>
            <p:cNvCxnSpPr/>
            <p:nvPr/>
          </p:nvCxnSpPr>
          <p:spPr>
            <a:xfrm>
              <a:off x="3276600" y="3171825"/>
              <a:ext cx="2305050" cy="0"/>
            </a:xfrm>
            <a:prstGeom prst="line">
              <a:avLst/>
            </a:prstGeom>
            <a:ln w="349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34" name="直接连接符 29"/>
            <p:cNvCxnSpPr/>
            <p:nvPr/>
          </p:nvCxnSpPr>
          <p:spPr>
            <a:xfrm>
              <a:off x="6991352" y="3171225"/>
              <a:ext cx="2305050" cy="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35" name="直接连接符 30"/>
            <p:cNvCxnSpPr/>
            <p:nvPr/>
          </p:nvCxnSpPr>
          <p:spPr>
            <a:xfrm>
              <a:off x="5581650" y="2095500"/>
              <a:ext cx="0" cy="1114425"/>
            </a:xfrm>
            <a:prstGeom prst="line">
              <a:avLst/>
            </a:prstGeom>
            <a:ln w="349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36" name="直接连接符 31"/>
            <p:cNvCxnSpPr/>
            <p:nvPr/>
          </p:nvCxnSpPr>
          <p:spPr>
            <a:xfrm>
              <a:off x="6962777" y="2085975"/>
              <a:ext cx="0" cy="1114425"/>
            </a:xfrm>
            <a:prstGeom prst="line">
              <a:avLst/>
            </a:prstGeom>
            <a:ln w="349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37" name="直接连接符 32"/>
            <p:cNvCxnSpPr/>
            <p:nvPr/>
          </p:nvCxnSpPr>
          <p:spPr>
            <a:xfrm flipH="1">
              <a:off x="6962777" y="1752600"/>
              <a:ext cx="123823" cy="39945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38" name="直接连接符 33"/>
            <p:cNvCxnSpPr/>
            <p:nvPr/>
          </p:nvCxnSpPr>
          <p:spPr>
            <a:xfrm>
              <a:off x="5457828" y="1752600"/>
              <a:ext cx="123822" cy="39945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39" name="直接连接符 34"/>
            <p:cNvCxnSpPr/>
            <p:nvPr/>
          </p:nvCxnSpPr>
          <p:spPr>
            <a:xfrm>
              <a:off x="5457828" y="1752600"/>
              <a:ext cx="380997" cy="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40" name="直接连接符 35"/>
            <p:cNvCxnSpPr/>
            <p:nvPr/>
          </p:nvCxnSpPr>
          <p:spPr>
            <a:xfrm>
              <a:off x="6734180" y="1752600"/>
              <a:ext cx="380997" cy="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41" name="直接连接符 36"/>
            <p:cNvCxnSpPr/>
            <p:nvPr/>
          </p:nvCxnSpPr>
          <p:spPr>
            <a:xfrm flipV="1">
              <a:off x="5909620" y="1419228"/>
              <a:ext cx="386837" cy="333373"/>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42" name="直接连接符 37"/>
            <p:cNvCxnSpPr/>
            <p:nvPr/>
          </p:nvCxnSpPr>
          <p:spPr>
            <a:xfrm>
              <a:off x="6276544" y="1419225"/>
              <a:ext cx="429060" cy="333373"/>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43" name="直接连接符 38"/>
            <p:cNvCxnSpPr/>
            <p:nvPr/>
          </p:nvCxnSpPr>
          <p:spPr>
            <a:xfrm>
              <a:off x="714375" y="3542008"/>
              <a:ext cx="2305052" cy="0"/>
            </a:xfrm>
            <a:prstGeom prst="line">
              <a:avLst/>
            </a:prstGeom>
            <a:ln w="34925">
              <a:gradFill>
                <a:gsLst>
                  <a:gs pos="0">
                    <a:srgbClr val="850063"/>
                  </a:gs>
                  <a:gs pos="100000">
                    <a:srgbClr val="850063">
                      <a:alpha val="0"/>
                    </a:srgbClr>
                  </a:gs>
                </a:gsLst>
                <a:lin ang="10800000" scaled="0"/>
              </a:gradFill>
            </a:ln>
          </p:spPr>
          <p:style>
            <a:lnRef idx="1">
              <a:schemeClr val="accent1"/>
            </a:lnRef>
            <a:fillRef idx="0">
              <a:schemeClr val="accent1"/>
            </a:fillRef>
            <a:effectRef idx="0">
              <a:schemeClr val="accent1"/>
            </a:effectRef>
            <a:fontRef idx="minor">
              <a:schemeClr val="tx1"/>
            </a:fontRef>
          </p:style>
        </p:cxnSp>
        <p:cxnSp>
          <p:nvCxnSpPr>
            <p:cNvPr id="3145744" name="直接连接符 39"/>
            <p:cNvCxnSpPr/>
            <p:nvPr/>
          </p:nvCxnSpPr>
          <p:spPr>
            <a:xfrm>
              <a:off x="9543752" y="3543300"/>
              <a:ext cx="2305050" cy="0"/>
            </a:xfrm>
            <a:prstGeom prst="line">
              <a:avLst/>
            </a:prstGeom>
            <a:ln w="34925">
              <a:gradFill>
                <a:gsLst>
                  <a:gs pos="0">
                    <a:srgbClr val="850063"/>
                  </a:gs>
                  <a:gs pos="100000">
                    <a:srgbClr val="850063">
                      <a:alpha val="0"/>
                    </a:srgbClr>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048679" name="平行四边形 46"/>
          <p:cNvSpPr/>
          <p:nvPr userDrawn="1"/>
        </p:nvSpPr>
        <p:spPr>
          <a:xfrm>
            <a:off x="58550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80" name="平行四边形 69"/>
          <p:cNvSpPr/>
          <p:nvPr userDrawn="1"/>
        </p:nvSpPr>
        <p:spPr>
          <a:xfrm>
            <a:off x="105411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81" name="平行四边形 70"/>
          <p:cNvSpPr/>
          <p:nvPr userDrawn="1"/>
        </p:nvSpPr>
        <p:spPr>
          <a:xfrm>
            <a:off x="152272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82" name="平行四边形 71"/>
          <p:cNvSpPr/>
          <p:nvPr userDrawn="1"/>
        </p:nvSpPr>
        <p:spPr>
          <a:xfrm>
            <a:off x="199133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83" name="平行四边形 72"/>
          <p:cNvSpPr/>
          <p:nvPr userDrawn="1"/>
        </p:nvSpPr>
        <p:spPr>
          <a:xfrm>
            <a:off x="245994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84" name="平行四边形 73"/>
          <p:cNvSpPr/>
          <p:nvPr userDrawn="1"/>
        </p:nvSpPr>
        <p:spPr>
          <a:xfrm>
            <a:off x="292855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85" name="平行四边形 74"/>
          <p:cNvSpPr/>
          <p:nvPr userDrawn="1"/>
        </p:nvSpPr>
        <p:spPr>
          <a:xfrm>
            <a:off x="339716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86" name="平行四边形 75"/>
          <p:cNvSpPr/>
          <p:nvPr userDrawn="1"/>
        </p:nvSpPr>
        <p:spPr>
          <a:xfrm>
            <a:off x="386577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87" name="平行四边形 76"/>
          <p:cNvSpPr/>
          <p:nvPr userDrawn="1"/>
        </p:nvSpPr>
        <p:spPr>
          <a:xfrm>
            <a:off x="433438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88" name="平行四边形 77"/>
          <p:cNvSpPr/>
          <p:nvPr userDrawn="1"/>
        </p:nvSpPr>
        <p:spPr>
          <a:xfrm>
            <a:off x="480299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89" name="平行四边形 78"/>
          <p:cNvSpPr/>
          <p:nvPr userDrawn="1"/>
        </p:nvSpPr>
        <p:spPr>
          <a:xfrm>
            <a:off x="527160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90" name="平行四边形 79"/>
          <p:cNvSpPr/>
          <p:nvPr userDrawn="1"/>
        </p:nvSpPr>
        <p:spPr>
          <a:xfrm>
            <a:off x="574021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91" name="平行四边形 80"/>
          <p:cNvSpPr/>
          <p:nvPr userDrawn="1"/>
        </p:nvSpPr>
        <p:spPr>
          <a:xfrm>
            <a:off x="620882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92" name="平行四边形 81"/>
          <p:cNvSpPr/>
          <p:nvPr userDrawn="1"/>
        </p:nvSpPr>
        <p:spPr>
          <a:xfrm>
            <a:off x="667743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93" name="平行四边形 82"/>
          <p:cNvSpPr/>
          <p:nvPr userDrawn="1"/>
        </p:nvSpPr>
        <p:spPr>
          <a:xfrm>
            <a:off x="714604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94" name="平行四边形 83"/>
          <p:cNvSpPr/>
          <p:nvPr userDrawn="1"/>
        </p:nvSpPr>
        <p:spPr>
          <a:xfrm>
            <a:off x="761465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95" name="平行四边形 84"/>
          <p:cNvSpPr/>
          <p:nvPr userDrawn="1"/>
        </p:nvSpPr>
        <p:spPr>
          <a:xfrm>
            <a:off x="808326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96" name="平行四边形 85"/>
          <p:cNvSpPr/>
          <p:nvPr userDrawn="1"/>
        </p:nvSpPr>
        <p:spPr>
          <a:xfrm>
            <a:off x="855187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97" name="平行四边形 86"/>
          <p:cNvSpPr/>
          <p:nvPr userDrawn="1"/>
        </p:nvSpPr>
        <p:spPr>
          <a:xfrm>
            <a:off x="902048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98" name="平行四边形 87"/>
          <p:cNvSpPr/>
          <p:nvPr userDrawn="1"/>
        </p:nvSpPr>
        <p:spPr>
          <a:xfrm>
            <a:off x="948909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99" name="平行四边形 88"/>
          <p:cNvSpPr/>
          <p:nvPr userDrawn="1"/>
        </p:nvSpPr>
        <p:spPr>
          <a:xfrm>
            <a:off x="995770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00" name="平行四边形 89"/>
          <p:cNvSpPr/>
          <p:nvPr userDrawn="1"/>
        </p:nvSpPr>
        <p:spPr>
          <a:xfrm>
            <a:off x="10426310" y="-260831"/>
            <a:ext cx="837869" cy="611238"/>
          </a:xfrm>
          <a:prstGeom prst="parallelogram">
            <a:avLst>
              <a:gd name="adj" fmla="val 103724"/>
            </a:avLst>
          </a:prstGeom>
          <a:solidFill>
            <a:srgbClr val="99097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01" name="平行四边形 90"/>
          <p:cNvSpPr/>
          <p:nvPr userDrawn="1"/>
        </p:nvSpPr>
        <p:spPr>
          <a:xfrm>
            <a:off x="10932244"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02" name="平行四边形 93"/>
          <p:cNvSpPr/>
          <p:nvPr userDrawn="1"/>
        </p:nvSpPr>
        <p:spPr>
          <a:xfrm>
            <a:off x="-267918" y="-27305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03" name="平行四边形 94"/>
          <p:cNvSpPr/>
          <p:nvPr userDrawn="1"/>
        </p:nvSpPr>
        <p:spPr>
          <a:xfrm>
            <a:off x="200692" y="-27305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04" name="平行四边形 95"/>
          <p:cNvSpPr/>
          <p:nvPr userDrawn="1"/>
        </p:nvSpPr>
        <p:spPr>
          <a:xfrm>
            <a:off x="11122757" y="-52485"/>
            <a:ext cx="988980" cy="710588"/>
          </a:xfrm>
          <a:prstGeom prst="parallelogram">
            <a:avLst>
              <a:gd name="adj" fmla="val 98322"/>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05" name="平行四边形 96"/>
          <p:cNvSpPr/>
          <p:nvPr userDrawn="1"/>
        </p:nvSpPr>
        <p:spPr>
          <a:xfrm rot="10800000" flipH="1">
            <a:off x="36297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06" name="平行四边形 97"/>
          <p:cNvSpPr/>
          <p:nvPr userDrawn="1"/>
        </p:nvSpPr>
        <p:spPr>
          <a:xfrm rot="10800000" flipH="1">
            <a:off x="83158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07" name="平行四边形 98"/>
          <p:cNvSpPr/>
          <p:nvPr userDrawn="1"/>
        </p:nvSpPr>
        <p:spPr>
          <a:xfrm rot="10800000" flipH="1">
            <a:off x="130019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08" name="平行四边形 99"/>
          <p:cNvSpPr/>
          <p:nvPr userDrawn="1"/>
        </p:nvSpPr>
        <p:spPr>
          <a:xfrm rot="10800000" flipH="1">
            <a:off x="176880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09" name="平行四边形 100"/>
          <p:cNvSpPr/>
          <p:nvPr userDrawn="1"/>
        </p:nvSpPr>
        <p:spPr>
          <a:xfrm rot="10800000" flipH="1">
            <a:off x="223741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10" name="平行四边形 101"/>
          <p:cNvSpPr/>
          <p:nvPr userDrawn="1"/>
        </p:nvSpPr>
        <p:spPr>
          <a:xfrm rot="10800000" flipH="1">
            <a:off x="270602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11" name="平行四边形 102"/>
          <p:cNvSpPr/>
          <p:nvPr userDrawn="1"/>
        </p:nvSpPr>
        <p:spPr>
          <a:xfrm rot="10800000" flipH="1">
            <a:off x="317463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12" name="平行四边形 103"/>
          <p:cNvSpPr/>
          <p:nvPr userDrawn="1"/>
        </p:nvSpPr>
        <p:spPr>
          <a:xfrm rot="10800000" flipH="1">
            <a:off x="364324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13" name="平行四边形 104"/>
          <p:cNvSpPr/>
          <p:nvPr userDrawn="1"/>
        </p:nvSpPr>
        <p:spPr>
          <a:xfrm rot="10800000" flipH="1">
            <a:off x="411185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14" name="平行四边形 105"/>
          <p:cNvSpPr/>
          <p:nvPr userDrawn="1"/>
        </p:nvSpPr>
        <p:spPr>
          <a:xfrm rot="10800000" flipH="1">
            <a:off x="458046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15" name="平行四边形 106"/>
          <p:cNvSpPr/>
          <p:nvPr userDrawn="1"/>
        </p:nvSpPr>
        <p:spPr>
          <a:xfrm rot="10800000" flipH="1">
            <a:off x="504907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16" name="平行四边形 107"/>
          <p:cNvSpPr/>
          <p:nvPr userDrawn="1"/>
        </p:nvSpPr>
        <p:spPr>
          <a:xfrm rot="10800000" flipH="1">
            <a:off x="551768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17" name="平行四边形 108"/>
          <p:cNvSpPr/>
          <p:nvPr userDrawn="1"/>
        </p:nvSpPr>
        <p:spPr>
          <a:xfrm rot="10800000" flipH="1">
            <a:off x="598629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18" name="平行四边形 109"/>
          <p:cNvSpPr/>
          <p:nvPr userDrawn="1"/>
        </p:nvSpPr>
        <p:spPr>
          <a:xfrm rot="10800000" flipH="1">
            <a:off x="645490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19" name="平行四边形 110"/>
          <p:cNvSpPr/>
          <p:nvPr userDrawn="1"/>
        </p:nvSpPr>
        <p:spPr>
          <a:xfrm rot="10800000" flipH="1">
            <a:off x="692351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20" name="平行四边形 111"/>
          <p:cNvSpPr/>
          <p:nvPr userDrawn="1"/>
        </p:nvSpPr>
        <p:spPr>
          <a:xfrm rot="10800000" flipH="1">
            <a:off x="739212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21" name="平行四边形 112"/>
          <p:cNvSpPr/>
          <p:nvPr userDrawn="1"/>
        </p:nvSpPr>
        <p:spPr>
          <a:xfrm rot="10800000" flipH="1">
            <a:off x="786073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22" name="平行四边形 113"/>
          <p:cNvSpPr/>
          <p:nvPr userDrawn="1"/>
        </p:nvSpPr>
        <p:spPr>
          <a:xfrm rot="10800000" flipH="1">
            <a:off x="832934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23" name="平行四边形 114"/>
          <p:cNvSpPr/>
          <p:nvPr userDrawn="1"/>
        </p:nvSpPr>
        <p:spPr>
          <a:xfrm rot="10800000" flipH="1">
            <a:off x="879795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24" name="平行四边形 115"/>
          <p:cNvSpPr/>
          <p:nvPr userDrawn="1"/>
        </p:nvSpPr>
        <p:spPr>
          <a:xfrm rot="10800000" flipH="1">
            <a:off x="926656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25" name="平行四边形 116"/>
          <p:cNvSpPr/>
          <p:nvPr userDrawn="1"/>
        </p:nvSpPr>
        <p:spPr>
          <a:xfrm rot="10800000" flipH="1">
            <a:off x="973517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26" name="平行四边形 117"/>
          <p:cNvSpPr/>
          <p:nvPr userDrawn="1"/>
        </p:nvSpPr>
        <p:spPr>
          <a:xfrm rot="10800000" flipH="1">
            <a:off x="10203782" y="6391928"/>
            <a:ext cx="837869" cy="611238"/>
          </a:xfrm>
          <a:prstGeom prst="parallelogram">
            <a:avLst>
              <a:gd name="adj" fmla="val 103724"/>
            </a:avLst>
          </a:prstGeom>
          <a:solidFill>
            <a:srgbClr val="99097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27" name="平行四边形 118"/>
          <p:cNvSpPr/>
          <p:nvPr userDrawn="1"/>
        </p:nvSpPr>
        <p:spPr>
          <a:xfrm rot="10800000" flipH="1">
            <a:off x="10691956" y="6380516"/>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28" name="平行四边形 119"/>
          <p:cNvSpPr/>
          <p:nvPr userDrawn="1"/>
        </p:nvSpPr>
        <p:spPr>
          <a:xfrm rot="10800000" flipH="1">
            <a:off x="-490446" y="637970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29" name="平行四边形 120"/>
          <p:cNvSpPr/>
          <p:nvPr userDrawn="1"/>
        </p:nvSpPr>
        <p:spPr>
          <a:xfrm rot="10800000" flipH="1">
            <a:off x="-21836" y="637970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30" name="平行四边形 121"/>
          <p:cNvSpPr/>
          <p:nvPr userDrawn="1"/>
        </p:nvSpPr>
        <p:spPr>
          <a:xfrm rot="10800000" flipH="1">
            <a:off x="11122757" y="6362593"/>
            <a:ext cx="988980" cy="710588"/>
          </a:xfrm>
          <a:prstGeom prst="parallelogram">
            <a:avLst>
              <a:gd name="adj" fmla="val 98322"/>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31" name="平行四边形 122"/>
          <p:cNvSpPr/>
          <p:nvPr userDrawn="1"/>
        </p:nvSpPr>
        <p:spPr>
          <a:xfrm>
            <a:off x="11355067" y="-51407"/>
            <a:ext cx="1856102" cy="1224334"/>
          </a:xfrm>
          <a:prstGeom prst="parallelogram">
            <a:avLst>
              <a:gd name="adj" fmla="val 98322"/>
            </a:avLst>
          </a:prstGeom>
          <a:solidFill>
            <a:srgbClr val="99097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32" name="平行四边形 123"/>
          <p:cNvSpPr/>
          <p:nvPr userDrawn="1"/>
        </p:nvSpPr>
        <p:spPr>
          <a:xfrm flipH="1">
            <a:off x="11507273" y="6046418"/>
            <a:ext cx="1615788" cy="1059625"/>
          </a:xfrm>
          <a:prstGeom prst="parallelogram">
            <a:avLst>
              <a:gd name="adj" fmla="val 98322"/>
            </a:avLst>
          </a:prstGeom>
          <a:solidFill>
            <a:srgbClr val="99097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33" name="矩形 5"/>
          <p:cNvSpPr/>
          <p:nvPr userDrawn="1"/>
        </p:nvSpPr>
        <p:spPr>
          <a:xfrm>
            <a:off x="-3174" y="345225"/>
            <a:ext cx="10879187" cy="265426"/>
          </a:xfrm>
          <a:prstGeom prst="rect">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34" name="等腰三角形 8"/>
          <p:cNvSpPr/>
          <p:nvPr userDrawn="1"/>
        </p:nvSpPr>
        <p:spPr>
          <a:xfrm rot="5400000" flipH="1">
            <a:off x="10878985" y="342125"/>
            <a:ext cx="269445" cy="267605"/>
          </a:xfrm>
          <a:prstGeom prst="triangle">
            <a:avLst>
              <a:gd name="adj" fmla="val 100000"/>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48671"/>
                                        </p:tgtEl>
                                        <p:attrNameLst>
                                          <p:attrName>style.visibility</p:attrName>
                                        </p:attrNameLst>
                                      </p:cBhvr>
                                      <p:to>
                                        <p:strVal val="visible"/>
                                      </p:to>
                                    </p:set>
                                    <p:animEffect transition="in" filter="fade">
                                      <p:cBhvr>
                                        <p:cTn id="7" dur="300"/>
                                        <p:tgtEl>
                                          <p:spTgt spid="1048671"/>
                                        </p:tgtEl>
                                      </p:cBhvr>
                                    </p:animEffect>
                                  </p:childTnLst>
                                </p:cTn>
                              </p:par>
                              <p:par>
                                <p:cTn id="8" presetID="63" presetClass="path" presetSubtype="0" accel="50000" decel="50000" fill="hold" grpId="1" nodeType="withEffect">
                                  <p:stCondLst>
                                    <p:cond delay="0"/>
                                  </p:stCondLst>
                                  <p:childTnLst>
                                    <p:animMotion origin="layout" path="M -0.05559 -0.00023 L -4.375E-6 2.59259E-6 " pathEditMode="relative" rAng="0" ptsTypes="AA">
                                      <p:cBhvr>
                                        <p:cTn id="9" dur="300" fill="hold"/>
                                        <p:tgtEl>
                                          <p:spTgt spid="1048671"/>
                                        </p:tgtEl>
                                        <p:attrNameLst>
                                          <p:attrName>ppt_x</p:attrName>
                                          <p:attrName>ppt_y</p:attrName>
                                        </p:attrNameLst>
                                      </p:cBhvr>
                                      <p:rCtr x="2773" y="0"/>
                                    </p:animMotion>
                                  </p:childTnLst>
                                </p:cTn>
                              </p:par>
                              <p:par>
                                <p:cTn id="10" presetID="10" presetClass="entr" presetSubtype="0" fill="hold" grpId="0" nodeType="withEffect">
                                  <p:stCondLst>
                                    <p:cond delay="100"/>
                                  </p:stCondLst>
                                  <p:childTnLst>
                                    <p:set>
                                      <p:cBhvr>
                                        <p:cTn id="11" dur="1" fill="hold">
                                          <p:stCondLst>
                                            <p:cond delay="0"/>
                                          </p:stCondLst>
                                        </p:cTn>
                                        <p:tgtEl>
                                          <p:spTgt spid="1048672"/>
                                        </p:tgtEl>
                                        <p:attrNameLst>
                                          <p:attrName>style.visibility</p:attrName>
                                        </p:attrNameLst>
                                      </p:cBhvr>
                                      <p:to>
                                        <p:strVal val="visible"/>
                                      </p:to>
                                    </p:set>
                                    <p:animEffect transition="in" filter="fade">
                                      <p:cBhvr>
                                        <p:cTn id="12" dur="300"/>
                                        <p:tgtEl>
                                          <p:spTgt spid="1048672"/>
                                        </p:tgtEl>
                                      </p:cBhvr>
                                    </p:animEffect>
                                  </p:childTnLst>
                                </p:cTn>
                              </p:par>
                              <p:par>
                                <p:cTn id="13" presetID="63" presetClass="path" presetSubtype="0" accel="50000" decel="50000" fill="hold" grpId="1" nodeType="withEffect">
                                  <p:stCondLst>
                                    <p:cond delay="100"/>
                                  </p:stCondLst>
                                  <p:childTnLst>
                                    <p:animMotion origin="layout" path="M -0.0556 -0.00023 L -2.70833E-6 1.48148E-6 " pathEditMode="relative" rAng="0" ptsTypes="AA">
                                      <p:cBhvr>
                                        <p:cTn id="14" dur="300" fill="hold"/>
                                        <p:tgtEl>
                                          <p:spTgt spid="1048672"/>
                                        </p:tgtEl>
                                        <p:attrNameLst>
                                          <p:attrName>ppt_x</p:attrName>
                                          <p:attrName>ppt_y</p:attrName>
                                        </p:attrNameLst>
                                      </p:cBhvr>
                                      <p:rCtr x="2773" y="0"/>
                                    </p:animMotion>
                                  </p:childTnLst>
                                </p:cTn>
                              </p:par>
                              <p:par>
                                <p:cTn id="15" presetID="10" presetClass="entr" presetSubtype="0" fill="hold" grpId="0" nodeType="withEffect">
                                  <p:stCondLst>
                                    <p:cond delay="200"/>
                                  </p:stCondLst>
                                  <p:childTnLst>
                                    <p:set>
                                      <p:cBhvr>
                                        <p:cTn id="16" dur="1" fill="hold">
                                          <p:stCondLst>
                                            <p:cond delay="0"/>
                                          </p:stCondLst>
                                        </p:cTn>
                                        <p:tgtEl>
                                          <p:spTgt spid="1048673"/>
                                        </p:tgtEl>
                                        <p:attrNameLst>
                                          <p:attrName>style.visibility</p:attrName>
                                        </p:attrNameLst>
                                      </p:cBhvr>
                                      <p:to>
                                        <p:strVal val="visible"/>
                                      </p:to>
                                    </p:set>
                                    <p:animEffect transition="in" filter="fade">
                                      <p:cBhvr>
                                        <p:cTn id="17" dur="300"/>
                                        <p:tgtEl>
                                          <p:spTgt spid="1048673"/>
                                        </p:tgtEl>
                                      </p:cBhvr>
                                    </p:animEffect>
                                  </p:childTnLst>
                                </p:cTn>
                              </p:par>
                              <p:par>
                                <p:cTn id="18" presetID="63" presetClass="path" presetSubtype="0" accel="50000" decel="50000" fill="hold" grpId="1" nodeType="withEffect">
                                  <p:stCondLst>
                                    <p:cond delay="200"/>
                                  </p:stCondLst>
                                  <p:childTnLst>
                                    <p:animMotion origin="layout" path="M -0.0556 -0.00023 L 2.5E-6 1.11111E-6 " pathEditMode="relative" rAng="0" ptsTypes="AA">
                                      <p:cBhvr>
                                        <p:cTn id="19" dur="300" fill="hold"/>
                                        <p:tgtEl>
                                          <p:spTgt spid="1048673"/>
                                        </p:tgtEl>
                                        <p:attrNameLst>
                                          <p:attrName>ppt_x</p:attrName>
                                          <p:attrName>ppt_y</p:attrName>
                                        </p:attrNameLst>
                                      </p:cBhvr>
                                      <p:rCtr x="2773" y="0"/>
                                    </p:animMotion>
                                  </p:childTnLst>
                                </p:cTn>
                              </p:par>
                              <p:par>
                                <p:cTn id="20" presetID="10" presetClass="entr" presetSubtype="0" fill="hold" grpId="0" nodeType="withEffect">
                                  <p:stCondLst>
                                    <p:cond delay="400"/>
                                  </p:stCondLst>
                                  <p:childTnLst>
                                    <p:set>
                                      <p:cBhvr>
                                        <p:cTn id="21" dur="1" fill="hold">
                                          <p:stCondLst>
                                            <p:cond delay="0"/>
                                          </p:stCondLst>
                                        </p:cTn>
                                        <p:tgtEl>
                                          <p:spTgt spid="1048674"/>
                                        </p:tgtEl>
                                        <p:attrNameLst>
                                          <p:attrName>style.visibility</p:attrName>
                                        </p:attrNameLst>
                                      </p:cBhvr>
                                      <p:to>
                                        <p:strVal val="visible"/>
                                      </p:to>
                                    </p:set>
                                    <p:animEffect transition="in" filter="fade">
                                      <p:cBhvr>
                                        <p:cTn id="22" dur="300"/>
                                        <p:tgtEl>
                                          <p:spTgt spid="1048674"/>
                                        </p:tgtEl>
                                      </p:cBhvr>
                                    </p:animEffect>
                                  </p:childTnLst>
                                </p:cTn>
                              </p:par>
                              <p:par>
                                <p:cTn id="23" presetID="63" presetClass="path" presetSubtype="0" accel="50000" decel="50000" fill="hold" grpId="1" nodeType="withEffect">
                                  <p:stCondLst>
                                    <p:cond delay="400"/>
                                  </p:stCondLst>
                                  <p:childTnLst>
                                    <p:animMotion origin="layout" path="M -0.0556 -0.00023 L 1.04167E-6 -2.96296E-6 " pathEditMode="relative" rAng="0" ptsTypes="AA">
                                      <p:cBhvr>
                                        <p:cTn id="24" dur="300" fill="hold"/>
                                        <p:tgtEl>
                                          <p:spTgt spid="1048674"/>
                                        </p:tgtEl>
                                        <p:attrNameLst>
                                          <p:attrName>ppt_x</p:attrName>
                                          <p:attrName>ppt_y</p:attrName>
                                        </p:attrNameLst>
                                      </p:cBhvr>
                                      <p:rCtr x="2773" y="0"/>
                                    </p:animMotion>
                                  </p:childTnLst>
                                </p:cTn>
                              </p:par>
                              <p:par>
                                <p:cTn id="25" presetID="10" presetClass="entr" presetSubtype="0" fill="hold" nodeType="withEffect">
                                  <p:stCondLst>
                                    <p:cond delay="500"/>
                                  </p:stCondLst>
                                  <p:childTnLst>
                                    <p:set>
                                      <p:cBhvr>
                                        <p:cTn id="26" dur="1" fill="hold">
                                          <p:stCondLst>
                                            <p:cond delay="0"/>
                                          </p:stCondLst>
                                        </p:cTn>
                                        <p:tgtEl>
                                          <p:spTgt spid="73"/>
                                        </p:tgtEl>
                                        <p:attrNameLst>
                                          <p:attrName>style.visibility</p:attrName>
                                        </p:attrNameLst>
                                      </p:cBhvr>
                                      <p:to>
                                        <p:strVal val="visible"/>
                                      </p:to>
                                    </p:set>
                                    <p:animEffect transition="in" filter="fade">
                                      <p:cBhvr>
                                        <p:cTn id="27" dur="3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71" grpId="0"/>
      <p:bldP spid="1048671" grpId="1"/>
      <p:bldP spid="1048672" grpId="0">
        <p:tmplLst>
          <p:tmpl lvl="0">
            <p:tnLst>
              <p:par>
                <p:cTn presetID="10" presetClass="entr" presetSubtype="0" fill="hold" nodeType="withEffect">
                  <p:stCondLst>
                    <p:cond delay="100"/>
                  </p:stCondLst>
                  <p:childTnLst>
                    <p:set>
                      <p:cBhvr>
                        <p:cTn dur="1" fill="hold">
                          <p:stCondLst>
                            <p:cond delay="0"/>
                          </p:stCondLst>
                        </p:cTn>
                        <p:tgtEl>
                          <p:spTgt spid="1048672"/>
                        </p:tgtEl>
                        <p:attrNameLst>
                          <p:attrName>style.visibility</p:attrName>
                        </p:attrNameLst>
                      </p:cBhvr>
                      <p:to>
                        <p:strVal val="visible"/>
                      </p:to>
                    </p:set>
                    <p:animEffect transition="in" filter="fade">
                      <p:cBhvr>
                        <p:cTn dur="300"/>
                        <p:tgtEl>
                          <p:spTgt spid="1048672"/>
                        </p:tgtEl>
                      </p:cBhvr>
                    </p:animEffect>
                  </p:childTnLst>
                </p:cTn>
              </p:par>
            </p:tnLst>
          </p:tmpl>
        </p:tmplLst>
      </p:bldP>
      <p:bldP spid="1048672" grpId="1">
        <p:tmplLst>
          <p:tmpl lvl="0">
            <p:tnLst>
              <p:par>
                <p:cTn presetID="63" presetClass="path" presetSubtype="0" accel="50000" decel="50000" fill="hold" nodeType="withEffect">
                  <p:stCondLst>
                    <p:cond delay="100"/>
                  </p:stCondLst>
                  <p:childTnLst>
                    <p:animMotion origin="layout" path="M -0.0556 -0.00023 L -2.70833E-6 1.48148E-6 " pathEditMode="relative" rAng="0" ptsTypes="AA">
                      <p:cBhvr>
                        <p:cTn dur="300" fill="hold"/>
                        <p:tgtEl>
                          <p:spTgt spid="1048672"/>
                        </p:tgtEl>
                        <p:attrNameLst>
                          <p:attrName>ppt_x</p:attrName>
                          <p:attrName>ppt_y</p:attrName>
                        </p:attrNameLst>
                      </p:cBhvr>
                      <p:rCtr x="2773" y="0"/>
                    </p:animMotion>
                  </p:childTnLst>
                </p:cTn>
              </p:par>
            </p:tnLst>
          </p:tmpl>
        </p:tmplLst>
      </p:bldP>
      <p:bldP spid="1048673" grpId="0">
        <p:tmplLst>
          <p:tmpl lvl="0">
            <p:tnLst>
              <p:par>
                <p:cTn presetID="10" presetClass="entr" presetSubtype="0" fill="hold" nodeType="withEffect">
                  <p:stCondLst>
                    <p:cond delay="200"/>
                  </p:stCondLst>
                  <p:childTnLst>
                    <p:set>
                      <p:cBhvr>
                        <p:cTn dur="1" fill="hold">
                          <p:stCondLst>
                            <p:cond delay="0"/>
                          </p:stCondLst>
                        </p:cTn>
                        <p:tgtEl>
                          <p:spTgt spid="1048673"/>
                        </p:tgtEl>
                        <p:attrNameLst>
                          <p:attrName>style.visibility</p:attrName>
                        </p:attrNameLst>
                      </p:cBhvr>
                      <p:to>
                        <p:strVal val="visible"/>
                      </p:to>
                    </p:set>
                    <p:animEffect transition="in" filter="fade">
                      <p:cBhvr>
                        <p:cTn dur="300"/>
                        <p:tgtEl>
                          <p:spTgt spid="1048673"/>
                        </p:tgtEl>
                      </p:cBhvr>
                    </p:animEffect>
                  </p:childTnLst>
                </p:cTn>
              </p:par>
            </p:tnLst>
          </p:tmpl>
        </p:tmplLst>
      </p:bldP>
      <p:bldP spid="1048673" grpId="1">
        <p:tmplLst>
          <p:tmpl lvl="0">
            <p:tnLst>
              <p:par>
                <p:cTn presetID="63" presetClass="path" presetSubtype="0" accel="50000" decel="50000" fill="hold" nodeType="withEffect">
                  <p:stCondLst>
                    <p:cond delay="200"/>
                  </p:stCondLst>
                  <p:childTnLst>
                    <p:animMotion origin="layout" path="M -0.0556 -0.00023 L 2.5E-6 1.11111E-6 " pathEditMode="relative" rAng="0" ptsTypes="AA">
                      <p:cBhvr>
                        <p:cTn dur="300" fill="hold"/>
                        <p:tgtEl>
                          <p:spTgt spid="1048673"/>
                        </p:tgtEl>
                        <p:attrNameLst>
                          <p:attrName>ppt_x</p:attrName>
                          <p:attrName>ppt_y</p:attrName>
                        </p:attrNameLst>
                      </p:cBhvr>
                      <p:rCtr x="2773" y="0"/>
                    </p:animMotion>
                  </p:childTnLst>
                </p:cTn>
              </p:par>
            </p:tnLst>
          </p:tmpl>
        </p:tmplLst>
      </p:bldP>
      <p:bldP spid="1048674" grpId="0"/>
      <p:bldP spid="1048674" grpId="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普通内容">
    <p:spTree>
      <p:nvGrpSpPr>
        <p:cNvPr id="27" name=""/>
        <p:cNvGrpSpPr/>
        <p:nvPr/>
      </p:nvGrpSpPr>
      <p:grpSpPr>
        <a:xfrm>
          <a:off x="0" y="0"/>
          <a:ext cx="0" cy="0"/>
          <a:chOff x="0" y="0"/>
          <a:chExt cx="0" cy="0"/>
        </a:xfrm>
      </p:grpSpPr>
      <p:pic>
        <p:nvPicPr>
          <p:cNvPr id="2097152" name="图片 12" descr="图片包含 户外, 树, 天空, 建筑物&#10;&#10;描述已自动生成"/>
          <p:cNvPicPr>
            <a:picLocks noChangeAspect="1"/>
          </p:cNvPicPr>
          <p:nvPr userDrawn="1"/>
        </p:nvPicPr>
        <p:blipFill rotWithShape="1">
          <a:blip r:embed="rId2"/>
          <a:srcRect l="13125" t="4956" r="2202" b="-4956"/>
          <a:stretch>
            <a:fillRect/>
          </a:stretch>
        </p:blipFill>
        <p:spPr>
          <a:xfrm>
            <a:off x="2264" y="346109"/>
            <a:ext cx="12192000" cy="6863116"/>
          </a:xfrm>
          <a:prstGeom prst="rect">
            <a:avLst/>
          </a:prstGeom>
        </p:spPr>
      </p:pic>
      <p:sp>
        <p:nvSpPr>
          <p:cNvPr id="1048581" name="矩形 13"/>
          <p:cNvSpPr/>
          <p:nvPr userDrawn="1"/>
        </p:nvSpPr>
        <p:spPr>
          <a:xfrm>
            <a:off x="-2264" y="47021"/>
            <a:ext cx="12192000" cy="6897644"/>
          </a:xfrm>
          <a:prstGeom prst="rect">
            <a:avLst/>
          </a:prstGeom>
          <a:gradFill flip="none" rotWithShape="1">
            <a:gsLst>
              <a:gs pos="0">
                <a:schemeClr val="bg1"/>
              </a:gs>
              <a:gs pos="33000">
                <a:schemeClr val="bg1">
                  <a:alpha val="97000"/>
                </a:schemeClr>
              </a:gs>
              <a:gs pos="50000">
                <a:schemeClr val="bg1">
                  <a:alpha val="97000"/>
                </a:schemeClr>
              </a:gs>
              <a:gs pos="70000">
                <a:schemeClr val="bg1"/>
              </a:gs>
              <a:gs pos="100000">
                <a:schemeClr val="bg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582" name="平行四边形 7"/>
          <p:cNvSpPr/>
          <p:nvPr userDrawn="1"/>
        </p:nvSpPr>
        <p:spPr>
          <a:xfrm>
            <a:off x="0" y="-30479"/>
            <a:ext cx="12192000" cy="573769"/>
          </a:xfrm>
          <a:prstGeom prst="parallelogram">
            <a:avLst>
              <a:gd name="adj" fmla="val 0"/>
            </a:avLst>
          </a:prstGeom>
          <a:gradFill>
            <a:gsLst>
              <a:gs pos="0">
                <a:srgbClr val="B4009E"/>
              </a:gs>
              <a:gs pos="16000">
                <a:srgbClr val="88136E">
                  <a:alpha val="78000"/>
                </a:srgbClr>
              </a:gs>
              <a:gs pos="77000">
                <a:schemeClr val="accent1"/>
              </a:gs>
              <a:gs pos="99351">
                <a:schemeClr val="accent4">
                  <a:lumMod val="75000"/>
                </a:schemeClr>
              </a:gs>
            </a:gsLst>
            <a:lin ang="8100000" scaled="0"/>
          </a:gradFill>
          <a:ln>
            <a:noFill/>
          </a:ln>
          <a:effectLst>
            <a:outerShdw blurRad="50800" dist="381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097153" name="图片 19"/>
          <p:cNvPicPr>
            <a:picLocks noChangeAspect="1"/>
          </p:cNvPicPr>
          <p:nvPr userDrawn="1"/>
        </p:nvPicPr>
        <p:blipFill rotWithShape="1">
          <a:blip r:embed="rId3">
            <a:alphaModFix amt="35000"/>
          </a:blip>
          <a:srcRect t="44074" b="47560"/>
          <a:stretch>
            <a:fillRect/>
          </a:stretch>
        </p:blipFill>
        <p:spPr>
          <a:xfrm>
            <a:off x="3537879" y="-30480"/>
            <a:ext cx="10125565" cy="573770"/>
          </a:xfrm>
          <a:prstGeom prst="rect">
            <a:avLst/>
          </a:prstGeom>
        </p:spPr>
      </p:pic>
      <p:sp>
        <p:nvSpPr>
          <p:cNvPr id="1048583" name="Oval 143"/>
          <p:cNvSpPr>
            <a:spLocks noChangeAspect="1"/>
          </p:cNvSpPr>
          <p:nvPr userDrawn="1"/>
        </p:nvSpPr>
        <p:spPr bwMode="auto">
          <a:xfrm>
            <a:off x="218106" y="47021"/>
            <a:ext cx="410544" cy="410544"/>
          </a:xfrm>
          <a:prstGeom prst="ellipse">
            <a:avLst/>
          </a:prstGeom>
          <a:solidFill>
            <a:schemeClr val="bg1"/>
          </a:solidFill>
          <a:ln>
            <a:noFill/>
          </a:ln>
          <a:effectLst>
            <a:innerShdw blurRad="63500" dist="50800" dir="13500000">
              <a:schemeClr val="bg1">
                <a:lumMod val="75000"/>
                <a:alpha val="50000"/>
              </a:schemeClr>
            </a:inn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p>
            <a:pPr algn="ctr" defTabSz="932180" fontAlgn="base">
              <a:spcBef>
                <a:spcPct val="0"/>
              </a:spcBef>
              <a:spcAft>
                <a:spcPct val="0"/>
              </a:spcAft>
            </a:pPr>
            <a:endParaRPr lang="en-US" sz="2000" b="1" dirty="0">
              <a:gradFill>
                <a:gsLst>
                  <a:gs pos="0">
                    <a:srgbClr val="FFFFFF"/>
                  </a:gs>
                  <a:gs pos="100000">
                    <a:srgbClr val="FFFFFF"/>
                  </a:gs>
                </a:gsLst>
                <a:lin ang="5400000" scaled="0"/>
              </a:gradFill>
              <a:latin typeface="思源黑体 CN Normal" panose="020B0400000000000000" pitchFamily="34" charset="-122"/>
              <a:ea typeface="思源黑体 CN Normal" panose="020B0400000000000000" pitchFamily="34" charset="-122"/>
              <a:cs typeface="Segoe UI" pitchFamily="34" charset="0"/>
            </a:endParaRPr>
          </a:p>
        </p:txBody>
      </p:sp>
      <p:sp>
        <p:nvSpPr>
          <p:cNvPr id="1048584" name="文本占位符 387"/>
          <p:cNvSpPr>
            <a:spLocks noGrp="1"/>
          </p:cNvSpPr>
          <p:nvPr userDrawn="1">
            <p:ph type="body" sz="quarter" idx="12" hasCustomPrompt="1"/>
          </p:nvPr>
        </p:nvSpPr>
        <p:spPr>
          <a:xfrm>
            <a:off x="218106" y="81066"/>
            <a:ext cx="410545" cy="401955"/>
          </a:xfrm>
          <a:prstGeom prst="rect">
            <a:avLst/>
          </a:prstGeom>
        </p:spPr>
        <p:txBody>
          <a:bodyPr anchor="ctr">
            <a:noAutofit/>
          </a:bodyPr>
          <a:lstStyle>
            <a:lvl1pPr marL="0" indent="0" algn="ctr">
              <a:buNone/>
              <a:defRPr sz="2200" b="1" spc="300">
                <a:solidFill>
                  <a:schemeClr val="accent1"/>
                </a:solidFill>
                <a:latin typeface="思源黑体 CN Bold" panose="020B0800000000000000" pitchFamily="34" charset="-122"/>
                <a:ea typeface="思源黑体 CN Bold" panose="020B0800000000000000" pitchFamily="34" charset="-122"/>
                <a:cs typeface="Segoe UI" pitchFamily="34" charset="0"/>
              </a:defRPr>
            </a:lvl1pPr>
          </a:lstStyle>
          <a:p>
            <a:pPr lvl="0"/>
            <a:r>
              <a:rPr lang="en-US" altLang="zh-CN" dirty="0"/>
              <a:t>0</a:t>
            </a:r>
            <a:endParaRPr lang="zh-CN" altLang="en-US" dirty="0"/>
          </a:p>
        </p:txBody>
      </p:sp>
      <p:sp>
        <p:nvSpPr>
          <p:cNvPr id="1048585" name="文本占位符 387"/>
          <p:cNvSpPr>
            <a:spLocks noGrp="1"/>
          </p:cNvSpPr>
          <p:nvPr userDrawn="1">
            <p:ph type="body" sz="quarter" idx="13" hasCustomPrompt="1"/>
          </p:nvPr>
        </p:nvSpPr>
        <p:spPr>
          <a:xfrm>
            <a:off x="816623" y="76295"/>
            <a:ext cx="3215623" cy="401955"/>
          </a:xfrm>
          <a:prstGeom prst="rect">
            <a:avLst/>
          </a:prstGeom>
        </p:spPr>
        <p:txBody>
          <a:bodyPr>
            <a:noAutofit/>
          </a:bodyPr>
          <a:lstStyle>
            <a:lvl1pPr marL="0" indent="0">
              <a:buNone/>
              <a:defRPr sz="2200" b="1" spc="300">
                <a:solidFill>
                  <a:schemeClr val="bg1"/>
                </a:solidFill>
                <a:latin typeface="思源黑体 CN Bold" panose="020B0800000000000000" pitchFamily="34" charset="-122"/>
                <a:ea typeface="思源黑体 CN Bold" panose="020B0800000000000000" pitchFamily="34" charset="-122"/>
              </a:defRPr>
            </a:lvl1pPr>
          </a:lstStyle>
          <a:p>
            <a:pPr lvl="0"/>
            <a:r>
              <a:rPr lang="zh-CN" altLang="en-US" dirty="0"/>
              <a:t>在此处填写节标题</a:t>
            </a:r>
            <a:endParaRPr lang="zh-CN" altLang="en-US" dirty="0"/>
          </a:p>
        </p:txBody>
      </p:sp>
      <p:pic>
        <p:nvPicPr>
          <p:cNvPr id="2097154" name="图片 24"/>
          <p:cNvPicPr>
            <a:picLocks noChangeAspect="1"/>
          </p:cNvPicPr>
          <p:nvPr userDrawn="1"/>
        </p:nvPicPr>
        <p:blipFill>
          <a:blip r:embed="rId4"/>
          <a:stretch>
            <a:fillRect/>
          </a:stretch>
        </p:blipFill>
        <p:spPr>
          <a:xfrm>
            <a:off x="10971977" y="128612"/>
            <a:ext cx="1025842" cy="319245"/>
          </a:xfrm>
          <a:prstGeom prst="rect">
            <a:avLst/>
          </a:prstGeom>
        </p:spPr>
      </p:pic>
      <p:pic>
        <p:nvPicPr>
          <p:cNvPr id="2097155" name="图片 9"/>
          <p:cNvPicPr>
            <a:picLocks noChangeAspect="1"/>
          </p:cNvPicPr>
          <p:nvPr userDrawn="1"/>
        </p:nvPicPr>
        <p:blipFill>
          <a:blip r:embed="rId5">
            <a:alphaModFix amt="20000"/>
          </a:blip>
          <a:stretch>
            <a:fillRect/>
          </a:stretch>
        </p:blipFill>
        <p:spPr>
          <a:xfrm>
            <a:off x="10825155" y="3431262"/>
            <a:ext cx="2733690" cy="3426738"/>
          </a:xfrm>
          <a:prstGeom prst="rect">
            <a:avLst/>
          </a:prstGeom>
        </p:spPr>
      </p:pic>
      <p:pic>
        <p:nvPicPr>
          <p:cNvPr id="2097156" name="图片 11"/>
          <p:cNvPicPr>
            <a:picLocks noChangeAspect="1"/>
          </p:cNvPicPr>
          <p:nvPr userDrawn="1"/>
        </p:nvPicPr>
        <p:blipFill>
          <a:blip r:embed="rId5">
            <a:alphaModFix amt="20000"/>
          </a:blip>
          <a:stretch>
            <a:fillRect/>
          </a:stretch>
        </p:blipFill>
        <p:spPr>
          <a:xfrm>
            <a:off x="-1366845" y="3431262"/>
            <a:ext cx="2733690" cy="3426738"/>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结束页">
    <p:bg>
      <p:bgPr>
        <a:blipFill dpi="0" rotWithShape="1">
          <a:blip r:embed="rId2">
            <a:alphaModFix amt="14000"/>
            <a:lum/>
          </a:blip>
          <a:srcRect/>
          <a:stretch>
            <a:fillRect l="-9000" r="-9000"/>
          </a:stretch>
        </a:blipFill>
        <a:effectLst/>
      </p:bgPr>
    </p:bg>
    <p:spTree>
      <p:nvGrpSpPr>
        <p:cNvPr id="144" name=""/>
        <p:cNvGrpSpPr/>
        <p:nvPr/>
      </p:nvGrpSpPr>
      <p:grpSpPr>
        <a:xfrm>
          <a:off x="0" y="0"/>
          <a:ext cx="0" cy="0"/>
          <a:chOff x="0" y="0"/>
          <a:chExt cx="0" cy="0"/>
        </a:xfrm>
      </p:grpSpPr>
      <p:sp>
        <p:nvSpPr>
          <p:cNvPr id="1048967" name="任意多边形: 形状 42"/>
          <p:cNvSpPr/>
          <p:nvPr userDrawn="1"/>
        </p:nvSpPr>
        <p:spPr>
          <a:xfrm flipH="1">
            <a:off x="-15485" y="502925"/>
            <a:ext cx="10925582" cy="5841637"/>
          </a:xfrm>
          <a:custGeom>
            <a:avLst/>
            <a:gdLst>
              <a:gd name="connsiteX0" fmla="*/ 10979546 w 10979546"/>
              <a:gd name="connsiteY0" fmla="*/ 0 h 5553797"/>
              <a:gd name="connsiteX1" fmla="*/ 20163 w 10979546"/>
              <a:gd name="connsiteY1" fmla="*/ 0 h 5553797"/>
              <a:gd name="connsiteX2" fmla="*/ 3044826 w 10979546"/>
              <a:gd name="connsiteY2" fmla="*/ 2767674 h 5553797"/>
              <a:gd name="connsiteX3" fmla="*/ 0 w 10979546"/>
              <a:gd name="connsiteY3" fmla="*/ 5553797 h 5553797"/>
              <a:gd name="connsiteX4" fmla="*/ 10979546 w 10979546"/>
              <a:gd name="connsiteY4" fmla="*/ 5553797 h 5553797"/>
              <a:gd name="connsiteX5" fmla="*/ 10979546 w 10979546"/>
              <a:gd name="connsiteY5" fmla="*/ 0 h 5553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79546" h="5553797">
                <a:moveTo>
                  <a:pt x="10979546" y="0"/>
                </a:moveTo>
                <a:lnTo>
                  <a:pt x="20163" y="0"/>
                </a:lnTo>
                <a:lnTo>
                  <a:pt x="3044826" y="2767674"/>
                </a:lnTo>
                <a:lnTo>
                  <a:pt x="0" y="5553797"/>
                </a:lnTo>
                <a:lnTo>
                  <a:pt x="10979546" y="5553797"/>
                </a:lnTo>
                <a:lnTo>
                  <a:pt x="10979546" y="0"/>
                </a:lnTo>
                <a:close/>
              </a:path>
            </a:pathLst>
          </a:cu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pic>
        <p:nvPicPr>
          <p:cNvPr id="2097205" name="!!南京大学"/>
          <p:cNvPicPr>
            <a:picLocks noChangeAspect="1"/>
          </p:cNvPicPr>
          <p:nvPr userDrawn="1"/>
        </p:nvPicPr>
        <p:blipFill>
          <a:blip r:embed="rId3"/>
          <a:stretch>
            <a:fillRect/>
          </a:stretch>
        </p:blipFill>
        <p:spPr>
          <a:xfrm>
            <a:off x="461538" y="805166"/>
            <a:ext cx="1776838" cy="861855"/>
          </a:xfrm>
          <a:prstGeom prst="rect">
            <a:avLst/>
          </a:prstGeom>
        </p:spPr>
      </p:pic>
      <p:pic>
        <p:nvPicPr>
          <p:cNvPr id="2097206" name="图片 50" descr="图片包含 名片, 文字&#10;&#10;描述已自动生成"/>
          <p:cNvPicPr>
            <a:picLocks noChangeAspect="1"/>
          </p:cNvPicPr>
          <p:nvPr userDrawn="1"/>
        </p:nvPicPr>
        <p:blipFill rotWithShape="1">
          <a:blip r:embed="rId4">
            <a:alphaModFix amt="35000"/>
          </a:blip>
          <a:srcRect l="3302" t="47518" r="13479" b="31213"/>
          <a:stretch>
            <a:fillRect/>
          </a:stretch>
        </p:blipFill>
        <p:spPr>
          <a:xfrm>
            <a:off x="-286362" y="-1200039"/>
            <a:ext cx="13548360" cy="1922637"/>
          </a:xfrm>
          <a:prstGeom prst="rect">
            <a:avLst/>
          </a:prstGeom>
        </p:spPr>
      </p:pic>
      <p:sp>
        <p:nvSpPr>
          <p:cNvPr id="1048968" name="箭头: V 形 52"/>
          <p:cNvSpPr/>
          <p:nvPr userDrawn="1"/>
        </p:nvSpPr>
        <p:spPr>
          <a:xfrm flipH="1">
            <a:off x="8120914" y="547917"/>
            <a:ext cx="3287008" cy="5780765"/>
          </a:xfrm>
          <a:prstGeom prst="chevron">
            <a:avLst>
              <a:gd name="adj" fmla="val 9113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969" name="任意多边形: 形状 53"/>
          <p:cNvSpPr/>
          <p:nvPr userDrawn="1"/>
        </p:nvSpPr>
        <p:spPr>
          <a:xfrm flipH="1">
            <a:off x="8839509" y="546039"/>
            <a:ext cx="3353334" cy="5841636"/>
          </a:xfrm>
          <a:custGeom>
            <a:avLst/>
            <a:gdLst>
              <a:gd name="connsiteX0" fmla="*/ 328671 w 3353334"/>
              <a:gd name="connsiteY0" fmla="*/ 0 h 5553796"/>
              <a:gd name="connsiteX1" fmla="*/ 0 w 3353334"/>
              <a:gd name="connsiteY1" fmla="*/ 0 h 5553796"/>
              <a:gd name="connsiteX2" fmla="*/ 0 w 3353334"/>
              <a:gd name="connsiteY2" fmla="*/ 323408 h 5553796"/>
              <a:gd name="connsiteX3" fmla="*/ 2711050 w 3353334"/>
              <a:gd name="connsiteY3" fmla="*/ 2804115 h 5553796"/>
              <a:gd name="connsiteX4" fmla="*/ 0 w 3353334"/>
              <a:gd name="connsiteY4" fmla="*/ 5284821 h 5553796"/>
              <a:gd name="connsiteX5" fmla="*/ 0 w 3353334"/>
              <a:gd name="connsiteY5" fmla="*/ 5553796 h 5553796"/>
              <a:gd name="connsiteX6" fmla="*/ 308508 w 3353334"/>
              <a:gd name="connsiteY6" fmla="*/ 5553796 h 5553796"/>
              <a:gd name="connsiteX7" fmla="*/ 3353334 w 3353334"/>
              <a:gd name="connsiteY7" fmla="*/ 2767674 h 5553796"/>
              <a:gd name="connsiteX8" fmla="*/ 328671 w 3353334"/>
              <a:gd name="connsiteY8" fmla="*/ 0 h 555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3334" h="5553796">
                <a:moveTo>
                  <a:pt x="328671" y="0"/>
                </a:moveTo>
                <a:lnTo>
                  <a:pt x="0" y="0"/>
                </a:lnTo>
                <a:lnTo>
                  <a:pt x="0" y="323408"/>
                </a:lnTo>
                <a:lnTo>
                  <a:pt x="2711050" y="2804115"/>
                </a:lnTo>
                <a:lnTo>
                  <a:pt x="0" y="5284821"/>
                </a:lnTo>
                <a:lnTo>
                  <a:pt x="0" y="5553796"/>
                </a:lnTo>
                <a:lnTo>
                  <a:pt x="308508" y="5553796"/>
                </a:lnTo>
                <a:lnTo>
                  <a:pt x="3353334" y="2767674"/>
                </a:lnTo>
                <a:lnTo>
                  <a:pt x="328671" y="0"/>
                </a:lnTo>
                <a:close/>
              </a:path>
            </a:pathLst>
          </a:custGeom>
          <a:solidFill>
            <a:srgbClr val="990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970" name="任意多边形: 形状 54"/>
          <p:cNvSpPr/>
          <p:nvPr userDrawn="1"/>
        </p:nvSpPr>
        <p:spPr>
          <a:xfrm flipH="1">
            <a:off x="10064423" y="1451025"/>
            <a:ext cx="2127575" cy="4095410"/>
          </a:xfrm>
          <a:custGeom>
            <a:avLst/>
            <a:gdLst>
              <a:gd name="connsiteX0" fmla="*/ 0 w 2021800"/>
              <a:gd name="connsiteY0" fmla="*/ 0 h 3700037"/>
              <a:gd name="connsiteX1" fmla="*/ 0 w 2021800"/>
              <a:gd name="connsiteY1" fmla="*/ 3700037 h 3700037"/>
              <a:gd name="connsiteX2" fmla="*/ 2021800 w 2021800"/>
              <a:gd name="connsiteY2" fmla="*/ 1850019 h 3700037"/>
              <a:gd name="connsiteX3" fmla="*/ 0 w 2021800"/>
              <a:gd name="connsiteY3" fmla="*/ 0 h 3700037"/>
            </a:gdLst>
            <a:ahLst/>
            <a:cxnLst>
              <a:cxn ang="0">
                <a:pos x="connsiteX0" y="connsiteY0"/>
              </a:cxn>
              <a:cxn ang="0">
                <a:pos x="connsiteX1" y="connsiteY1"/>
              </a:cxn>
              <a:cxn ang="0">
                <a:pos x="connsiteX2" y="connsiteY2"/>
              </a:cxn>
              <a:cxn ang="0">
                <a:pos x="connsiteX3" y="connsiteY3"/>
              </a:cxn>
            </a:cxnLst>
            <a:rect l="l" t="t" r="r" b="b"/>
            <a:pathLst>
              <a:path w="2021800" h="3700037">
                <a:moveTo>
                  <a:pt x="0" y="0"/>
                </a:moveTo>
                <a:lnTo>
                  <a:pt x="0" y="3700037"/>
                </a:lnTo>
                <a:lnTo>
                  <a:pt x="2021800" y="1850019"/>
                </a:lnTo>
                <a:lnTo>
                  <a:pt x="0" y="0"/>
                </a:lnTo>
                <a:close/>
              </a:path>
            </a:pathLst>
          </a:cu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nvGrpSpPr>
          <p:cNvPr id="145" name="组合 56"/>
          <p:cNvGrpSpPr/>
          <p:nvPr userDrawn="1"/>
        </p:nvGrpSpPr>
        <p:grpSpPr>
          <a:xfrm>
            <a:off x="10659351" y="3264062"/>
            <a:ext cx="1392692" cy="491924"/>
            <a:chOff x="714375" y="1419225"/>
            <a:chExt cx="11134427" cy="2133600"/>
          </a:xfrm>
        </p:grpSpPr>
        <p:cxnSp>
          <p:nvCxnSpPr>
            <p:cNvPr id="3145750" name="直接连接符 57"/>
            <p:cNvCxnSpPr/>
            <p:nvPr/>
          </p:nvCxnSpPr>
          <p:spPr>
            <a:xfrm flipH="1">
              <a:off x="3010201" y="3171825"/>
              <a:ext cx="275931" cy="371475"/>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51" name="直接连接符 58"/>
            <p:cNvCxnSpPr/>
            <p:nvPr/>
          </p:nvCxnSpPr>
          <p:spPr>
            <a:xfrm>
              <a:off x="9296402" y="3171225"/>
              <a:ext cx="266400" cy="38160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52" name="直接连接符 59"/>
            <p:cNvCxnSpPr/>
            <p:nvPr/>
          </p:nvCxnSpPr>
          <p:spPr>
            <a:xfrm>
              <a:off x="3276600" y="3171825"/>
              <a:ext cx="2305050" cy="0"/>
            </a:xfrm>
            <a:prstGeom prst="line">
              <a:avLst/>
            </a:prstGeom>
            <a:ln w="349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53" name="直接连接符 60"/>
            <p:cNvCxnSpPr/>
            <p:nvPr/>
          </p:nvCxnSpPr>
          <p:spPr>
            <a:xfrm>
              <a:off x="6991352" y="3171225"/>
              <a:ext cx="2305050" cy="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54" name="直接连接符 61"/>
            <p:cNvCxnSpPr/>
            <p:nvPr/>
          </p:nvCxnSpPr>
          <p:spPr>
            <a:xfrm>
              <a:off x="5581650" y="2095500"/>
              <a:ext cx="0" cy="1114425"/>
            </a:xfrm>
            <a:prstGeom prst="line">
              <a:avLst/>
            </a:prstGeom>
            <a:ln w="349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55" name="直接连接符 62"/>
            <p:cNvCxnSpPr/>
            <p:nvPr/>
          </p:nvCxnSpPr>
          <p:spPr>
            <a:xfrm>
              <a:off x="6962777" y="2085975"/>
              <a:ext cx="0" cy="1114425"/>
            </a:xfrm>
            <a:prstGeom prst="line">
              <a:avLst/>
            </a:prstGeom>
            <a:ln w="349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56" name="直接连接符 63"/>
            <p:cNvCxnSpPr/>
            <p:nvPr/>
          </p:nvCxnSpPr>
          <p:spPr>
            <a:xfrm flipH="1">
              <a:off x="6962777" y="1752600"/>
              <a:ext cx="123823" cy="39945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57" name="直接连接符 64"/>
            <p:cNvCxnSpPr/>
            <p:nvPr/>
          </p:nvCxnSpPr>
          <p:spPr>
            <a:xfrm>
              <a:off x="5457828" y="1752600"/>
              <a:ext cx="123822" cy="39945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58" name="直接连接符 65"/>
            <p:cNvCxnSpPr/>
            <p:nvPr/>
          </p:nvCxnSpPr>
          <p:spPr>
            <a:xfrm>
              <a:off x="5457828" y="1752600"/>
              <a:ext cx="380997" cy="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59" name="直接连接符 66"/>
            <p:cNvCxnSpPr/>
            <p:nvPr/>
          </p:nvCxnSpPr>
          <p:spPr>
            <a:xfrm>
              <a:off x="6734180" y="1752600"/>
              <a:ext cx="380997" cy="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60" name="直接连接符 67"/>
            <p:cNvCxnSpPr/>
            <p:nvPr/>
          </p:nvCxnSpPr>
          <p:spPr>
            <a:xfrm flipV="1">
              <a:off x="5909620" y="1419228"/>
              <a:ext cx="386837" cy="333373"/>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61" name="直接连接符 68"/>
            <p:cNvCxnSpPr/>
            <p:nvPr/>
          </p:nvCxnSpPr>
          <p:spPr>
            <a:xfrm>
              <a:off x="6276544" y="1419225"/>
              <a:ext cx="429060" cy="333373"/>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45762" name="直接连接符 69"/>
            <p:cNvCxnSpPr/>
            <p:nvPr/>
          </p:nvCxnSpPr>
          <p:spPr>
            <a:xfrm>
              <a:off x="714375" y="3542008"/>
              <a:ext cx="2305052" cy="0"/>
            </a:xfrm>
            <a:prstGeom prst="line">
              <a:avLst/>
            </a:prstGeom>
            <a:ln w="34925">
              <a:gradFill>
                <a:gsLst>
                  <a:gs pos="0">
                    <a:srgbClr val="850063"/>
                  </a:gs>
                  <a:gs pos="100000">
                    <a:srgbClr val="850063">
                      <a:alpha val="0"/>
                    </a:srgbClr>
                  </a:gs>
                </a:gsLst>
                <a:lin ang="10800000" scaled="0"/>
              </a:gradFill>
            </a:ln>
          </p:spPr>
          <p:style>
            <a:lnRef idx="1">
              <a:schemeClr val="accent1"/>
            </a:lnRef>
            <a:fillRef idx="0">
              <a:schemeClr val="accent1"/>
            </a:fillRef>
            <a:effectRef idx="0">
              <a:schemeClr val="accent1"/>
            </a:effectRef>
            <a:fontRef idx="minor">
              <a:schemeClr val="tx1"/>
            </a:fontRef>
          </p:style>
        </p:cxnSp>
        <p:cxnSp>
          <p:nvCxnSpPr>
            <p:cNvPr id="3145763" name="直接连接符 70"/>
            <p:cNvCxnSpPr/>
            <p:nvPr/>
          </p:nvCxnSpPr>
          <p:spPr>
            <a:xfrm>
              <a:off x="9543752" y="3543300"/>
              <a:ext cx="2305050" cy="0"/>
            </a:xfrm>
            <a:prstGeom prst="line">
              <a:avLst/>
            </a:prstGeom>
            <a:ln w="34925">
              <a:gradFill>
                <a:gsLst>
                  <a:gs pos="0">
                    <a:srgbClr val="850063"/>
                  </a:gs>
                  <a:gs pos="100000">
                    <a:srgbClr val="850063">
                      <a:alpha val="0"/>
                    </a:srgbClr>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048971" name="标题 6"/>
          <p:cNvSpPr>
            <a:spLocks noGrp="1"/>
          </p:cNvSpPr>
          <p:nvPr>
            <p:ph type="title" hasCustomPrompt="1"/>
          </p:nvPr>
        </p:nvSpPr>
        <p:spPr>
          <a:xfrm>
            <a:off x="960871" y="2501659"/>
            <a:ext cx="6139868" cy="1015324"/>
          </a:xfrm>
          <a:prstGeom prst="rect">
            <a:avLst/>
          </a:prstGeom>
        </p:spPr>
        <p:txBody>
          <a:bodyPr anchor="ctr">
            <a:noAutofit/>
          </a:bodyPr>
          <a:lstStyle>
            <a:lvl1pPr marL="0" algn="l" defTabSz="914400" rtl="0" eaLnBrk="1" latinLnBrk="0" hangingPunct="1">
              <a:defRPr lang="zh-CN" altLang="en-US" sz="5400" b="1" kern="1200" spc="600" dirty="0">
                <a:solidFill>
                  <a:srgbClr val="850063"/>
                </a:solidFill>
                <a:effectLst/>
                <a:latin typeface="思源黑体 CN Bold" panose="020B0800000000000000" pitchFamily="34" charset="-122"/>
                <a:ea typeface="思源黑体 CN Bold" panose="020B0800000000000000" pitchFamily="34" charset="-122"/>
                <a:cs typeface="+mn-cs"/>
              </a:defRPr>
            </a:lvl1pPr>
          </a:lstStyle>
          <a:p>
            <a:r>
              <a:rPr lang="zh-CN" altLang="en-US" dirty="0"/>
              <a:t>谢谢。</a:t>
            </a:r>
            <a:endParaRPr lang="zh-CN" altLang="en-US" dirty="0"/>
          </a:p>
        </p:txBody>
      </p:sp>
      <p:sp>
        <p:nvSpPr>
          <p:cNvPr id="1048972" name="文本占位符 11"/>
          <p:cNvSpPr>
            <a:spLocks noGrp="1"/>
          </p:cNvSpPr>
          <p:nvPr>
            <p:ph type="body" sz="quarter" idx="13" hasCustomPrompt="1"/>
          </p:nvPr>
        </p:nvSpPr>
        <p:spPr>
          <a:xfrm>
            <a:off x="960870" y="3558904"/>
            <a:ext cx="2955810" cy="424732"/>
          </a:xfrm>
          <a:prstGeom prst="rect">
            <a:avLst/>
          </a:prstGeom>
          <a:noFill/>
        </p:spPr>
        <p:txBody>
          <a:bodyPr wrap="square" rtlCol="0">
            <a:spAutoFit/>
          </a:bodyPr>
          <a:lstStyle>
            <a:lvl1pPr marL="0" indent="0" algn="l">
              <a:buNone/>
              <a:defRPr lang="zh-CN" altLang="en-US" sz="2400" spc="300" dirty="0">
                <a:solidFill>
                  <a:schemeClr val="tx1">
                    <a:lumMod val="50000"/>
                    <a:lumOff val="50000"/>
                  </a:schemeClr>
                </a:solidFill>
                <a:effectLst>
                  <a:outerShdw blurRad="38100" dist="38100" dir="2700000" algn="tl">
                    <a:srgbClr val="000000">
                      <a:alpha val="43137"/>
                    </a:srgbClr>
                  </a:outerShdw>
                </a:effectLst>
              </a:defRPr>
            </a:lvl1pPr>
          </a:lstStyle>
          <a:p>
            <a:pPr marL="0" lvl="0" algn="dist"/>
            <a:r>
              <a:rPr lang="en-US" altLang="zh-CN" dirty="0"/>
              <a:t>THANK YOU.</a:t>
            </a:r>
            <a:endParaRPr lang="zh-CN" altLang="en-US" dirty="0"/>
          </a:p>
        </p:txBody>
      </p:sp>
      <p:grpSp>
        <p:nvGrpSpPr>
          <p:cNvPr id="146" name="组合 3"/>
          <p:cNvGrpSpPr/>
          <p:nvPr userDrawn="1"/>
        </p:nvGrpSpPr>
        <p:grpSpPr>
          <a:xfrm>
            <a:off x="902870" y="4135001"/>
            <a:ext cx="3813175" cy="170324"/>
            <a:chOff x="4399588" y="4016383"/>
            <a:chExt cx="3352852" cy="86344"/>
          </a:xfrm>
        </p:grpSpPr>
        <p:sp>
          <p:nvSpPr>
            <p:cNvPr id="1048973" name="矩形 24"/>
            <p:cNvSpPr/>
            <p:nvPr userDrawn="1"/>
          </p:nvSpPr>
          <p:spPr>
            <a:xfrm>
              <a:off x="4437740" y="4037958"/>
              <a:ext cx="3314700" cy="45719"/>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097207" name="图片 2"/>
            <p:cNvPicPr>
              <a:picLocks noChangeAspect="1"/>
            </p:cNvPicPr>
            <p:nvPr userDrawn="1"/>
          </p:nvPicPr>
          <p:blipFill>
            <a:blip r:embed="rId5"/>
            <a:stretch>
              <a:fillRect/>
            </a:stretch>
          </p:blipFill>
          <p:spPr>
            <a:xfrm>
              <a:off x="4399588" y="4016383"/>
              <a:ext cx="3315600" cy="86344"/>
            </a:xfrm>
            <a:prstGeom prst="rect">
              <a:avLst/>
            </a:prstGeom>
          </p:spPr>
        </p:pic>
      </p:grpSp>
      <p:sp>
        <p:nvSpPr>
          <p:cNvPr id="1048974" name="标题 6"/>
          <p:cNvSpPr txBox="1"/>
          <p:nvPr userDrawn="1"/>
        </p:nvSpPr>
        <p:spPr>
          <a:xfrm>
            <a:off x="973395" y="4409090"/>
            <a:ext cx="6139868" cy="453477"/>
          </a:xfrm>
          <a:prstGeom prst="rect">
            <a:avLst/>
          </a:prstGeom>
        </p:spPr>
        <p:txBody>
          <a:bodyPr vert="horz" lIns="91440" tIns="45720" rIns="91440" bIns="45720" rtlCol="0" anchor="ctr">
            <a:noAutofit/>
          </a:bodyPr>
          <a:lstStyle>
            <a:lvl1pPr marL="0" algn="l" defTabSz="914400" rtl="0" eaLnBrk="1" latinLnBrk="0" hangingPunct="1">
              <a:lnSpc>
                <a:spcPct val="90000"/>
              </a:lnSpc>
              <a:spcBef>
                <a:spcPct val="0"/>
              </a:spcBef>
              <a:buNone/>
              <a:defRPr lang="zh-CN" altLang="en-US" sz="5400" b="1" kern="1200" spc="600" dirty="0">
                <a:solidFill>
                  <a:srgbClr val="850063"/>
                </a:solidFill>
                <a:effectLst/>
                <a:latin typeface="+mn-ea"/>
                <a:ea typeface="+mn-ea"/>
                <a:cs typeface="+mn-cs"/>
              </a:defRPr>
            </a:lvl1pPr>
          </a:lstStyle>
          <a:p>
            <a:endParaRPr lang="zh-CN" altLang="en-US" sz="2000" dirty="0"/>
          </a:p>
        </p:txBody>
      </p:sp>
      <p:sp>
        <p:nvSpPr>
          <p:cNvPr id="1048975" name="文本占位符 4"/>
          <p:cNvSpPr>
            <a:spLocks noGrp="1"/>
          </p:cNvSpPr>
          <p:nvPr>
            <p:ph type="body" sz="quarter" idx="15" hasCustomPrompt="1"/>
          </p:nvPr>
        </p:nvSpPr>
        <p:spPr>
          <a:xfrm>
            <a:off x="960437" y="4402138"/>
            <a:ext cx="6139867" cy="278089"/>
          </a:xfrm>
          <a:prstGeom prst="rect">
            <a:avLst/>
          </a:prstGeom>
        </p:spPr>
        <p:txBody>
          <a:bodyPr>
            <a:normAutofit/>
          </a:bodyPr>
          <a:lstStyle>
            <a:lvl1pPr marL="0" indent="0">
              <a:buNone/>
              <a:defRPr lang="zh-CN" altLang="en-US" sz="1600" b="0" kern="1200" spc="600" dirty="0">
                <a:solidFill>
                  <a:schemeClr val="accent1"/>
                </a:solidFill>
                <a:effectLst/>
                <a:latin typeface="思源黑体 CN Normal" panose="020B0400000000000000" pitchFamily="34" charset="-122"/>
                <a:ea typeface="思源黑体 CN Normal" panose="020B0400000000000000" pitchFamily="34" charset="-122"/>
                <a:cs typeface="+mn-cs"/>
              </a:defRPr>
            </a:lvl1pPr>
          </a:lstStyle>
          <a:p>
            <a:pPr lvl="0"/>
            <a:r>
              <a:rPr lang="zh-CN" altLang="en-US" dirty="0"/>
              <a:t>在这里填写标题</a:t>
            </a:r>
            <a:endParaRPr lang="zh-CN" altLang="en-US" dirty="0"/>
          </a:p>
        </p:txBody>
      </p:sp>
      <p:sp>
        <p:nvSpPr>
          <p:cNvPr id="1048976" name="文本占位符 7"/>
          <p:cNvSpPr>
            <a:spLocks noGrp="1"/>
          </p:cNvSpPr>
          <p:nvPr>
            <p:ph type="body" sz="quarter" idx="16" hasCustomPrompt="1"/>
          </p:nvPr>
        </p:nvSpPr>
        <p:spPr>
          <a:xfrm>
            <a:off x="960438" y="4679950"/>
            <a:ext cx="3813175" cy="331788"/>
          </a:xfrm>
          <a:prstGeom prst="rect">
            <a:avLst/>
          </a:prstGeom>
        </p:spPr>
        <p:txBody>
          <a:bodyPr>
            <a:normAutofit/>
          </a:bodyPr>
          <a:lstStyle>
            <a:lvl1pPr marL="0" indent="0">
              <a:buNone/>
              <a:defRPr lang="zh-CN" altLang="en-US" sz="1600" b="0" i="0" kern="1200" spc="600" dirty="0">
                <a:solidFill>
                  <a:schemeClr val="tx1">
                    <a:lumMod val="50000"/>
                    <a:lumOff val="50000"/>
                  </a:schemeClr>
                </a:solidFill>
                <a:effectLst/>
                <a:latin typeface="思源黑体 CN Normal" panose="020B0400000000000000" pitchFamily="34" charset="-122"/>
                <a:ea typeface="思源黑体 CN Normal" panose="020B0400000000000000" pitchFamily="34" charset="-122"/>
                <a:cs typeface="+mn-cs"/>
              </a:defRPr>
            </a:lvl1pPr>
          </a:lstStyle>
          <a:p>
            <a:pPr lvl="0"/>
            <a:r>
              <a:rPr lang="zh-CN" altLang="en-US" dirty="0"/>
              <a:t>南京大学</a:t>
            </a:r>
            <a:r>
              <a:rPr lang="en-US" altLang="zh-CN" dirty="0"/>
              <a:t>XX</a:t>
            </a:r>
            <a:r>
              <a:rPr lang="zh-CN" altLang="en-US" dirty="0"/>
              <a:t>学院  姓名</a:t>
            </a:r>
            <a:endParaRPr lang="zh-CN" altLang="en-US" dirty="0"/>
          </a:p>
        </p:txBody>
      </p:sp>
      <p:sp>
        <p:nvSpPr>
          <p:cNvPr id="1048977" name="日期占位符 1050"/>
          <p:cNvSpPr txBox="1"/>
          <p:nvPr userDrawn="1"/>
        </p:nvSpPr>
        <p:spPr>
          <a:xfrm>
            <a:off x="973395" y="5165661"/>
            <a:ext cx="1542497"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fld id="{42D7D00D-E433-4875-A481-385606666357}" type="datetime2">
              <a:rPr lang="zh-CN" altLang="en-US" sz="1400" b="0" smtClean="0">
                <a:solidFill>
                  <a:srgbClr val="850063"/>
                </a:solidFill>
                <a:latin typeface="思源黑体 CN Normal" panose="020B0400000000000000" pitchFamily="34" charset="-122"/>
                <a:ea typeface="思源黑体 CN Normal" panose="020B0400000000000000" pitchFamily="34" charset="-122"/>
              </a:rPr>
            </a:fld>
            <a:endParaRPr lang="zh-CN" altLang="en-US" b="0" dirty="0">
              <a:solidFill>
                <a:srgbClr val="850063"/>
              </a:solidFill>
              <a:latin typeface="思源黑体 CN Normal" panose="020B0400000000000000" pitchFamily="34" charset="-122"/>
              <a:ea typeface="思源黑体 CN Normal" panose="020B0400000000000000" pitchFamily="34" charset="-122"/>
            </a:endParaRPr>
          </a:p>
        </p:txBody>
      </p:sp>
      <p:sp>
        <p:nvSpPr>
          <p:cNvPr id="1048978" name="平行四边形 194"/>
          <p:cNvSpPr/>
          <p:nvPr userDrawn="1"/>
        </p:nvSpPr>
        <p:spPr>
          <a:xfrm rot="10800000" flipH="1">
            <a:off x="36297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79" name="平行四边形 195"/>
          <p:cNvSpPr/>
          <p:nvPr userDrawn="1"/>
        </p:nvSpPr>
        <p:spPr>
          <a:xfrm rot="10800000" flipH="1">
            <a:off x="83158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80" name="平行四边形 196"/>
          <p:cNvSpPr/>
          <p:nvPr userDrawn="1"/>
        </p:nvSpPr>
        <p:spPr>
          <a:xfrm rot="10800000" flipH="1">
            <a:off x="130019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81" name="平行四边形 197"/>
          <p:cNvSpPr/>
          <p:nvPr userDrawn="1"/>
        </p:nvSpPr>
        <p:spPr>
          <a:xfrm rot="10800000" flipH="1">
            <a:off x="176880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82" name="平行四边形 198"/>
          <p:cNvSpPr/>
          <p:nvPr userDrawn="1"/>
        </p:nvSpPr>
        <p:spPr>
          <a:xfrm rot="10800000" flipH="1">
            <a:off x="223741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83" name="平行四边形 199"/>
          <p:cNvSpPr/>
          <p:nvPr userDrawn="1"/>
        </p:nvSpPr>
        <p:spPr>
          <a:xfrm rot="10800000" flipH="1">
            <a:off x="270602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84" name="平行四边形 200"/>
          <p:cNvSpPr/>
          <p:nvPr userDrawn="1"/>
        </p:nvSpPr>
        <p:spPr>
          <a:xfrm rot="10800000" flipH="1">
            <a:off x="317463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85" name="平行四边形 201"/>
          <p:cNvSpPr/>
          <p:nvPr userDrawn="1"/>
        </p:nvSpPr>
        <p:spPr>
          <a:xfrm rot="10800000" flipH="1">
            <a:off x="364324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86" name="平行四边形 202"/>
          <p:cNvSpPr/>
          <p:nvPr userDrawn="1"/>
        </p:nvSpPr>
        <p:spPr>
          <a:xfrm rot="10800000" flipH="1">
            <a:off x="411185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87" name="平行四边形 203"/>
          <p:cNvSpPr/>
          <p:nvPr userDrawn="1"/>
        </p:nvSpPr>
        <p:spPr>
          <a:xfrm rot="10800000" flipH="1">
            <a:off x="458046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88" name="平行四边形 204"/>
          <p:cNvSpPr/>
          <p:nvPr userDrawn="1"/>
        </p:nvSpPr>
        <p:spPr>
          <a:xfrm rot="10800000" flipH="1">
            <a:off x="504907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89" name="平行四边形 205"/>
          <p:cNvSpPr/>
          <p:nvPr userDrawn="1"/>
        </p:nvSpPr>
        <p:spPr>
          <a:xfrm rot="10800000" flipH="1">
            <a:off x="551768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90" name="平行四边形 206"/>
          <p:cNvSpPr/>
          <p:nvPr userDrawn="1"/>
        </p:nvSpPr>
        <p:spPr>
          <a:xfrm rot="10800000" flipH="1">
            <a:off x="598629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91" name="平行四边形 207"/>
          <p:cNvSpPr/>
          <p:nvPr userDrawn="1"/>
        </p:nvSpPr>
        <p:spPr>
          <a:xfrm rot="10800000" flipH="1">
            <a:off x="645490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92" name="平行四边形 208"/>
          <p:cNvSpPr/>
          <p:nvPr userDrawn="1"/>
        </p:nvSpPr>
        <p:spPr>
          <a:xfrm rot="10800000" flipH="1">
            <a:off x="692351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93" name="平行四边形 209"/>
          <p:cNvSpPr/>
          <p:nvPr userDrawn="1"/>
        </p:nvSpPr>
        <p:spPr>
          <a:xfrm rot="10800000" flipH="1">
            <a:off x="739212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94" name="平行四边形 210"/>
          <p:cNvSpPr/>
          <p:nvPr userDrawn="1"/>
        </p:nvSpPr>
        <p:spPr>
          <a:xfrm rot="10800000" flipH="1">
            <a:off x="786073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95" name="平行四边形 211"/>
          <p:cNvSpPr/>
          <p:nvPr userDrawn="1"/>
        </p:nvSpPr>
        <p:spPr>
          <a:xfrm rot="10800000" flipH="1">
            <a:off x="832934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96" name="平行四边形 212"/>
          <p:cNvSpPr/>
          <p:nvPr userDrawn="1"/>
        </p:nvSpPr>
        <p:spPr>
          <a:xfrm rot="10800000" flipH="1">
            <a:off x="879795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97" name="平行四边形 213"/>
          <p:cNvSpPr/>
          <p:nvPr userDrawn="1"/>
        </p:nvSpPr>
        <p:spPr>
          <a:xfrm rot="10800000" flipH="1">
            <a:off x="926656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98" name="平行四边形 214"/>
          <p:cNvSpPr/>
          <p:nvPr userDrawn="1"/>
        </p:nvSpPr>
        <p:spPr>
          <a:xfrm rot="10800000" flipH="1">
            <a:off x="973517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99" name="平行四边形 215"/>
          <p:cNvSpPr/>
          <p:nvPr userDrawn="1"/>
        </p:nvSpPr>
        <p:spPr>
          <a:xfrm rot="10800000" flipH="1">
            <a:off x="1020378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00" name="平行四边形 216"/>
          <p:cNvSpPr/>
          <p:nvPr userDrawn="1"/>
        </p:nvSpPr>
        <p:spPr>
          <a:xfrm rot="10800000" flipH="1">
            <a:off x="10691956" y="634377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01" name="平行四边形 217"/>
          <p:cNvSpPr/>
          <p:nvPr userDrawn="1"/>
        </p:nvSpPr>
        <p:spPr>
          <a:xfrm rot="10800000" flipH="1">
            <a:off x="-490446" y="634297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02" name="平行四边形 218"/>
          <p:cNvSpPr/>
          <p:nvPr userDrawn="1"/>
        </p:nvSpPr>
        <p:spPr>
          <a:xfrm rot="10800000" flipH="1">
            <a:off x="-21836" y="634297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03" name="平行四边形 219"/>
          <p:cNvSpPr/>
          <p:nvPr userDrawn="1"/>
        </p:nvSpPr>
        <p:spPr>
          <a:xfrm rot="10800000" flipH="1">
            <a:off x="11122757" y="6325855"/>
            <a:ext cx="988980" cy="710588"/>
          </a:xfrm>
          <a:prstGeom prst="parallelogram">
            <a:avLst>
              <a:gd name="adj" fmla="val 98322"/>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04" name="平行四边形 220"/>
          <p:cNvSpPr/>
          <p:nvPr userDrawn="1"/>
        </p:nvSpPr>
        <p:spPr>
          <a:xfrm>
            <a:off x="11355067" y="-169170"/>
            <a:ext cx="1856102" cy="1224334"/>
          </a:xfrm>
          <a:prstGeom prst="parallelogram">
            <a:avLst>
              <a:gd name="adj" fmla="val 98322"/>
            </a:avLst>
          </a:prstGeom>
          <a:solidFill>
            <a:srgbClr val="99097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05" name="平行四边形 221"/>
          <p:cNvSpPr/>
          <p:nvPr userDrawn="1"/>
        </p:nvSpPr>
        <p:spPr>
          <a:xfrm flipH="1">
            <a:off x="11507273" y="6009680"/>
            <a:ext cx="1615788" cy="1059625"/>
          </a:xfrm>
          <a:prstGeom prst="parallelogram">
            <a:avLst>
              <a:gd name="adj" fmla="val 98322"/>
            </a:avLst>
          </a:prstGeom>
          <a:solidFill>
            <a:srgbClr val="99097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06" name="平行四边形 113"/>
          <p:cNvSpPr/>
          <p:nvPr userDrawn="1"/>
        </p:nvSpPr>
        <p:spPr>
          <a:xfrm>
            <a:off x="58550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07" name="平行四边形 114"/>
          <p:cNvSpPr/>
          <p:nvPr userDrawn="1"/>
        </p:nvSpPr>
        <p:spPr>
          <a:xfrm>
            <a:off x="105411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08" name="平行四边形 115"/>
          <p:cNvSpPr/>
          <p:nvPr userDrawn="1"/>
        </p:nvSpPr>
        <p:spPr>
          <a:xfrm>
            <a:off x="152272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09" name="平行四边形 116"/>
          <p:cNvSpPr/>
          <p:nvPr userDrawn="1"/>
        </p:nvSpPr>
        <p:spPr>
          <a:xfrm>
            <a:off x="199133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10" name="平行四边形 117"/>
          <p:cNvSpPr/>
          <p:nvPr userDrawn="1"/>
        </p:nvSpPr>
        <p:spPr>
          <a:xfrm>
            <a:off x="245994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11" name="平行四边形 118"/>
          <p:cNvSpPr/>
          <p:nvPr userDrawn="1"/>
        </p:nvSpPr>
        <p:spPr>
          <a:xfrm>
            <a:off x="292855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12" name="平行四边形 119"/>
          <p:cNvSpPr/>
          <p:nvPr userDrawn="1"/>
        </p:nvSpPr>
        <p:spPr>
          <a:xfrm>
            <a:off x="339716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13" name="平行四边形 120"/>
          <p:cNvSpPr/>
          <p:nvPr userDrawn="1"/>
        </p:nvSpPr>
        <p:spPr>
          <a:xfrm>
            <a:off x="386577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14" name="平行四边形 121"/>
          <p:cNvSpPr/>
          <p:nvPr userDrawn="1"/>
        </p:nvSpPr>
        <p:spPr>
          <a:xfrm>
            <a:off x="433438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15" name="平行四边形 122"/>
          <p:cNvSpPr/>
          <p:nvPr userDrawn="1"/>
        </p:nvSpPr>
        <p:spPr>
          <a:xfrm>
            <a:off x="480299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16" name="平行四边形 123"/>
          <p:cNvSpPr/>
          <p:nvPr userDrawn="1"/>
        </p:nvSpPr>
        <p:spPr>
          <a:xfrm>
            <a:off x="527160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17" name="平行四边形 124"/>
          <p:cNvSpPr/>
          <p:nvPr userDrawn="1"/>
        </p:nvSpPr>
        <p:spPr>
          <a:xfrm>
            <a:off x="574021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18" name="平行四边形 125"/>
          <p:cNvSpPr/>
          <p:nvPr userDrawn="1"/>
        </p:nvSpPr>
        <p:spPr>
          <a:xfrm>
            <a:off x="620882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19" name="平行四边形 126"/>
          <p:cNvSpPr/>
          <p:nvPr userDrawn="1"/>
        </p:nvSpPr>
        <p:spPr>
          <a:xfrm>
            <a:off x="667743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20" name="平行四边形 127"/>
          <p:cNvSpPr/>
          <p:nvPr userDrawn="1"/>
        </p:nvSpPr>
        <p:spPr>
          <a:xfrm>
            <a:off x="714604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21" name="平行四边形 128"/>
          <p:cNvSpPr/>
          <p:nvPr userDrawn="1"/>
        </p:nvSpPr>
        <p:spPr>
          <a:xfrm>
            <a:off x="761465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22" name="平行四边形 129"/>
          <p:cNvSpPr/>
          <p:nvPr userDrawn="1"/>
        </p:nvSpPr>
        <p:spPr>
          <a:xfrm>
            <a:off x="808326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23" name="平行四边形 130"/>
          <p:cNvSpPr/>
          <p:nvPr userDrawn="1"/>
        </p:nvSpPr>
        <p:spPr>
          <a:xfrm>
            <a:off x="855187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24" name="平行四边形 131"/>
          <p:cNvSpPr/>
          <p:nvPr userDrawn="1"/>
        </p:nvSpPr>
        <p:spPr>
          <a:xfrm>
            <a:off x="902048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25" name="平行四边形 132"/>
          <p:cNvSpPr/>
          <p:nvPr userDrawn="1"/>
        </p:nvSpPr>
        <p:spPr>
          <a:xfrm>
            <a:off x="948909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26" name="平行四边形 133"/>
          <p:cNvSpPr/>
          <p:nvPr userDrawn="1"/>
        </p:nvSpPr>
        <p:spPr>
          <a:xfrm>
            <a:off x="995770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27" name="平行四边形 134"/>
          <p:cNvSpPr/>
          <p:nvPr userDrawn="1"/>
        </p:nvSpPr>
        <p:spPr>
          <a:xfrm>
            <a:off x="10426310" y="-368558"/>
            <a:ext cx="837869" cy="611238"/>
          </a:xfrm>
          <a:prstGeom prst="parallelogram">
            <a:avLst>
              <a:gd name="adj" fmla="val 103724"/>
            </a:avLst>
          </a:prstGeom>
          <a:solidFill>
            <a:srgbClr val="99097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28" name="平行四边形 135"/>
          <p:cNvSpPr/>
          <p:nvPr userDrawn="1"/>
        </p:nvSpPr>
        <p:spPr>
          <a:xfrm>
            <a:off x="10932244"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29" name="平行四边形 136"/>
          <p:cNvSpPr/>
          <p:nvPr userDrawn="1"/>
        </p:nvSpPr>
        <p:spPr>
          <a:xfrm>
            <a:off x="-267918" y="-38077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30" name="平行四边形 137"/>
          <p:cNvSpPr/>
          <p:nvPr userDrawn="1"/>
        </p:nvSpPr>
        <p:spPr>
          <a:xfrm>
            <a:off x="200692" y="-38077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31" name="平行四边形 138"/>
          <p:cNvSpPr/>
          <p:nvPr userDrawn="1"/>
        </p:nvSpPr>
        <p:spPr>
          <a:xfrm>
            <a:off x="11122757" y="-160212"/>
            <a:ext cx="988980" cy="710588"/>
          </a:xfrm>
          <a:prstGeom prst="parallelogram">
            <a:avLst>
              <a:gd name="adj" fmla="val 98322"/>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32" name="矩形 139"/>
          <p:cNvSpPr/>
          <p:nvPr userDrawn="1"/>
        </p:nvSpPr>
        <p:spPr>
          <a:xfrm>
            <a:off x="-3174" y="237498"/>
            <a:ext cx="10879187" cy="265426"/>
          </a:xfrm>
          <a:prstGeom prst="rect">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9033" name="等腰三角形 140"/>
          <p:cNvSpPr/>
          <p:nvPr userDrawn="1"/>
        </p:nvSpPr>
        <p:spPr>
          <a:xfrm rot="5400000" flipH="1">
            <a:off x="10878985" y="234398"/>
            <a:ext cx="269445" cy="267605"/>
          </a:xfrm>
          <a:prstGeom prst="triangle">
            <a:avLst>
              <a:gd name="adj" fmla="val 100000"/>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48971"/>
                                        </p:tgtEl>
                                        <p:attrNameLst>
                                          <p:attrName>style.visibility</p:attrName>
                                        </p:attrNameLst>
                                      </p:cBhvr>
                                      <p:to>
                                        <p:strVal val="visible"/>
                                      </p:to>
                                    </p:set>
                                    <p:animEffect transition="in" filter="fade">
                                      <p:cBhvr>
                                        <p:cTn id="7" dur="300"/>
                                        <p:tgtEl>
                                          <p:spTgt spid="1048971"/>
                                        </p:tgtEl>
                                      </p:cBhvr>
                                    </p:animEffect>
                                  </p:childTnLst>
                                </p:cTn>
                              </p:par>
                              <p:par>
                                <p:cTn id="8" presetID="63" presetClass="path" presetSubtype="0" accel="50000" decel="50000" fill="hold" grpId="1" nodeType="withEffect">
                                  <p:stCondLst>
                                    <p:cond delay="0"/>
                                  </p:stCondLst>
                                  <p:childTnLst>
                                    <p:animMotion origin="layout" path="M -0.0556 -0.00023 L 1.04167E-6 2.59259E-6 " pathEditMode="relative" rAng="0" ptsTypes="AA">
                                      <p:cBhvr>
                                        <p:cTn id="9" dur="300" fill="hold"/>
                                        <p:tgtEl>
                                          <p:spTgt spid="1048971"/>
                                        </p:tgtEl>
                                        <p:attrNameLst>
                                          <p:attrName>ppt_x</p:attrName>
                                          <p:attrName>ppt_y</p:attrName>
                                        </p:attrNameLst>
                                      </p:cBhvr>
                                      <p:rCtr x="2773" y="0"/>
                                    </p:animMotion>
                                  </p:childTnLst>
                                </p:cTn>
                              </p:par>
                              <p:par>
                                <p:cTn id="10" presetID="10" presetClass="entr" presetSubtype="0" fill="hold" grpId="0" nodeType="withEffect">
                                  <p:stCondLst>
                                    <p:cond delay="100"/>
                                  </p:stCondLst>
                                  <p:childTnLst>
                                    <p:set>
                                      <p:cBhvr>
                                        <p:cTn id="11" dur="1" fill="hold">
                                          <p:stCondLst>
                                            <p:cond delay="0"/>
                                          </p:stCondLst>
                                        </p:cTn>
                                        <p:tgtEl>
                                          <p:spTgt spid="1048972"/>
                                        </p:tgtEl>
                                        <p:attrNameLst>
                                          <p:attrName>style.visibility</p:attrName>
                                        </p:attrNameLst>
                                      </p:cBhvr>
                                      <p:to>
                                        <p:strVal val="visible"/>
                                      </p:to>
                                    </p:set>
                                    <p:animEffect transition="in" filter="fade">
                                      <p:cBhvr>
                                        <p:cTn id="12" dur="300"/>
                                        <p:tgtEl>
                                          <p:spTgt spid="1048972"/>
                                        </p:tgtEl>
                                      </p:cBhvr>
                                    </p:animEffect>
                                  </p:childTnLst>
                                </p:cTn>
                              </p:par>
                              <p:par>
                                <p:cTn id="13" presetID="63" presetClass="path" presetSubtype="0" accel="50000" decel="50000" fill="hold" grpId="1" nodeType="withEffect">
                                  <p:stCondLst>
                                    <p:cond delay="100"/>
                                  </p:stCondLst>
                                  <p:childTnLst>
                                    <p:animMotion origin="layout" path="M -0.0556 -0.00023 L 1.04167E-6 2.59259E-6 " pathEditMode="relative" rAng="0" ptsTypes="AA">
                                      <p:cBhvr>
                                        <p:cTn id="14" dur="300" fill="hold"/>
                                        <p:tgtEl>
                                          <p:spTgt spid="1048972"/>
                                        </p:tgtEl>
                                        <p:attrNameLst>
                                          <p:attrName>ppt_x</p:attrName>
                                          <p:attrName>ppt_y</p:attrName>
                                        </p:attrNameLst>
                                      </p:cBhvr>
                                      <p:rCtr x="2773" y="0"/>
                                    </p:animMotion>
                                  </p:childTnLst>
                                </p:cTn>
                              </p:par>
                              <p:par>
                                <p:cTn id="15" presetID="10" presetClass="entr" presetSubtype="0" fill="hold" grpId="0" nodeType="withEffect">
                                  <p:stCondLst>
                                    <p:cond delay="200"/>
                                  </p:stCondLst>
                                  <p:childTnLst>
                                    <p:set>
                                      <p:cBhvr>
                                        <p:cTn id="16" dur="1" fill="hold">
                                          <p:stCondLst>
                                            <p:cond delay="0"/>
                                          </p:stCondLst>
                                        </p:cTn>
                                        <p:tgtEl>
                                          <p:spTgt spid="1048975"/>
                                        </p:tgtEl>
                                        <p:attrNameLst>
                                          <p:attrName>style.visibility</p:attrName>
                                        </p:attrNameLst>
                                      </p:cBhvr>
                                      <p:to>
                                        <p:strVal val="visible"/>
                                      </p:to>
                                    </p:set>
                                    <p:animEffect transition="in" filter="fade">
                                      <p:cBhvr>
                                        <p:cTn id="17" dur="300"/>
                                        <p:tgtEl>
                                          <p:spTgt spid="1048975"/>
                                        </p:tgtEl>
                                      </p:cBhvr>
                                    </p:animEffect>
                                  </p:childTnLst>
                                </p:cTn>
                              </p:par>
                              <p:par>
                                <p:cTn id="18" presetID="63" presetClass="path" presetSubtype="0" accel="50000" decel="50000" fill="hold" grpId="1" nodeType="withEffect">
                                  <p:stCondLst>
                                    <p:cond delay="200"/>
                                  </p:stCondLst>
                                  <p:childTnLst>
                                    <p:animMotion origin="layout" path="M -0.0556 -0.00023 L 1.04167E-6 2.59259E-6 " pathEditMode="relative" rAng="0" ptsTypes="AA">
                                      <p:cBhvr>
                                        <p:cTn id="19" dur="300" fill="hold"/>
                                        <p:tgtEl>
                                          <p:spTgt spid="1048975"/>
                                        </p:tgtEl>
                                        <p:attrNameLst>
                                          <p:attrName>ppt_x</p:attrName>
                                          <p:attrName>ppt_y</p:attrName>
                                        </p:attrNameLst>
                                      </p:cBhvr>
                                      <p:rCtr x="2773" y="0"/>
                                    </p:animMotion>
                                  </p:childTnLst>
                                </p:cTn>
                              </p:par>
                              <p:par>
                                <p:cTn id="20" presetID="10" presetClass="entr" presetSubtype="0" fill="hold" grpId="0" nodeType="withEffect">
                                  <p:stCondLst>
                                    <p:cond delay="300"/>
                                  </p:stCondLst>
                                  <p:childTnLst>
                                    <p:set>
                                      <p:cBhvr>
                                        <p:cTn id="21" dur="1" fill="hold">
                                          <p:stCondLst>
                                            <p:cond delay="0"/>
                                          </p:stCondLst>
                                        </p:cTn>
                                        <p:tgtEl>
                                          <p:spTgt spid="1048976"/>
                                        </p:tgtEl>
                                        <p:attrNameLst>
                                          <p:attrName>style.visibility</p:attrName>
                                        </p:attrNameLst>
                                      </p:cBhvr>
                                      <p:to>
                                        <p:strVal val="visible"/>
                                      </p:to>
                                    </p:set>
                                    <p:animEffect transition="in" filter="fade">
                                      <p:cBhvr>
                                        <p:cTn id="22" dur="300"/>
                                        <p:tgtEl>
                                          <p:spTgt spid="1048976"/>
                                        </p:tgtEl>
                                      </p:cBhvr>
                                    </p:animEffect>
                                  </p:childTnLst>
                                </p:cTn>
                              </p:par>
                              <p:par>
                                <p:cTn id="23" presetID="63" presetClass="path" presetSubtype="0" accel="50000" decel="50000" fill="hold" grpId="1" nodeType="withEffect">
                                  <p:stCondLst>
                                    <p:cond delay="300"/>
                                  </p:stCondLst>
                                  <p:childTnLst>
                                    <p:animMotion origin="layout" path="M -0.0556 -0.00023 L 1.04167E-6 2.59259E-6 " pathEditMode="relative" rAng="0" ptsTypes="AA">
                                      <p:cBhvr>
                                        <p:cTn id="24" dur="300" fill="hold"/>
                                        <p:tgtEl>
                                          <p:spTgt spid="1048976"/>
                                        </p:tgtEl>
                                        <p:attrNameLst>
                                          <p:attrName>ppt_x</p:attrName>
                                          <p:attrName>ppt_y</p:attrName>
                                        </p:attrNameLst>
                                      </p:cBhvr>
                                      <p:rCtr x="2773" y="0"/>
                                    </p:animMotion>
                                  </p:childTnLst>
                                </p:cTn>
                              </p:par>
                              <p:par>
                                <p:cTn id="25" presetID="10" presetClass="entr" presetSubtype="0" fill="hold" nodeType="withEffect">
                                  <p:stCondLst>
                                    <p:cond delay="600"/>
                                  </p:stCondLst>
                                  <p:childTnLst>
                                    <p:set>
                                      <p:cBhvr>
                                        <p:cTn id="26" dur="1" fill="hold">
                                          <p:stCondLst>
                                            <p:cond delay="0"/>
                                          </p:stCondLst>
                                        </p:cTn>
                                        <p:tgtEl>
                                          <p:spTgt spid="146"/>
                                        </p:tgtEl>
                                        <p:attrNameLst>
                                          <p:attrName>style.visibility</p:attrName>
                                        </p:attrNameLst>
                                      </p:cBhvr>
                                      <p:to>
                                        <p:strVal val="visible"/>
                                      </p:to>
                                    </p:set>
                                    <p:animEffect transition="in" filter="fade">
                                      <p:cBhvr>
                                        <p:cTn id="27" dur="300"/>
                                        <p:tgtEl>
                                          <p:spTgt spid="146"/>
                                        </p:tgtEl>
                                      </p:cBhvr>
                                    </p:animEffect>
                                  </p:childTnLst>
                                </p:cTn>
                              </p:par>
                              <p:par>
                                <p:cTn id="28" presetID="10" presetClass="entr" presetSubtype="0" fill="hold" grpId="0" nodeType="withEffect">
                                  <p:stCondLst>
                                    <p:cond delay="400"/>
                                  </p:stCondLst>
                                  <p:childTnLst>
                                    <p:set>
                                      <p:cBhvr>
                                        <p:cTn id="29" dur="1" fill="hold">
                                          <p:stCondLst>
                                            <p:cond delay="0"/>
                                          </p:stCondLst>
                                        </p:cTn>
                                        <p:tgtEl>
                                          <p:spTgt spid="1048977"/>
                                        </p:tgtEl>
                                        <p:attrNameLst>
                                          <p:attrName>style.visibility</p:attrName>
                                        </p:attrNameLst>
                                      </p:cBhvr>
                                      <p:to>
                                        <p:strVal val="visible"/>
                                      </p:to>
                                    </p:set>
                                    <p:animEffect transition="in" filter="fade">
                                      <p:cBhvr>
                                        <p:cTn id="30" dur="300"/>
                                        <p:tgtEl>
                                          <p:spTgt spid="1048977"/>
                                        </p:tgtEl>
                                      </p:cBhvr>
                                    </p:animEffect>
                                  </p:childTnLst>
                                </p:cTn>
                              </p:par>
                              <p:par>
                                <p:cTn id="31" presetID="63" presetClass="path" presetSubtype="0" accel="50000" decel="50000" fill="hold" grpId="1" nodeType="withEffect">
                                  <p:stCondLst>
                                    <p:cond delay="400"/>
                                  </p:stCondLst>
                                  <p:childTnLst>
                                    <p:animMotion origin="layout" path="M -0.0556 -0.00023 L 1.04167E-6 2.59259E-6 " pathEditMode="relative" rAng="0" ptsTypes="AA">
                                      <p:cBhvr>
                                        <p:cTn id="32" dur="300" fill="hold"/>
                                        <p:tgtEl>
                                          <p:spTgt spid="1048977"/>
                                        </p:tgtEl>
                                        <p:attrNameLst>
                                          <p:attrName>ppt_x</p:attrName>
                                          <p:attrName>ppt_y</p:attrName>
                                        </p:attrNameLst>
                                      </p:cBhvr>
                                      <p:rCtr x="277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71" grpId="0"/>
      <p:bldP spid="1048971" grpId="1"/>
      <p:bldP spid="1048972" grpId="0">
        <p:tmplLst>
          <p:tmpl lvl="0">
            <p:tnLst>
              <p:par>
                <p:cTn presetID="10" presetClass="entr" presetSubtype="0" fill="hold" nodeType="withEffect">
                  <p:stCondLst>
                    <p:cond delay="100"/>
                  </p:stCondLst>
                  <p:childTnLst>
                    <p:set>
                      <p:cBhvr>
                        <p:cTn dur="1" fill="hold">
                          <p:stCondLst>
                            <p:cond delay="0"/>
                          </p:stCondLst>
                        </p:cTn>
                        <p:tgtEl>
                          <p:spTgt spid="1048972"/>
                        </p:tgtEl>
                        <p:attrNameLst>
                          <p:attrName>style.visibility</p:attrName>
                        </p:attrNameLst>
                      </p:cBhvr>
                      <p:to>
                        <p:strVal val="visible"/>
                      </p:to>
                    </p:set>
                    <p:animEffect transition="in" filter="fade">
                      <p:cBhvr>
                        <p:cTn dur="300"/>
                        <p:tgtEl>
                          <p:spTgt spid="1048972"/>
                        </p:tgtEl>
                      </p:cBhvr>
                    </p:animEffect>
                  </p:childTnLst>
                </p:cTn>
              </p:par>
            </p:tnLst>
          </p:tmpl>
        </p:tmplLst>
      </p:bldP>
      <p:bldP spid="1048972" grpId="1">
        <p:tmplLst>
          <p:tmpl lvl="0">
            <p:tnLst>
              <p:par>
                <p:cTn presetID="63" presetClass="path" presetSubtype="0" accel="50000" decel="50000" fill="hold" nodeType="withEffect">
                  <p:stCondLst>
                    <p:cond delay="100"/>
                  </p:stCondLst>
                  <p:childTnLst>
                    <p:animMotion origin="layout" path="M -0.0556 -0.00023 L 1.04167E-6 2.59259E-6 " pathEditMode="relative" rAng="0" ptsTypes="AA">
                      <p:cBhvr>
                        <p:cTn dur="300" fill="hold"/>
                        <p:tgtEl>
                          <p:spTgt spid="1048972"/>
                        </p:tgtEl>
                        <p:attrNameLst>
                          <p:attrName>ppt_x</p:attrName>
                          <p:attrName>ppt_y</p:attrName>
                        </p:attrNameLst>
                      </p:cBhvr>
                      <p:rCtr x="2773" y="0"/>
                    </p:animMotion>
                  </p:childTnLst>
                </p:cTn>
              </p:par>
            </p:tnLst>
          </p:tmpl>
        </p:tmplLst>
      </p:bldP>
      <p:bldP spid="1048975" grpId="0">
        <p:tmplLst>
          <p:tmpl lvl="0">
            <p:tnLst>
              <p:par>
                <p:cTn presetID="10" presetClass="entr" presetSubtype="0" fill="hold" nodeType="withEffect">
                  <p:stCondLst>
                    <p:cond delay="200"/>
                  </p:stCondLst>
                  <p:childTnLst>
                    <p:set>
                      <p:cBhvr>
                        <p:cTn dur="1" fill="hold">
                          <p:stCondLst>
                            <p:cond delay="0"/>
                          </p:stCondLst>
                        </p:cTn>
                        <p:tgtEl>
                          <p:spTgt spid="1048975"/>
                        </p:tgtEl>
                        <p:attrNameLst>
                          <p:attrName>style.visibility</p:attrName>
                        </p:attrNameLst>
                      </p:cBhvr>
                      <p:to>
                        <p:strVal val="visible"/>
                      </p:to>
                    </p:set>
                    <p:animEffect transition="in" filter="fade">
                      <p:cBhvr>
                        <p:cTn dur="300"/>
                        <p:tgtEl>
                          <p:spTgt spid="1048975"/>
                        </p:tgtEl>
                      </p:cBhvr>
                    </p:animEffect>
                  </p:childTnLst>
                </p:cTn>
              </p:par>
            </p:tnLst>
          </p:tmpl>
        </p:tmplLst>
      </p:bldP>
      <p:bldP spid="1048975" grpId="1">
        <p:tmplLst>
          <p:tmpl lvl="0">
            <p:tnLst>
              <p:par>
                <p:cTn presetID="63" presetClass="path" presetSubtype="0" accel="50000" decel="50000" fill="hold" nodeType="withEffect">
                  <p:stCondLst>
                    <p:cond delay="200"/>
                  </p:stCondLst>
                  <p:childTnLst>
                    <p:animMotion origin="layout" path="M -0.0556 -0.00023 L 1.04167E-6 2.59259E-6 " pathEditMode="relative" rAng="0" ptsTypes="AA">
                      <p:cBhvr>
                        <p:cTn dur="300" fill="hold"/>
                        <p:tgtEl>
                          <p:spTgt spid="1048975"/>
                        </p:tgtEl>
                        <p:attrNameLst>
                          <p:attrName>ppt_x</p:attrName>
                          <p:attrName>ppt_y</p:attrName>
                        </p:attrNameLst>
                      </p:cBhvr>
                      <p:rCtr x="2773" y="0"/>
                    </p:animMotion>
                  </p:childTnLst>
                </p:cTn>
              </p:par>
            </p:tnLst>
          </p:tmpl>
        </p:tmplLst>
      </p:bldP>
      <p:bldP spid="1048976" grpId="0">
        <p:tmplLst>
          <p:tmpl lvl="0">
            <p:tnLst>
              <p:par>
                <p:cTn presetID="10" presetClass="entr" presetSubtype="0" fill="hold" nodeType="withEffect">
                  <p:stCondLst>
                    <p:cond delay="300"/>
                  </p:stCondLst>
                  <p:childTnLst>
                    <p:set>
                      <p:cBhvr>
                        <p:cTn dur="1" fill="hold">
                          <p:stCondLst>
                            <p:cond delay="0"/>
                          </p:stCondLst>
                        </p:cTn>
                        <p:tgtEl>
                          <p:spTgt spid="1048976"/>
                        </p:tgtEl>
                        <p:attrNameLst>
                          <p:attrName>style.visibility</p:attrName>
                        </p:attrNameLst>
                      </p:cBhvr>
                      <p:to>
                        <p:strVal val="visible"/>
                      </p:to>
                    </p:set>
                    <p:animEffect transition="in" filter="fade">
                      <p:cBhvr>
                        <p:cTn dur="300"/>
                        <p:tgtEl>
                          <p:spTgt spid="1048976"/>
                        </p:tgtEl>
                      </p:cBhvr>
                    </p:animEffect>
                  </p:childTnLst>
                </p:cTn>
              </p:par>
            </p:tnLst>
          </p:tmpl>
        </p:tmplLst>
      </p:bldP>
      <p:bldP spid="1048976" grpId="1">
        <p:tmplLst>
          <p:tmpl lvl="0">
            <p:tnLst>
              <p:par>
                <p:cTn presetID="63" presetClass="path" presetSubtype="0" accel="50000" decel="50000" fill="hold" nodeType="withEffect">
                  <p:stCondLst>
                    <p:cond delay="300"/>
                  </p:stCondLst>
                  <p:childTnLst>
                    <p:animMotion origin="layout" path="M -0.0556 -0.00023 L 1.04167E-6 2.59259E-6 " pathEditMode="relative" rAng="0" ptsTypes="AA">
                      <p:cBhvr>
                        <p:cTn dur="300" fill="hold"/>
                        <p:tgtEl>
                          <p:spTgt spid="1048976"/>
                        </p:tgtEl>
                        <p:attrNameLst>
                          <p:attrName>ppt_x</p:attrName>
                          <p:attrName>ppt_y</p:attrName>
                        </p:attrNameLst>
                      </p:cBhvr>
                      <p:rCtr x="2773" y="0"/>
                    </p:animMotion>
                  </p:childTnLst>
                </p:cTn>
              </p:par>
            </p:tnLst>
          </p:tmpl>
        </p:tmplLst>
      </p:bldP>
      <p:bldP spid="1048977" grpId="0"/>
      <p:bldP spid="1048977" grpId="1"/>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p>
            <a:r>
              <a:rPr lang="zh-CN" altLang="en-US"/>
              <a:t>单击此处编辑母版标题样式</a:t>
            </a:r>
            <a:endParaRPr lang="zh-CN" altLang="en-US"/>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578"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2A388A-1B01-424B-B3F5-B2A58CD1E139}" type="datetimeFigureOut">
              <a:rPr lang="zh-CN" altLang="en-US" smtClean="0"/>
            </a:fld>
            <a:endParaRPr lang="zh-CN" altLang="en-US"/>
          </a:p>
        </p:txBody>
      </p:sp>
      <p:sp>
        <p:nvSpPr>
          <p:cNvPr id="1048579"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048580"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9FAE15-0E22-46CE-8AA1-4BC4E10EB78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3.xml"/><Relationship Id="rId2" Type="http://schemas.openxmlformats.org/officeDocument/2006/relationships/image" Target="../media/image14.jpeg"/><Relationship Id="rId1"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23.png"/><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0" Type="http://schemas.openxmlformats.org/officeDocument/2006/relationships/notesSlide" Target="../notesSlides/notesSlide7.xml"/><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image" Target="../media/image27.png"/><Relationship Id="rId7" Type="http://schemas.openxmlformats.org/officeDocument/2006/relationships/image" Target="../media/image26.png"/><Relationship Id="rId6" Type="http://schemas.microsoft.com/office/2007/relationships/media" Target="../media/audio2.wav"/><Relationship Id="rId5" Type="http://schemas.openxmlformats.org/officeDocument/2006/relationships/audio" Target="../media/audio2.wav"/><Relationship Id="rId4" Type="http://schemas.openxmlformats.org/officeDocument/2006/relationships/image" Target="../media/image25.png"/><Relationship Id="rId3" Type="http://schemas.microsoft.com/office/2007/relationships/media" Target="../media/audio1.wav"/><Relationship Id="rId2" Type="http://schemas.openxmlformats.org/officeDocument/2006/relationships/audio" Target="../media/audio1.wav"/><Relationship Id="rId16" Type="http://schemas.openxmlformats.org/officeDocument/2006/relationships/notesSlide" Target="../notesSlides/notesSlide8.xml"/><Relationship Id="rId15" Type="http://schemas.openxmlformats.org/officeDocument/2006/relationships/slideLayout" Target="../slideLayouts/slideLayout13.xml"/><Relationship Id="rId14" Type="http://schemas.openxmlformats.org/officeDocument/2006/relationships/tags" Target="../tags/tag4.xml"/><Relationship Id="rId13" Type="http://schemas.openxmlformats.org/officeDocument/2006/relationships/tags" Target="../tags/tag3.xml"/><Relationship Id="rId12" Type="http://schemas.openxmlformats.org/officeDocument/2006/relationships/tags" Target="../tags/tag2.xml"/><Relationship Id="rId11" Type="http://schemas.openxmlformats.org/officeDocument/2006/relationships/tags" Target="../tags/tag1.xml"/><Relationship Id="rId10" Type="http://schemas.openxmlformats.org/officeDocument/2006/relationships/image" Target="../media/image29.png"/><Relationship Id="rId1" Type="http://schemas.openxmlformats.org/officeDocument/2006/relationships/image" Target="../media/image24.pn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3.xml"/><Relationship Id="rId7" Type="http://schemas.openxmlformats.org/officeDocument/2006/relationships/image" Target="../media/image36.png"/><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3.xml"/><Relationship Id="rId3" Type="http://schemas.openxmlformats.org/officeDocument/2006/relationships/image" Target="../media/image38.png"/><Relationship Id="rId2" Type="http://schemas.openxmlformats.org/officeDocument/2006/relationships/image" Target="../media/image26.png"/><Relationship Id="rId1" Type="http://schemas.openxmlformats.org/officeDocument/2006/relationships/image" Target="../media/image37.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3.xml"/><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3.xml"/><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55.png"/><Relationship Id="rId7" Type="http://schemas.openxmlformats.org/officeDocument/2006/relationships/image" Target="../media/image54.png"/><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0" Type="http://schemas.openxmlformats.org/officeDocument/2006/relationships/notesSlide" Target="../notesSlides/notesSlide13.xml"/><Relationship Id="rId1" Type="http://schemas.openxmlformats.org/officeDocument/2006/relationships/image" Target="../media/image48.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3.xml"/><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3.xml"/><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image" Target="../media/image63.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3.xml"/><Relationship Id="rId4" Type="http://schemas.openxmlformats.org/officeDocument/2006/relationships/image" Target="../media/image67.jpeg"/><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image" Target="../media/image64.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3.xml"/><Relationship Id="rId2" Type="http://schemas.openxmlformats.org/officeDocument/2006/relationships/image" Target="../media/image69.png"/><Relationship Id="rId1" Type="http://schemas.openxmlformats.org/officeDocument/2006/relationships/image" Target="../media/image68.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3.xml"/><Relationship Id="rId2" Type="http://schemas.openxmlformats.org/officeDocument/2006/relationships/image" Target="../media/image71.png"/><Relationship Id="rId1" Type="http://schemas.openxmlformats.org/officeDocument/2006/relationships/image" Target="../media/image70.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3.xml"/><Relationship Id="rId4" Type="http://schemas.openxmlformats.org/officeDocument/2006/relationships/image" Target="../media/image75.jpeg"/><Relationship Id="rId3" Type="http://schemas.openxmlformats.org/officeDocument/2006/relationships/image" Target="../media/image74.jpeg"/><Relationship Id="rId2" Type="http://schemas.openxmlformats.org/officeDocument/2006/relationships/image" Target="../media/image73.jpeg"/><Relationship Id="rId1" Type="http://schemas.openxmlformats.org/officeDocument/2006/relationships/image" Target="../media/image72.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28.png"/><Relationship Id="rId7" Type="http://schemas.openxmlformats.org/officeDocument/2006/relationships/image" Target="../media/image82.png"/><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 Id="rId3" Type="http://schemas.openxmlformats.org/officeDocument/2006/relationships/image" Target="../media/image78.png"/><Relationship Id="rId2" Type="http://schemas.openxmlformats.org/officeDocument/2006/relationships/image" Target="../media/image77.png"/><Relationship Id="rId11" Type="http://schemas.openxmlformats.org/officeDocument/2006/relationships/notesSlide" Target="../notesSlides/notesSlide25.xml"/><Relationship Id="rId10" Type="http://schemas.openxmlformats.org/officeDocument/2006/relationships/slideLayout" Target="../slideLayouts/slideLayout13.xml"/><Relationship Id="rId1" Type="http://schemas.openxmlformats.org/officeDocument/2006/relationships/image" Target="../media/image7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image" Target="../media/image83.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3.xml"/><Relationship Id="rId2" Type="http://schemas.openxmlformats.org/officeDocument/2006/relationships/image" Target="../media/image85.png"/><Relationship Id="rId1" Type="http://schemas.openxmlformats.org/officeDocument/2006/relationships/image" Target="../media/image84.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3.xml"/><Relationship Id="rId2" Type="http://schemas.openxmlformats.org/officeDocument/2006/relationships/image" Target="../media/image87.png"/><Relationship Id="rId1" Type="http://schemas.openxmlformats.org/officeDocument/2006/relationships/image" Target="../media/image8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sp>
        <p:nvSpPr>
          <p:cNvPr id="1048735" name="标题 1"/>
          <p:cNvSpPr>
            <a:spLocks noGrp="1"/>
          </p:cNvSpPr>
          <p:nvPr>
            <p:ph type="title"/>
          </p:nvPr>
        </p:nvSpPr>
        <p:spPr>
          <a:xfrm>
            <a:off x="633095" y="2493010"/>
            <a:ext cx="8145145" cy="1015365"/>
          </a:xfrm>
        </p:spPr>
        <p:txBody>
          <a:bodyPr/>
          <a:p>
            <a:r>
              <a:rPr lang="zh-CN" altLang="en-US" sz="3200" dirty="0"/>
              <a:t>CSS: Built-in Channel State Scrambling for Secure</a:t>
            </a:r>
            <a:r>
              <a:rPr lang="en-US" altLang="zh-CN" sz="3200" dirty="0"/>
              <a:t> </a:t>
            </a:r>
            <a:r>
              <a:rPr lang="zh-CN" altLang="en-US" sz="3200" dirty="0"/>
              <a:t>Wi-Fi based Sensing</a:t>
            </a:r>
            <a:br>
              <a:rPr lang="zh-CN" altLang="en-US" sz="3200" dirty="0"/>
            </a:br>
            <a:endParaRPr lang="zh-CN" altLang="en-US" sz="3200" dirty="0"/>
          </a:p>
        </p:txBody>
      </p:sp>
      <p:sp>
        <p:nvSpPr>
          <p:cNvPr id="1048736" name="文本占位符 3"/>
          <p:cNvSpPr>
            <a:spLocks noGrp="1"/>
          </p:cNvSpPr>
          <p:nvPr>
            <p:ph type="body" sz="quarter" idx="14"/>
          </p:nvPr>
        </p:nvSpPr>
        <p:spPr>
          <a:xfrm>
            <a:off x="891684" y="4459315"/>
            <a:ext cx="4495050" cy="368300"/>
          </a:xfrm>
        </p:spPr>
        <p:txBody>
          <a:bodyPr/>
          <a:p>
            <a:pPr algn="l"/>
            <a:r>
              <a:rPr lang="en-US" altLang="zh-CN" sz="2000" dirty="0" smtClean="0">
                <a:solidFill>
                  <a:schemeClr val="tx1"/>
                </a:solidFill>
              </a:rPr>
              <a:t>Xiao Deng</a:t>
            </a:r>
            <a:endParaRPr lang="en-US" altLang="zh-CN" sz="2000" dirty="0">
              <a:solidFill>
                <a:schemeClr val="tx1"/>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41" name="文本占位符 1"/>
          <p:cNvSpPr>
            <a:spLocks noGrp="1"/>
          </p:cNvSpPr>
          <p:nvPr>
            <p:ph type="body" sz="quarter" idx="12"/>
          </p:nvPr>
        </p:nvSpPr>
        <p:spPr/>
        <p:txBody>
          <a:bodyPr/>
          <a:p>
            <a:r>
              <a:rPr lang="en-US" altLang="zh-CN" dirty="0"/>
              <a:t>0</a:t>
            </a:r>
            <a:endParaRPr lang="zh-CN" altLang="en-US" dirty="0"/>
          </a:p>
        </p:txBody>
      </p:sp>
      <p:sp>
        <p:nvSpPr>
          <p:cNvPr id="1048642" name="文本占位符 2"/>
          <p:cNvSpPr>
            <a:spLocks noGrp="1"/>
          </p:cNvSpPr>
          <p:nvPr>
            <p:ph type="body" sz="quarter" idx="13"/>
          </p:nvPr>
        </p:nvSpPr>
        <p:spPr/>
        <p:txBody>
          <a:bodyPr/>
          <a:p>
            <a:r>
              <a:rPr lang="en-US" altLang="zh-CN" dirty="0">
                <a:latin typeface="DengXian" panose="02010600030101010101" pitchFamily="2" charset="-122"/>
                <a:sym typeface="DengXian" panose="02010600030101010101" pitchFamily="2" charset="-122"/>
              </a:rPr>
              <a:t>content</a:t>
            </a:r>
            <a:r>
              <a:rPr lang="en-US" altLang="zh-CN" dirty="0">
                <a:latin typeface="DengXian" panose="02010600030101010101" pitchFamily="2" charset="-122"/>
                <a:sym typeface="DengXian" panose="02010600030101010101" pitchFamily="2" charset="-122"/>
              </a:rPr>
              <a:t>s</a:t>
            </a:r>
            <a:endParaRPr lang="en-US" altLang="zh-CN" dirty="0">
              <a:latin typeface="DengXian" panose="02010600030101010101" pitchFamily="2" charset="-122"/>
              <a:sym typeface="DengXian" panose="02010600030101010101" pitchFamily="2" charset="-122"/>
            </a:endParaRPr>
          </a:p>
        </p:txBody>
      </p:sp>
      <p:sp>
        <p:nvSpPr>
          <p:cNvPr id="1048643" name="文本框 5"/>
          <p:cNvSpPr txBox="1"/>
          <p:nvPr/>
        </p:nvSpPr>
        <p:spPr>
          <a:xfrm>
            <a:off x="816623" y="1605808"/>
            <a:ext cx="8534523" cy="37846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nSpc>
                <a:spcPct val="200000"/>
              </a:lnSpc>
              <a:buFont typeface="Wingdings" panose="05000000000000000000" pitchFamily="2" charset="2"/>
              <a:buChar char="q"/>
            </a:pPr>
            <a:r>
              <a:rPr lang="zh-CN" altLang="en-US" sz="30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Background</a:t>
            </a:r>
            <a:endParaRPr lang="zh-CN" altLang="en-US" sz="30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a:p>
            <a:pPr marL="457200" indent="-457200">
              <a:lnSpc>
                <a:spcPct val="200000"/>
              </a:lnSpc>
              <a:buFont typeface="Wingdings" panose="05000000000000000000" pitchFamily="2" charset="2"/>
              <a:buChar char="q"/>
            </a:pPr>
            <a:r>
              <a:rPr lang="en-US" altLang="zh-CN" sz="30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Solution</a:t>
            </a:r>
            <a:endParaRPr lang="en-US" altLang="zh-CN" sz="30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a:p>
            <a:pPr marL="457200" indent="-457200">
              <a:lnSpc>
                <a:spcPct val="200000"/>
              </a:lnSpc>
              <a:buFont typeface="Wingdings" panose="05000000000000000000" pitchFamily="2" charset="2"/>
              <a:buChar char="q"/>
            </a:pPr>
            <a:r>
              <a:rPr lang="en-US" altLang="zh-CN" sz="30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Experiment	</a:t>
            </a:r>
            <a:endParaRPr lang="en-US" altLang="zh-CN" sz="30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a:p>
            <a:pPr marL="457200" indent="-457200">
              <a:lnSpc>
                <a:spcPct val="200000"/>
              </a:lnSpc>
              <a:buFont typeface="Wingdings" panose="05000000000000000000" pitchFamily="2" charset="2"/>
              <a:buChar char="q"/>
            </a:pPr>
            <a:r>
              <a:rPr lang="en-US" altLang="zh-CN" sz="30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Conclusions</a:t>
            </a:r>
            <a:endParaRPr lang="en-US" altLang="zh-CN" sz="30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sp>
        <p:nvSpPr>
          <p:cNvPr id="1048644" name="文本占位符 3"/>
          <p:cNvSpPr txBox="1"/>
          <p:nvPr/>
        </p:nvSpPr>
        <p:spPr>
          <a:xfrm>
            <a:off x="5911850" y="6453505"/>
            <a:ext cx="1050290" cy="40449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1/23</a:t>
            </a:r>
            <a:endParaRPr lang="en-US" altLang="zh-CN" sz="20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16" name="文本占位符 1"/>
          <p:cNvSpPr>
            <a:spLocks noGrp="1"/>
          </p:cNvSpPr>
          <p:nvPr>
            <p:ph type="body" sz="quarter" idx="12"/>
          </p:nvPr>
        </p:nvSpPr>
        <p:spPr>
          <a:xfrm>
            <a:off x="218106" y="81066"/>
            <a:ext cx="410545" cy="401955"/>
          </a:xfrm>
        </p:spPr>
        <p:txBody>
          <a:bodyPr/>
          <a:p>
            <a:r>
              <a:rPr lang="en-US" altLang="zh-CN" dirty="0"/>
              <a:t>1</a:t>
            </a:r>
            <a:endParaRPr lang="zh-CN" altLang="en-US" dirty="0"/>
          </a:p>
        </p:txBody>
      </p:sp>
      <p:sp>
        <p:nvSpPr>
          <p:cNvPr id="1048617" name="文本占位符 2"/>
          <p:cNvSpPr>
            <a:spLocks noGrp="1"/>
          </p:cNvSpPr>
          <p:nvPr>
            <p:ph type="body" sz="quarter" idx="13"/>
          </p:nvPr>
        </p:nvSpPr>
        <p:spPr/>
        <p:txBody>
          <a:bodyPr/>
          <a:p>
            <a:r>
              <a:rPr lang="zh-CN" altLang="en-US" kern="0" dirty="0">
                <a:ea typeface="楷体" panose="02010609060101010101" pitchFamily="49" charset="-122"/>
                <a:sym typeface="DengXian" panose="02010600030101010101" pitchFamily="2" charset="-122"/>
              </a:rPr>
              <a:t>研究背景和动机</a:t>
            </a:r>
            <a:endParaRPr lang="zh-CN" altLang="en-US" kern="0" dirty="0">
              <a:ea typeface="楷体" panose="02010609060101010101" pitchFamily="49" charset="-122"/>
              <a:sym typeface="DengXian" panose="02010600030101010101" pitchFamily="2" charset="-122"/>
            </a:endParaRPr>
          </a:p>
        </p:txBody>
      </p:sp>
      <p:sp>
        <p:nvSpPr>
          <p:cNvPr id="1048618" name="文本框 6"/>
          <p:cNvSpPr txBox="1"/>
          <p:nvPr/>
        </p:nvSpPr>
        <p:spPr>
          <a:xfrm>
            <a:off x="423378" y="687372"/>
            <a:ext cx="11064429" cy="1687830"/>
          </a:xfrm>
          <a:prstGeom prst="rect">
            <a:avLst/>
          </a:prstGeom>
          <a:noFill/>
        </p:spPr>
        <p:txBody>
          <a:bodyPr wrap="square" rtlCol="0">
            <a:spAutoFit/>
          </a:bodyPr>
          <a:p>
            <a:pPr>
              <a:lnSpc>
                <a:spcPct val="150000"/>
              </a:lnSpc>
            </a:pPr>
            <a:r>
              <a:rPr lang="en-US" altLang="zh-CN"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Background</a:t>
            </a:r>
            <a:endParaRPr lang="en-US" altLang="zh-CN"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a:p>
            <a:pPr>
              <a:lnSpc>
                <a:spcPct val="150000"/>
              </a:lnSpc>
            </a:pPr>
            <a:endParaRPr lang="en-US" altLang="zh-CN" sz="100" dirty="0" smtClean="0">
              <a:latin typeface="DengXian" panose="02010600030101010101" pitchFamily="2" charset="-122"/>
              <a:ea typeface="微软雅黑" panose="020B0503020204020204" pitchFamily="34" charset="-122"/>
              <a:sym typeface="DengXian" panose="02010600030101010101" pitchFamily="2" charset="-122"/>
            </a:endParaRPr>
          </a:p>
          <a:p>
            <a:pPr lvl="1" indent="0" fontAlgn="auto">
              <a:lnSpc>
                <a:spcPct val="120000"/>
              </a:lnSpc>
            </a:pPr>
            <a:r>
              <a:rPr dirty="0">
                <a:solidFill>
                  <a:schemeClr val="tx1">
                    <a:lumMod val="85000"/>
                    <a:lumOff val="15000"/>
                  </a:schemeClr>
                </a:solidFill>
                <a:latin typeface="Arial Regular" panose="020B0604020202090204" charset="0"/>
                <a:ea typeface="思源黑体 CN Normal" panose="020B0400000000000000" pitchFamily="34" charset="-122"/>
                <a:cs typeface="Arial Regular" panose="020B0604020202090204" charset="0"/>
                <a:sym typeface="DengXian" panose="02010600030101010101" pitchFamily="2" charset="-122"/>
              </a:rPr>
              <a:t>Wi-Fi signals can be used for environmental perception.</a:t>
            </a:r>
            <a:r>
              <a:rPr lang="en-US" dirty="0">
                <a:solidFill>
                  <a:schemeClr val="tx1">
                    <a:lumMod val="85000"/>
                    <a:lumOff val="15000"/>
                  </a:schemeClr>
                </a:solidFill>
                <a:latin typeface="Arial Regular" panose="020B0604020202090204" charset="0"/>
                <a:ea typeface="思源黑体 CN Normal" panose="020B0400000000000000" pitchFamily="34" charset="-122"/>
                <a:cs typeface="Arial Regular" panose="020B0604020202090204" charset="0"/>
                <a:sym typeface="DengXian" panose="02010600030101010101" pitchFamily="2" charset="-122"/>
              </a:rPr>
              <a:t> </a:t>
            </a:r>
            <a:r>
              <a:rPr dirty="0">
                <a:solidFill>
                  <a:schemeClr val="tx1">
                    <a:lumMod val="85000"/>
                    <a:lumOff val="15000"/>
                  </a:schemeClr>
                </a:solidFill>
                <a:latin typeface="Arial Regular" panose="020B0604020202090204" charset="0"/>
                <a:ea typeface="思源黑体 CN Normal" panose="020B0400000000000000" pitchFamily="34" charset="-122"/>
                <a:cs typeface="Arial Regular" panose="020B0604020202090204" charset="0"/>
                <a:sym typeface="DengXian" panose="02010600030101010101" pitchFamily="2" charset="-122"/>
              </a:rPr>
              <a:t>This is because wireless signals are affected by moving objects in space, and the channel state measured by the receiver over time carries information reflecting environmental characteristics.</a:t>
            </a:r>
            <a:endParaRPr dirty="0">
              <a:solidFill>
                <a:schemeClr val="tx1">
                  <a:lumMod val="85000"/>
                  <a:lumOff val="15000"/>
                </a:schemeClr>
              </a:solidFill>
              <a:latin typeface="Arial Regular" panose="020B0604020202090204" charset="0"/>
              <a:ea typeface="思源黑体 CN Normal" panose="020B0400000000000000" pitchFamily="34" charset="-122"/>
              <a:cs typeface="Arial Regular" panose="020B0604020202090204" charset="0"/>
              <a:sym typeface="DengXian" panose="02010600030101010101" pitchFamily="2" charset="-122"/>
            </a:endParaRPr>
          </a:p>
        </p:txBody>
      </p:sp>
      <p:pic>
        <p:nvPicPr>
          <p:cNvPr id="2097163" name="内容占位符 3"/>
          <p:cNvPicPr/>
          <p:nvPr/>
        </p:nvPicPr>
        <p:blipFill>
          <a:blip r:embed="rId1"/>
          <a:stretch>
            <a:fillRect/>
          </a:stretch>
        </p:blipFill>
        <p:spPr>
          <a:xfrm>
            <a:off x="423378" y="2626364"/>
            <a:ext cx="4545106" cy="3678470"/>
          </a:xfrm>
          <a:prstGeom prst="rect">
            <a:avLst/>
          </a:prstGeom>
        </p:spPr>
      </p:pic>
      <p:sp>
        <p:nvSpPr>
          <p:cNvPr id="1048620" name="文本占位符 3"/>
          <p:cNvSpPr txBox="1"/>
          <p:nvPr/>
        </p:nvSpPr>
        <p:spPr>
          <a:xfrm>
            <a:off x="5911850" y="6453505"/>
            <a:ext cx="944880" cy="40449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2/23</a:t>
            </a:r>
            <a:endParaRPr lang="en-US" altLang="zh-CN" sz="2000" dirty="0"/>
          </a:p>
        </p:txBody>
      </p:sp>
      <p:grpSp>
        <p:nvGrpSpPr>
          <p:cNvPr id="56" name="组合 5"/>
          <p:cNvGrpSpPr/>
          <p:nvPr/>
        </p:nvGrpSpPr>
        <p:grpSpPr>
          <a:xfrm>
            <a:off x="4323644" y="65006"/>
            <a:ext cx="6410960" cy="716915"/>
            <a:chOff x="3330222" y="76294"/>
            <a:chExt cx="6410960" cy="716915"/>
          </a:xfrm>
        </p:grpSpPr>
        <p:sp>
          <p:nvSpPr>
            <p:cNvPr id="1048621" name="文本框 4"/>
            <p:cNvSpPr txBox="1"/>
            <p:nvPr/>
          </p:nvSpPr>
          <p:spPr>
            <a:xfrm>
              <a:off x="3330222" y="76294"/>
              <a:ext cx="1612265" cy="368300"/>
            </a:xfrm>
            <a:prstGeom prst="rect">
              <a:avLst/>
            </a:prstGeom>
            <a:noFill/>
          </p:spPr>
          <p:txBody>
            <a:bodyPr wrap="square" rtlCol="0">
              <a:spAutoFit/>
            </a:bodyPr>
            <a:p>
              <a:r>
                <a:rPr lang="en-US" altLang="zh-CN" dirty="0" smtClean="0">
                  <a:solidFill>
                    <a:schemeClr val="bg1"/>
                  </a:solidFill>
                  <a:ea typeface="思源黑体 CN Bold" panose="020B0800000000000000"/>
                </a:rPr>
                <a:t>1.</a:t>
              </a:r>
              <a:r>
                <a:rPr lang="zh-CN" altLang="en-US" dirty="0" smtClean="0">
                  <a:solidFill>
                    <a:schemeClr val="bg1"/>
                  </a:solidFill>
                  <a:ea typeface="思源黑体 CN Bold" panose="020B0800000000000000"/>
                </a:rPr>
                <a:t>背景和动机</a:t>
              </a:r>
              <a:endParaRPr lang="zh-CN" altLang="en-US" dirty="0">
                <a:solidFill>
                  <a:schemeClr val="bg1"/>
                </a:solidFill>
                <a:ea typeface="思源黑体 CN Bold" panose="020B0800000000000000"/>
              </a:endParaRPr>
            </a:p>
          </p:txBody>
        </p:sp>
        <p:sp>
          <p:nvSpPr>
            <p:cNvPr id="1048622" name="文本框 9"/>
            <p:cNvSpPr txBox="1"/>
            <p:nvPr/>
          </p:nvSpPr>
          <p:spPr>
            <a:xfrm>
              <a:off x="4968484" y="76294"/>
              <a:ext cx="1354667" cy="3962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2.</a:t>
              </a:r>
              <a:r>
                <a:rPr lang="zh-CN" altLang="en-US" dirty="0" smtClean="0">
                  <a:solidFill>
                    <a:schemeClr val="bg1">
                      <a:lumMod val="65000"/>
                    </a:schemeClr>
                  </a:solidFill>
                  <a:ea typeface="思源黑体 CN Bold" panose="020B0800000000000000"/>
                </a:rPr>
                <a:t>信道加扰</a:t>
              </a:r>
              <a:endParaRPr lang="zh-CN" altLang="en-US" dirty="0">
                <a:solidFill>
                  <a:schemeClr val="bg1">
                    <a:lumMod val="65000"/>
                  </a:schemeClr>
                </a:solidFill>
                <a:ea typeface="思源黑体 CN Bold" panose="020B0800000000000000"/>
              </a:endParaRPr>
            </a:p>
          </p:txBody>
        </p:sp>
        <p:sp>
          <p:nvSpPr>
            <p:cNvPr id="1048623" name="文本框 10"/>
            <p:cNvSpPr txBox="1"/>
            <p:nvPr/>
          </p:nvSpPr>
          <p:spPr>
            <a:xfrm>
              <a:off x="6349012" y="76294"/>
              <a:ext cx="1653540" cy="716915"/>
            </a:xfrm>
            <a:prstGeom prst="rect">
              <a:avLst/>
            </a:prstGeom>
            <a:noFill/>
          </p:spPr>
          <p:txBody>
            <a:bodyPr wrap="square" rtlCol="0">
              <a:no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8624" name="文本框 12"/>
            <p:cNvSpPr txBox="1"/>
            <p:nvPr/>
          </p:nvSpPr>
          <p:spPr>
            <a:xfrm>
              <a:off x="8024142" y="92804"/>
              <a:ext cx="1717040" cy="700405"/>
            </a:xfrm>
            <a:prstGeom prst="rect">
              <a:avLst/>
            </a:prstGeom>
            <a:noFill/>
          </p:spPr>
          <p:txBody>
            <a:bodyPr wrap="square" rtlCol="0">
              <a:noAutofit/>
            </a:bodyPr>
            <a:p>
              <a:r>
                <a:rPr lang="en-US" altLang="zh-CN" dirty="0" smtClean="0">
                  <a:solidFill>
                    <a:schemeClr val="bg1">
                      <a:lumMod val="65000"/>
                    </a:schemeClr>
                  </a:solidFill>
                  <a:ea typeface="思源黑体 CN Bold" panose="020B0800000000000000"/>
                </a:rPr>
                <a:t>4</a:t>
              </a:r>
              <a:r>
                <a:rPr lang="en-US" altLang="zh-CN" dirty="0" smtClean="0">
                  <a:solidFill>
                    <a:schemeClr val="bg1">
                      <a:lumMod val="65000"/>
                    </a:schemeClr>
                  </a:solidFill>
                  <a:ea typeface="思源黑体 CN Bold" panose="020B0800000000000000"/>
                </a:rPr>
                <a:t>.</a:t>
              </a:r>
              <a:r>
                <a:rPr lang="zh-CN" altLang="en-US" dirty="0" smtClean="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p:sp>
        <p:nvSpPr>
          <p:cNvPr id="2" name="文本框 1"/>
          <p:cNvSpPr txBox="1"/>
          <p:nvPr/>
        </p:nvSpPr>
        <p:spPr>
          <a:xfrm>
            <a:off x="7724140" y="2924175"/>
            <a:ext cx="3655695" cy="1476375"/>
          </a:xfrm>
          <a:prstGeom prst="rect">
            <a:avLst/>
          </a:prstGeom>
          <a:noFill/>
        </p:spPr>
        <p:txBody>
          <a:bodyPr wrap="square" rtlCol="0">
            <a:spAutoFit/>
          </a:bodyPr>
          <a:p>
            <a:pPr marL="285750" indent="-285750">
              <a:buFont typeface="Arial" panose="020B0604020202090204" pitchFamily="34" charset="0"/>
              <a:buChar char="•"/>
            </a:pPr>
            <a:r>
              <a:rPr dirty="0">
                <a:solidFill>
                  <a:schemeClr val="tx1">
                    <a:lumMod val="85000"/>
                    <a:lumOff val="15000"/>
                  </a:schemeClr>
                </a:solidFill>
                <a:latin typeface="Arial Regular" panose="020B0604020202090204" charset="0"/>
                <a:ea typeface="思源黑体 CN Normal" panose="020B0400000000000000" pitchFamily="34" charset="-122"/>
                <a:cs typeface="Arial Regular" panose="020B0604020202090204" charset="0"/>
              </a:rPr>
              <a:t>Human Activity Recognition</a:t>
            </a:r>
            <a:endParaRPr dirty="0">
              <a:solidFill>
                <a:schemeClr val="tx1">
                  <a:lumMod val="85000"/>
                  <a:lumOff val="15000"/>
                </a:schemeClr>
              </a:solidFill>
              <a:latin typeface="Arial Regular" panose="020B0604020202090204" charset="0"/>
              <a:ea typeface="思源黑体 CN Normal" panose="020B0400000000000000" pitchFamily="34" charset="-122"/>
              <a:cs typeface="Arial Regular" panose="020B0604020202090204" charset="0"/>
            </a:endParaRPr>
          </a:p>
          <a:p>
            <a:pPr marL="285750" indent="-285750">
              <a:buFont typeface="Arial" panose="020B0604020202090204" pitchFamily="34" charset="0"/>
              <a:buChar char="•"/>
            </a:pPr>
            <a:r>
              <a:rPr dirty="0">
                <a:solidFill>
                  <a:schemeClr val="tx1">
                    <a:lumMod val="85000"/>
                    <a:lumOff val="15000"/>
                  </a:schemeClr>
                </a:solidFill>
                <a:latin typeface="Arial Regular" panose="020B0604020202090204" charset="0"/>
                <a:ea typeface="思源黑体 CN Normal" panose="020B0400000000000000" pitchFamily="34" charset="-122"/>
                <a:cs typeface="Arial Regular" panose="020B0604020202090204" charset="0"/>
              </a:rPr>
              <a:t>Falling Detection</a:t>
            </a:r>
            <a:endParaRPr dirty="0">
              <a:solidFill>
                <a:schemeClr val="tx1">
                  <a:lumMod val="85000"/>
                  <a:lumOff val="15000"/>
                </a:schemeClr>
              </a:solidFill>
              <a:latin typeface="Arial Regular" panose="020B0604020202090204" charset="0"/>
              <a:ea typeface="思源黑体 CN Normal" panose="020B0400000000000000" pitchFamily="34" charset="-122"/>
              <a:cs typeface="Arial Regular" panose="020B0604020202090204" charset="0"/>
            </a:endParaRPr>
          </a:p>
          <a:p>
            <a:pPr marL="285750" indent="-285750">
              <a:buFont typeface="Arial" panose="020B0604020202090204" pitchFamily="34" charset="0"/>
              <a:buChar char="•"/>
            </a:pPr>
            <a:r>
              <a:rPr dirty="0">
                <a:solidFill>
                  <a:schemeClr val="tx1">
                    <a:lumMod val="85000"/>
                    <a:lumOff val="15000"/>
                  </a:schemeClr>
                </a:solidFill>
                <a:latin typeface="Arial Regular" panose="020B0604020202090204" charset="0"/>
                <a:ea typeface="思源黑体 CN Normal" panose="020B0400000000000000" pitchFamily="34" charset="-122"/>
                <a:cs typeface="Arial Regular" panose="020B0604020202090204" charset="0"/>
              </a:rPr>
              <a:t>Lip Reading</a:t>
            </a:r>
            <a:endParaRPr dirty="0">
              <a:solidFill>
                <a:schemeClr val="tx1">
                  <a:lumMod val="85000"/>
                  <a:lumOff val="15000"/>
                </a:schemeClr>
              </a:solidFill>
              <a:latin typeface="Arial Regular" panose="020B0604020202090204" charset="0"/>
              <a:ea typeface="思源黑体 CN Normal" panose="020B0400000000000000" pitchFamily="34" charset="-122"/>
              <a:cs typeface="Arial Regular" panose="020B0604020202090204" charset="0"/>
            </a:endParaRPr>
          </a:p>
          <a:p>
            <a:pPr marL="285750" indent="-285750">
              <a:buFont typeface="Arial" panose="020B0604020202090204" pitchFamily="34" charset="0"/>
              <a:buChar char="•"/>
            </a:pPr>
            <a:r>
              <a:rPr dirty="0">
                <a:solidFill>
                  <a:schemeClr val="tx1">
                    <a:lumMod val="85000"/>
                    <a:lumOff val="15000"/>
                  </a:schemeClr>
                </a:solidFill>
                <a:latin typeface="Arial Regular" panose="020B0604020202090204" charset="0"/>
                <a:ea typeface="思源黑体 CN Normal" panose="020B0400000000000000" pitchFamily="34" charset="-122"/>
                <a:cs typeface="Arial Regular" panose="020B0604020202090204" charset="0"/>
              </a:rPr>
              <a:t>User Authentication</a:t>
            </a:r>
            <a:endParaRPr dirty="0">
              <a:solidFill>
                <a:schemeClr val="tx1">
                  <a:lumMod val="85000"/>
                  <a:lumOff val="15000"/>
                </a:schemeClr>
              </a:solidFill>
              <a:latin typeface="Arial Regular" panose="020B0604020202090204" charset="0"/>
              <a:ea typeface="思源黑体 CN Normal" panose="020B0400000000000000" pitchFamily="34" charset="-122"/>
              <a:cs typeface="Arial Regular" panose="020B0604020202090204" charset="0"/>
            </a:endParaRPr>
          </a:p>
          <a:p>
            <a:pPr marL="285750" indent="-285750">
              <a:buFont typeface="Arial" panose="020B0604020202090204" pitchFamily="34" charset="0"/>
              <a:buChar char="•"/>
            </a:pPr>
            <a:endParaRPr lang="en-US" altLang="zh-CN"/>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sp>
        <p:nvSpPr>
          <p:cNvPr id="1048586" name="文本占位符 1"/>
          <p:cNvSpPr>
            <a:spLocks noGrp="1"/>
          </p:cNvSpPr>
          <p:nvPr>
            <p:ph type="body" sz="quarter" idx="12"/>
          </p:nvPr>
        </p:nvSpPr>
        <p:spPr>
          <a:xfrm>
            <a:off x="218106" y="81066"/>
            <a:ext cx="410545" cy="401955"/>
          </a:xfrm>
        </p:spPr>
        <p:txBody>
          <a:bodyPr/>
          <a:p>
            <a:r>
              <a:rPr lang="en-US" altLang="zh-CN" dirty="0"/>
              <a:t>1</a:t>
            </a:r>
            <a:endParaRPr lang="zh-CN" altLang="en-US" dirty="0"/>
          </a:p>
        </p:txBody>
      </p:sp>
      <p:sp>
        <p:nvSpPr>
          <p:cNvPr id="1048587" name="文本占位符 2"/>
          <p:cNvSpPr>
            <a:spLocks noGrp="1"/>
          </p:cNvSpPr>
          <p:nvPr>
            <p:ph type="body" sz="quarter" idx="13"/>
          </p:nvPr>
        </p:nvSpPr>
        <p:spPr/>
        <p:txBody>
          <a:bodyPr/>
          <a:p>
            <a:r>
              <a:rPr lang="zh-CN" altLang="en-US" kern="0" dirty="0">
                <a:ea typeface="楷体" panose="02010609060101010101" pitchFamily="49" charset="-122"/>
                <a:sym typeface="DengXian" panose="02010600030101010101" pitchFamily="2" charset="-122"/>
              </a:rPr>
              <a:t>研究背景和动机</a:t>
            </a:r>
            <a:endParaRPr lang="zh-CN" altLang="en-US" kern="0" dirty="0">
              <a:ea typeface="楷体" panose="02010609060101010101" pitchFamily="49" charset="-122"/>
              <a:sym typeface="DengXian" panose="02010600030101010101" pitchFamily="2" charset="-122"/>
            </a:endParaRPr>
          </a:p>
        </p:txBody>
      </p:sp>
      <p:sp>
        <p:nvSpPr>
          <p:cNvPr id="1048588" name="文本框 6"/>
          <p:cNvSpPr txBox="1"/>
          <p:nvPr/>
        </p:nvSpPr>
        <p:spPr>
          <a:xfrm>
            <a:off x="178117" y="533773"/>
            <a:ext cx="11664030" cy="1909445"/>
          </a:xfrm>
          <a:prstGeom prst="rect">
            <a:avLst/>
          </a:prstGeom>
          <a:noFill/>
        </p:spPr>
        <p:txBody>
          <a:bodyPr wrap="square" rtlCol="0">
            <a:spAutoFit/>
          </a:bodyPr>
          <a:p>
            <a:pPr>
              <a:lnSpc>
                <a:spcPct val="150000"/>
              </a:lnSpc>
            </a:pP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研究背景</a:t>
            </a:r>
            <a:endParaRPr lang="en-US" altLang="zh-CN"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a:p>
            <a:pPr>
              <a:lnSpc>
                <a:spcPct val="150000"/>
              </a:lnSpc>
            </a:pPr>
            <a:endParaRPr lang="en-US" altLang="zh-CN" sz="100" dirty="0" smtClean="0">
              <a:latin typeface="DengXian" panose="02010600030101010101" pitchFamily="2" charset="-122"/>
              <a:ea typeface="微软雅黑" panose="020B0503020204020204" pitchFamily="34" charset="-122"/>
              <a:sym typeface="DengXian" panose="02010600030101010101" pitchFamily="2" charset="-122"/>
            </a:endParaRPr>
          </a:p>
          <a:p>
            <a:pPr lvl="1" indent="0" fontAlgn="auto">
              <a:lnSpc>
                <a:spcPct val="110000"/>
              </a:lnSpc>
            </a:pP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While wireless perception has broad application prospects, it poses potential privacy risks. Eavesdroppers do not need to be in the environment they want to sense; they can perceive user information from tens of meters away, even through walls. Therefore, it is crucial to provide real-time and effective privacy protection solutions for wireless device users.</a:t>
            </a:r>
            <a:endPar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endParaRPr>
          </a:p>
        </p:txBody>
      </p:sp>
      <p:sp>
        <p:nvSpPr>
          <p:cNvPr id="1048589" name="文本占位符 3"/>
          <p:cNvSpPr txBox="1"/>
          <p:nvPr/>
        </p:nvSpPr>
        <p:spPr>
          <a:xfrm>
            <a:off x="5911850" y="6453505"/>
            <a:ext cx="1029970" cy="39560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3/23</a:t>
            </a:r>
            <a:endParaRPr lang="en-US" altLang="zh-CN" sz="2000" dirty="0"/>
          </a:p>
        </p:txBody>
      </p:sp>
      <p:pic>
        <p:nvPicPr>
          <p:cNvPr id="2097157" name="图片 3"/>
          <p:cNvPicPr>
            <a:picLocks noChangeAspect="1"/>
          </p:cNvPicPr>
          <p:nvPr/>
        </p:nvPicPr>
        <p:blipFill>
          <a:blip r:embed="rId1"/>
          <a:stretch>
            <a:fillRect/>
          </a:stretch>
        </p:blipFill>
        <p:spPr>
          <a:xfrm>
            <a:off x="1776734" y="3158031"/>
            <a:ext cx="647700" cy="1028700"/>
          </a:xfrm>
          <a:prstGeom prst="rect">
            <a:avLst/>
          </a:prstGeom>
        </p:spPr>
      </p:pic>
      <p:grpSp>
        <p:nvGrpSpPr>
          <p:cNvPr id="29" name="组合 8"/>
          <p:cNvGrpSpPr/>
          <p:nvPr/>
        </p:nvGrpSpPr>
        <p:grpSpPr>
          <a:xfrm>
            <a:off x="4323644" y="65006"/>
            <a:ext cx="6386195" cy="715010"/>
            <a:chOff x="3330222" y="76294"/>
            <a:chExt cx="6386195" cy="715010"/>
          </a:xfrm>
        </p:grpSpPr>
        <p:sp>
          <p:nvSpPr>
            <p:cNvPr id="1048590" name="文本框 9"/>
            <p:cNvSpPr txBox="1"/>
            <p:nvPr/>
          </p:nvSpPr>
          <p:spPr>
            <a:xfrm>
              <a:off x="3330222" y="76294"/>
              <a:ext cx="1637665" cy="368300"/>
            </a:xfrm>
            <a:prstGeom prst="rect">
              <a:avLst/>
            </a:prstGeom>
            <a:noFill/>
          </p:spPr>
          <p:txBody>
            <a:bodyPr wrap="square" rtlCol="0">
              <a:spAutoFit/>
            </a:bodyPr>
            <a:p>
              <a:r>
                <a:rPr lang="en-US" altLang="zh-CN" dirty="0" smtClean="0">
                  <a:solidFill>
                    <a:schemeClr val="bg1"/>
                  </a:solidFill>
                  <a:ea typeface="思源黑体 CN Bold" panose="020B0800000000000000"/>
                </a:rPr>
                <a:t>1.</a:t>
              </a:r>
              <a:r>
                <a:rPr lang="zh-CN" altLang="en-US" dirty="0" smtClean="0">
                  <a:solidFill>
                    <a:schemeClr val="bg1"/>
                  </a:solidFill>
                  <a:ea typeface="思源黑体 CN Bold" panose="020B0800000000000000"/>
                </a:rPr>
                <a:t>背景和动机</a:t>
              </a:r>
              <a:endParaRPr lang="zh-CN" altLang="en-US" dirty="0">
                <a:solidFill>
                  <a:schemeClr val="bg1"/>
                </a:solidFill>
                <a:ea typeface="思源黑体 CN Bold" panose="020B0800000000000000"/>
              </a:endParaRPr>
            </a:p>
          </p:txBody>
        </p:sp>
        <p:sp>
          <p:nvSpPr>
            <p:cNvPr id="1048591" name="文本框 10"/>
            <p:cNvSpPr txBox="1"/>
            <p:nvPr/>
          </p:nvSpPr>
          <p:spPr>
            <a:xfrm>
              <a:off x="4968484" y="76294"/>
              <a:ext cx="1354667" cy="3962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2.</a:t>
              </a:r>
              <a:r>
                <a:rPr lang="zh-CN" altLang="en-US" dirty="0" smtClean="0">
                  <a:solidFill>
                    <a:schemeClr val="bg1">
                      <a:lumMod val="65000"/>
                    </a:schemeClr>
                  </a:solidFill>
                  <a:ea typeface="思源黑体 CN Bold" panose="020B0800000000000000"/>
                </a:rPr>
                <a:t>信道加扰</a:t>
              </a:r>
              <a:endParaRPr lang="zh-CN" altLang="en-US" dirty="0">
                <a:solidFill>
                  <a:schemeClr val="bg1">
                    <a:lumMod val="65000"/>
                  </a:schemeClr>
                </a:solidFill>
                <a:ea typeface="思源黑体 CN Bold" panose="020B0800000000000000"/>
              </a:endParaRPr>
            </a:p>
          </p:txBody>
        </p:sp>
        <p:sp>
          <p:nvSpPr>
            <p:cNvPr id="1048592" name="文本框 11"/>
            <p:cNvSpPr txBox="1"/>
            <p:nvPr/>
          </p:nvSpPr>
          <p:spPr>
            <a:xfrm>
              <a:off x="6349012" y="76294"/>
              <a:ext cx="1638300" cy="715010"/>
            </a:xfrm>
            <a:prstGeom prst="rect">
              <a:avLst/>
            </a:prstGeom>
            <a:noFill/>
          </p:spPr>
          <p:txBody>
            <a:bodyPr wrap="square" rtlCol="0">
              <a:no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8593" name="文本框 12"/>
            <p:cNvSpPr txBox="1"/>
            <p:nvPr/>
          </p:nvSpPr>
          <p:spPr>
            <a:xfrm>
              <a:off x="8024142" y="92804"/>
              <a:ext cx="1692275" cy="499110"/>
            </a:xfrm>
            <a:prstGeom prst="rect">
              <a:avLst/>
            </a:prstGeom>
            <a:noFill/>
          </p:spPr>
          <p:txBody>
            <a:bodyPr wrap="square" rtlCol="0">
              <a:noAutofit/>
            </a:bodyPr>
            <a:p>
              <a:r>
                <a:rPr lang="en-US" altLang="zh-CN" dirty="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p:pic>
        <p:nvPicPr>
          <p:cNvPr id="2097158" name="图片 4"/>
          <p:cNvPicPr>
            <a:picLocks noChangeAspect="1"/>
          </p:cNvPicPr>
          <p:nvPr/>
        </p:nvPicPr>
        <p:blipFill>
          <a:blip r:embed="rId2"/>
          <a:stretch>
            <a:fillRect/>
          </a:stretch>
        </p:blipFill>
        <p:spPr>
          <a:xfrm>
            <a:off x="8133190" y="5162166"/>
            <a:ext cx="884572" cy="943903"/>
          </a:xfrm>
          <a:prstGeom prst="rect">
            <a:avLst/>
          </a:prstGeom>
        </p:spPr>
      </p:pic>
      <p:pic>
        <p:nvPicPr>
          <p:cNvPr id="2097159" name="图片 5"/>
          <p:cNvPicPr>
            <a:picLocks noChangeAspect="1"/>
          </p:cNvPicPr>
          <p:nvPr/>
        </p:nvPicPr>
        <p:blipFill>
          <a:blip r:embed="rId3"/>
          <a:stretch>
            <a:fillRect/>
          </a:stretch>
        </p:blipFill>
        <p:spPr>
          <a:xfrm>
            <a:off x="4243669" y="2463900"/>
            <a:ext cx="847619" cy="771429"/>
          </a:xfrm>
          <a:prstGeom prst="rect">
            <a:avLst/>
          </a:prstGeom>
        </p:spPr>
      </p:pic>
      <p:sp>
        <p:nvSpPr>
          <p:cNvPr id="1048594" name="矩形 13"/>
          <p:cNvSpPr/>
          <p:nvPr/>
        </p:nvSpPr>
        <p:spPr>
          <a:xfrm>
            <a:off x="1151255" y="2479675"/>
            <a:ext cx="5328285" cy="3774440"/>
          </a:xfrm>
          <a:prstGeom prst="rect">
            <a:avLst/>
          </a:pr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097160" name="图片 14"/>
          <p:cNvPicPr>
            <a:picLocks noChangeAspect="1"/>
          </p:cNvPicPr>
          <p:nvPr/>
        </p:nvPicPr>
        <p:blipFill>
          <a:blip r:embed="rId4"/>
          <a:stretch>
            <a:fillRect/>
          </a:stretch>
        </p:blipFill>
        <p:spPr>
          <a:xfrm>
            <a:off x="7262994" y="5267915"/>
            <a:ext cx="825901" cy="732403"/>
          </a:xfrm>
          <a:prstGeom prst="rect">
            <a:avLst/>
          </a:prstGeom>
        </p:spPr>
      </p:pic>
      <p:cxnSp>
        <p:nvCxnSpPr>
          <p:cNvPr id="3145728" name="直接连接符 16"/>
          <p:cNvCxnSpPr/>
          <p:nvPr/>
        </p:nvCxnSpPr>
        <p:spPr>
          <a:xfrm flipH="1">
            <a:off x="2445544" y="2749550"/>
            <a:ext cx="1878102" cy="84375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29" name="直接箭头连接符 24"/>
          <p:cNvCxnSpPr/>
          <p:nvPr/>
        </p:nvCxnSpPr>
        <p:spPr>
          <a:xfrm>
            <a:off x="2445544" y="3654425"/>
            <a:ext cx="4817450" cy="1870075"/>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48595" name="文本框 26"/>
          <p:cNvSpPr txBox="1"/>
          <p:nvPr/>
        </p:nvSpPr>
        <p:spPr>
          <a:xfrm rot="20093546">
            <a:off x="2441854" y="2887528"/>
            <a:ext cx="1389380" cy="396238"/>
          </a:xfrm>
          <a:prstGeom prst="rect">
            <a:avLst/>
          </a:prstGeom>
          <a:noFill/>
        </p:spPr>
        <p:txBody>
          <a:bodyPr wrap="none" rtlCol="0">
            <a:spAutoFit/>
          </a:bodyPr>
          <a:p>
            <a:r>
              <a:rPr lang="en-US" altLang="zh-CN" smtClean="0"/>
              <a:t>Wi-Fi signal</a:t>
            </a:r>
            <a:endParaRPr lang="zh-CN" altLang="en-US" dirty="0"/>
          </a:p>
        </p:txBody>
      </p:sp>
      <p:sp>
        <p:nvSpPr>
          <p:cNvPr id="1048596" name="文本框 27"/>
          <p:cNvSpPr txBox="1"/>
          <p:nvPr/>
        </p:nvSpPr>
        <p:spPr>
          <a:xfrm rot="1297433">
            <a:off x="3148587" y="4287455"/>
            <a:ext cx="4170680" cy="396238"/>
          </a:xfrm>
          <a:prstGeom prst="rect">
            <a:avLst/>
          </a:prstGeom>
          <a:noFill/>
        </p:spPr>
        <p:txBody>
          <a:bodyPr wrap="none" rtlCol="0">
            <a:spAutoFit/>
          </a:bodyPr>
          <a:p>
            <a:r>
              <a:rPr lang="en-US" altLang="zh-CN" dirty="0" smtClean="0"/>
              <a:t>Wi-Fi signal reflection through the wall</a:t>
            </a:r>
            <a:endParaRPr lang="zh-CN" altLang="en-US" dirty="0"/>
          </a:p>
        </p:txBody>
      </p:sp>
      <p:sp>
        <p:nvSpPr>
          <p:cNvPr id="1048597" name="文本框 28"/>
          <p:cNvSpPr txBox="1"/>
          <p:nvPr/>
        </p:nvSpPr>
        <p:spPr>
          <a:xfrm>
            <a:off x="7342677" y="6106069"/>
            <a:ext cx="1795779" cy="434340"/>
          </a:xfrm>
          <a:prstGeom prst="rect">
            <a:avLst/>
          </a:prstGeom>
          <a:noFill/>
        </p:spPr>
        <p:txBody>
          <a:bodyPr wrap="none" rtlCol="0">
            <a:spAutoFit/>
          </a:bodyPr>
          <a:p>
            <a:r>
              <a:rPr lang="en-US" altLang="zh-CN" sz="2000" b="1" dirty="0"/>
              <a:t>eavesdropper</a:t>
            </a:r>
            <a:endParaRPr lang="zh-CN" altLang="en-US" sz="2000" b="1" dirty="0"/>
          </a:p>
        </p:txBody>
      </p:sp>
      <p:sp>
        <p:nvSpPr>
          <p:cNvPr id="1048598" name="文本框 29"/>
          <p:cNvSpPr txBox="1">
            <a:spLocks noRot="1" noChangeAspect="1" noMove="1" noResize="1" noEditPoints="1" noAdjustHandles="1" noChangeArrowheads="1" noChangeShapeType="1" noTextEdit="1"/>
          </p:cNvSpPr>
          <p:nvPr/>
        </p:nvSpPr>
        <p:spPr>
          <a:xfrm>
            <a:off x="9308727" y="3920857"/>
            <a:ext cx="2014029" cy="2585323"/>
          </a:xfrm>
          <a:prstGeom prst="rect">
            <a:avLst/>
          </a:prstGeom>
          <a:blipFill>
            <a:blip r:embed="rId5"/>
            <a:stretch>
              <a:fillRect l="-1818"/>
            </a:stretch>
          </a:blipFill>
        </p:spPr>
        <p:txBody>
          <a:bodyPr/>
          <a:p>
            <a:r>
              <a:rPr lang="zh-CN" altLang="en-US">
                <a:noFill/>
              </a:rPr>
              <a:t> </a:t>
            </a:r>
            <a:endParaRPr lang="zh-CN" altLang="en-US">
              <a:noFill/>
            </a:endParaRPr>
          </a:p>
        </p:txBody>
      </p:sp>
      <p:sp>
        <p:nvSpPr>
          <p:cNvPr id="1048599" name="云形 30"/>
          <p:cNvSpPr/>
          <p:nvPr/>
        </p:nvSpPr>
        <p:spPr>
          <a:xfrm>
            <a:off x="6770141" y="3154769"/>
            <a:ext cx="1132869" cy="499656"/>
          </a:xfrm>
          <a:prstGeom prst="cloud">
            <a:avLst/>
          </a:prstGeom>
          <a:solidFill>
            <a:schemeClr val="bg2"/>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r>
              <a:rPr lang="en-US" altLang="zh-CN" sz="2400" dirty="0">
                <a:solidFill>
                  <a:schemeClr val="tx1"/>
                </a:solidFill>
              </a:rPr>
              <a:t>wall</a:t>
            </a:r>
            <a:endParaRPr lang="zh-CN" altLang="en-US" sz="1600" dirty="0">
              <a:solidFill>
                <a:schemeClr val="tx1"/>
              </a:solidFill>
            </a:endParaRPr>
          </a:p>
        </p:txBody>
      </p:sp>
      <p:cxnSp>
        <p:nvCxnSpPr>
          <p:cNvPr id="3145730" name="直接箭头连接符 31"/>
          <p:cNvCxnSpPr/>
          <p:nvPr/>
        </p:nvCxnSpPr>
        <p:spPr>
          <a:xfrm flipH="1" flipV="1">
            <a:off x="6498356" y="2958258"/>
            <a:ext cx="442723" cy="262960"/>
          </a:xfrm>
          <a:prstGeom prst="straightConnector1">
            <a:avLst/>
          </a:prstGeom>
          <a:ln w="34925">
            <a:solidFill>
              <a:srgbClr val="92D05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03" name="文本占位符 1"/>
          <p:cNvSpPr>
            <a:spLocks noGrp="1"/>
          </p:cNvSpPr>
          <p:nvPr>
            <p:ph type="body" sz="quarter" idx="12"/>
          </p:nvPr>
        </p:nvSpPr>
        <p:spPr>
          <a:xfrm>
            <a:off x="129854" y="38195"/>
            <a:ext cx="686769" cy="401955"/>
          </a:xfrm>
        </p:spPr>
        <p:txBody>
          <a:bodyPr/>
          <a:p>
            <a:r>
              <a:rPr lang="en-US" altLang="zh-CN" dirty="0" smtClean="0">
                <a:latin typeface="Times New Roman" panose="02020503050405090304" pitchFamily="18" charset="0"/>
                <a:ea typeface="宋体" pitchFamily="2" charset="-122"/>
                <a:cs typeface="Times New Roman" panose="02020503050405090304" pitchFamily="18" charset="0"/>
              </a:rPr>
              <a:t>1</a:t>
            </a:r>
            <a:endParaRPr lang="zh-CN" altLang="en-US" dirty="0">
              <a:latin typeface="Times New Roman" panose="02020503050405090304" pitchFamily="18" charset="0"/>
              <a:ea typeface="宋体" pitchFamily="2" charset="-122"/>
              <a:cs typeface="Times New Roman" panose="02020503050405090304" pitchFamily="18" charset="0"/>
            </a:endParaRPr>
          </a:p>
        </p:txBody>
      </p:sp>
      <p:sp>
        <p:nvSpPr>
          <p:cNvPr id="1048604" name="矩形 1"/>
          <p:cNvSpPr/>
          <p:nvPr/>
        </p:nvSpPr>
        <p:spPr>
          <a:xfrm>
            <a:off x="569173" y="1302910"/>
            <a:ext cx="5583271" cy="1753235"/>
          </a:xfrm>
          <a:prstGeom prst="rect">
            <a:avLst/>
          </a:prstGeom>
        </p:spPr>
        <p:txBody>
          <a:bodyPr wrap="square">
            <a:spAutoFit/>
          </a:bodyPr>
          <a:p>
            <a:pPr marL="285750" indent="-285750">
              <a:lnSpc>
                <a:spcPct val="150000"/>
              </a:lnSpc>
              <a:buFont typeface="Arial" panose="020B0604020202090204" pitchFamily="34" charset="0"/>
              <a:buChar char="•"/>
            </a:pPr>
            <a:r>
              <a:rPr lang="en-US" altLang="zh-CN" dirty="0">
                <a:solidFill>
                  <a:schemeClr val="tx1">
                    <a:lumMod val="85000"/>
                    <a:lumOff val="15000"/>
                  </a:schemeClr>
                </a:solidFill>
                <a:latin typeface="Times New Roman" panose="02020503050405090304" pitchFamily="18" charset="0"/>
                <a:ea typeface="思源黑体 CN Normal" panose="020B0400000000000000" pitchFamily="34" charset="-122"/>
                <a:cs typeface="Times New Roman" panose="02020503050405090304" pitchFamily="18" charset="0"/>
              </a:rPr>
              <a:t>PhyCloak </a:t>
            </a:r>
            <a:r>
              <a:rPr lang="zh-CN" altLang="en-US" dirty="0" smtClean="0">
                <a:solidFill>
                  <a:schemeClr val="tx1">
                    <a:lumMod val="85000"/>
                    <a:lumOff val="15000"/>
                  </a:schemeClr>
                </a:solidFill>
                <a:latin typeface="Times New Roman" panose="02020503050405090304" pitchFamily="18" charset="0"/>
                <a:ea typeface="思源黑体 CN Normal" panose="020B0400000000000000" pitchFamily="34" charset="-122"/>
                <a:cs typeface="Times New Roman" panose="02020503050405090304" pitchFamily="18" charset="0"/>
              </a:rPr>
              <a:t>、</a:t>
            </a:r>
            <a:r>
              <a:rPr lang="en-US" altLang="zh-CN" dirty="0" smtClean="0">
                <a:solidFill>
                  <a:schemeClr val="tx1">
                    <a:lumMod val="85000"/>
                    <a:lumOff val="15000"/>
                  </a:schemeClr>
                </a:solidFill>
                <a:latin typeface="Times New Roman" panose="02020503050405090304" pitchFamily="18" charset="0"/>
                <a:ea typeface="思源黑体 CN Normal" panose="020B0400000000000000" pitchFamily="34" charset="-122"/>
                <a:cs typeface="Times New Roman" panose="02020503050405090304" pitchFamily="18" charset="0"/>
              </a:rPr>
              <a:t>Aegis</a:t>
            </a:r>
            <a:endPar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endParaRPr>
          </a:p>
          <a:p>
            <a:pPr lvl="1">
              <a:lnSpc>
                <a:spcPct val="150000"/>
              </a:lnSpc>
              <a:buFont typeface="Wingdings" panose="05000000000000000000" pitchFamily="2" charset="2"/>
              <a:buChar char="Ø"/>
            </a:pP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rPr>
              <a:t>转发器修改信号的幅度相位增益、载波频偏后</a:t>
            </a:r>
            <a:r>
              <a:rPr lang="en-US" altLang="zh-CN"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rPr>
              <a:t>             </a:t>
            </a:r>
            <a:r>
              <a:rPr lang="zh-CN" altLang="en-US" dirty="0" smtClean="0">
                <a:solidFill>
                  <a:schemeClr val="bg1"/>
                </a:solidFill>
                <a:latin typeface="思源黑体 CN Normal" panose="020B0400000000000000" pitchFamily="34" charset="-122"/>
                <a:ea typeface="思源黑体 CN Normal" panose="020B0400000000000000" pitchFamily="34" charset="-122"/>
              </a:rPr>
              <a:t>的</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rPr>
              <a:t>再发送</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rPr>
              <a:t>出去，以此模拟一条动态传播路径</a:t>
            </a:r>
            <a:endParaRPr lang="en-US" altLang="zh-CN"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endParaRPr>
          </a:p>
          <a:p>
            <a:pPr lvl="1">
              <a:lnSpc>
                <a:spcPct val="150000"/>
              </a:lnSpc>
              <a:buFont typeface="Wingdings" panose="05000000000000000000" pitchFamily="2" charset="2"/>
              <a:buChar char="Ø"/>
            </a:pPr>
            <a:r>
              <a:rPr lang="zh-CN" altLang="en-US" dirty="0" smtClean="0">
                <a:latin typeface="思源黑体 CN Normal" panose="020B0400000000000000" pitchFamily="34" charset="-122"/>
                <a:ea typeface="思源黑体 CN Normal" panose="020B0400000000000000" pitchFamily="34" charset="-122"/>
              </a:rPr>
              <a:t>需要</a:t>
            </a:r>
            <a:r>
              <a:rPr lang="zh-CN" altLang="en-US" dirty="0" smtClean="0">
                <a:solidFill>
                  <a:srgbClr val="FF0000"/>
                </a:solidFill>
                <a:latin typeface="思源黑体 CN Normal" panose="020B0400000000000000" pitchFamily="34" charset="-122"/>
                <a:ea typeface="思源黑体 CN Normal" panose="020B0400000000000000" pitchFamily="34" charset="-122"/>
              </a:rPr>
              <a:t>额外</a:t>
            </a:r>
            <a:r>
              <a:rPr lang="zh-CN" altLang="en-US" dirty="0">
                <a:solidFill>
                  <a:srgbClr val="FF0000"/>
                </a:solidFill>
                <a:latin typeface="思源黑体 CN Normal" panose="020B0400000000000000" pitchFamily="34" charset="-122"/>
                <a:ea typeface="思源黑体 CN Normal" panose="020B0400000000000000" pitchFamily="34" charset="-122"/>
              </a:rPr>
              <a:t>专业硬件</a:t>
            </a: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rPr>
              <a:t>，</a:t>
            </a: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rPr>
              <a:t>难以</a:t>
            </a: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rPr>
              <a:t>被</a:t>
            </a: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rPr>
              <a:t>大范围</a:t>
            </a: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rPr>
              <a:t>应用</a:t>
            </a:r>
            <a:endParaRPr lang="en-US" altLang="zh-CN" dirty="0">
              <a:solidFill>
                <a:schemeClr val="tx1">
                  <a:lumMod val="85000"/>
                  <a:lumOff val="15000"/>
                </a:schemeClr>
              </a:solidFill>
              <a:latin typeface="思源黑体 CN Normal" panose="020B0400000000000000" pitchFamily="34" charset="-122"/>
              <a:ea typeface="思源黑体 CN Normal" panose="020B0400000000000000" pitchFamily="34" charset="-122"/>
            </a:endParaRPr>
          </a:p>
        </p:txBody>
      </p:sp>
      <p:pic>
        <p:nvPicPr>
          <p:cNvPr id="2097161" name="图片 3"/>
          <p:cNvPicPr>
            <a:picLocks noChangeAspect="1"/>
          </p:cNvPicPr>
          <p:nvPr/>
        </p:nvPicPr>
        <p:blipFill>
          <a:blip r:embed="rId1"/>
          <a:stretch>
            <a:fillRect/>
          </a:stretch>
        </p:blipFill>
        <p:spPr>
          <a:xfrm>
            <a:off x="6665172" y="1123724"/>
            <a:ext cx="4525147" cy="2360757"/>
          </a:xfrm>
          <a:prstGeom prst="rect">
            <a:avLst/>
          </a:prstGeom>
        </p:spPr>
      </p:pic>
      <p:pic>
        <p:nvPicPr>
          <p:cNvPr id="2097162" name="图片 7"/>
          <p:cNvPicPr>
            <a:picLocks noChangeAspect="1"/>
          </p:cNvPicPr>
          <p:nvPr/>
        </p:nvPicPr>
        <p:blipFill>
          <a:blip r:embed="rId2"/>
          <a:stretch>
            <a:fillRect/>
          </a:stretch>
        </p:blipFill>
        <p:spPr>
          <a:xfrm>
            <a:off x="6665173" y="3694043"/>
            <a:ext cx="4614862" cy="2652761"/>
          </a:xfrm>
          <a:prstGeom prst="rect">
            <a:avLst/>
          </a:prstGeom>
        </p:spPr>
      </p:pic>
      <p:sp>
        <p:nvSpPr>
          <p:cNvPr id="1048605" name="矩形 16"/>
          <p:cNvSpPr/>
          <p:nvPr/>
        </p:nvSpPr>
        <p:spPr>
          <a:xfrm>
            <a:off x="569173" y="3068337"/>
            <a:ext cx="5464179" cy="3415030"/>
          </a:xfrm>
          <a:prstGeom prst="rect">
            <a:avLst/>
          </a:prstGeom>
        </p:spPr>
        <p:txBody>
          <a:bodyPr wrap="square">
            <a:spAutoFit/>
          </a:bodyPr>
          <a:p>
            <a:pPr marL="285750" indent="-285750">
              <a:lnSpc>
                <a:spcPct val="150000"/>
              </a:lnSpc>
              <a:buFont typeface="Arial" panose="020B0604020202090204" pitchFamily="34" charset="0"/>
              <a:buChar char="•"/>
            </a:pPr>
            <a:r>
              <a:rPr lang="zh-CN" altLang="en-US" dirty="0" smtClean="0">
                <a:solidFill>
                  <a:schemeClr val="tx1">
                    <a:lumMod val="85000"/>
                    <a:lumOff val="15000"/>
                  </a:schemeClr>
                </a:solidFill>
                <a:latin typeface="Times New Roman" panose="02020503050405090304" pitchFamily="18" charset="0"/>
                <a:ea typeface="思源黑体 CN Normal" panose="020B0400000000000000" pitchFamily="34" charset="-122"/>
                <a:cs typeface="Times New Roman" panose="02020503050405090304" pitchFamily="18" charset="0"/>
              </a:rPr>
              <a:t>在发射器本身</a:t>
            </a:r>
            <a:r>
              <a:rPr lang="zh-CN" altLang="en-US" dirty="0" smtClean="0">
                <a:solidFill>
                  <a:schemeClr val="tx1">
                    <a:lumMod val="85000"/>
                    <a:lumOff val="15000"/>
                  </a:schemeClr>
                </a:solidFill>
                <a:latin typeface="Times New Roman" panose="02020503050405090304" pitchFamily="18" charset="0"/>
                <a:ea typeface="思源黑体 CN Normal" panose="020B0400000000000000" pitchFamily="34" charset="-122"/>
                <a:cs typeface="Times New Roman" panose="02020503050405090304" pitchFamily="18" charset="0"/>
              </a:rPr>
              <a:t>对信号加扰</a:t>
            </a:r>
            <a:endParaRPr lang="en-US" altLang="zh-CN"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endParaRPr>
          </a:p>
          <a:p>
            <a:pPr lvl="1">
              <a:lnSpc>
                <a:spcPct val="150000"/>
              </a:lnSpc>
              <a:buFont typeface="Wingdings" panose="05000000000000000000" pitchFamily="2" charset="2"/>
              <a:buChar char="Ø"/>
            </a:pP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rPr>
              <a:t>随机加扰，对环境信息的掩盖能力弱</a:t>
            </a:r>
            <a:endPar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endParaRPr>
          </a:p>
          <a:p>
            <a:pPr lvl="1">
              <a:lnSpc>
                <a:spcPct val="150000"/>
              </a:lnSpc>
              <a:buFont typeface="Wingdings" panose="05000000000000000000" pitchFamily="2" charset="2"/>
              <a:buChar char="Ø"/>
            </a:pP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rPr>
              <a:t>加</a:t>
            </a: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rPr>
              <a:t>扰参数</a:t>
            </a:r>
            <a:r>
              <a:rPr lang="zh-CN" altLang="en-US" dirty="0">
                <a:solidFill>
                  <a:srgbClr val="FF0000"/>
                </a:solidFill>
                <a:latin typeface="思源黑体 CN Normal" panose="020B0400000000000000" pitchFamily="34" charset="-122"/>
                <a:ea typeface="思源黑体 CN Normal" panose="020B0400000000000000" pitchFamily="34" charset="-122"/>
              </a:rPr>
              <a:t>时间粒度</a:t>
            </a:r>
            <a:r>
              <a:rPr lang="zh-CN" altLang="en-US" dirty="0" smtClean="0">
                <a:solidFill>
                  <a:srgbClr val="FF0000"/>
                </a:solidFill>
                <a:latin typeface="思源黑体 CN Normal" panose="020B0400000000000000" pitchFamily="34" charset="-122"/>
                <a:ea typeface="思源黑体 CN Normal" panose="020B0400000000000000" pitchFamily="34" charset="-122"/>
              </a:rPr>
              <a:t>低、加扰因子精度低</a:t>
            </a:r>
            <a:r>
              <a:rPr lang="zh-CN" altLang="en-US" dirty="0" smtClean="0">
                <a:solidFill>
                  <a:schemeClr val="tx1"/>
                </a:solidFill>
                <a:latin typeface="思源黑体 CN Normal" panose="020B0400000000000000" pitchFamily="34" charset="-122"/>
                <a:ea typeface="思源黑体 CN Normal" panose="020B0400000000000000" pitchFamily="34" charset="-122"/>
              </a:rPr>
              <a:t>，</a:t>
            </a:r>
            <a:endParaRPr lang="zh-CN" altLang="en-US" dirty="0" smtClean="0">
              <a:solidFill>
                <a:schemeClr val="tx1"/>
              </a:solidFill>
              <a:latin typeface="思源黑体 CN Normal" panose="020B0400000000000000" pitchFamily="34" charset="-122"/>
              <a:ea typeface="思源黑体 CN Normal" panose="020B0400000000000000" pitchFamily="34" charset="-122"/>
            </a:endParaRPr>
          </a:p>
          <a:p>
            <a:pPr lvl="1" indent="0">
              <a:lnSpc>
                <a:spcPct val="150000"/>
              </a:lnSpc>
              <a:buFont typeface="Wingdings" panose="05000000000000000000" pitchFamily="2" charset="2"/>
              <a:buNone/>
            </a:pPr>
            <a:r>
              <a:rPr lang="en-US" altLang="zh-CN" dirty="0" smtClean="0">
                <a:solidFill>
                  <a:schemeClr val="tx1"/>
                </a:solidFill>
                <a:latin typeface="思源黑体 CN Normal" panose="020B0400000000000000" pitchFamily="34" charset="-122"/>
                <a:ea typeface="思源黑体 CN Normal" panose="020B0400000000000000" pitchFamily="34" charset="-122"/>
              </a:rPr>
              <a:t>   </a:t>
            </a:r>
            <a:r>
              <a:rPr lang="zh-CN" altLang="en-US" dirty="0" smtClean="0">
                <a:solidFill>
                  <a:schemeClr val="tx1"/>
                </a:solidFill>
                <a:latin typeface="思源黑体 CN Normal" panose="020B0400000000000000" pitchFamily="34" charset="-122"/>
                <a:ea typeface="思源黑体 CN Normal" panose="020B0400000000000000" pitchFamily="34" charset="-122"/>
              </a:rPr>
              <a:t>不足以模拟人体活动信号</a:t>
            </a:r>
            <a:endParaRPr lang="en-US" altLang="zh-CN" dirty="0">
              <a:solidFill>
                <a:schemeClr val="tx1">
                  <a:lumMod val="85000"/>
                  <a:lumOff val="15000"/>
                </a:schemeClr>
              </a:solidFill>
              <a:latin typeface="思源黑体 CN Normal" panose="020B0400000000000000" pitchFamily="34" charset="-122"/>
              <a:ea typeface="思源黑体 CN Normal" panose="020B0400000000000000" pitchFamily="34" charset="-122"/>
            </a:endParaRPr>
          </a:p>
          <a:p>
            <a:pPr lvl="1">
              <a:lnSpc>
                <a:spcPct val="150000"/>
              </a:lnSpc>
              <a:buFont typeface="Wingdings" panose="05000000000000000000" pitchFamily="2" charset="2"/>
              <a:buChar char="Ø"/>
            </a:pP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rPr>
              <a:t>未实现</a:t>
            </a:r>
            <a:r>
              <a:rPr lang="en-US" altLang="zh-CN" dirty="0">
                <a:solidFill>
                  <a:schemeClr val="tx1">
                    <a:lumMod val="85000"/>
                    <a:lumOff val="15000"/>
                  </a:schemeClr>
                </a:solidFill>
                <a:latin typeface="Times New Roman" panose="02020503050405090304" pitchFamily="18" charset="0"/>
                <a:ea typeface="思源黑体 CN Normal" panose="020B0400000000000000" pitchFamily="34" charset="-122"/>
                <a:cs typeface="Times New Roman" panose="02020503050405090304" pitchFamily="18" charset="0"/>
              </a:rPr>
              <a:t>CSI</a:t>
            </a: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rPr>
              <a:t>解扰，</a:t>
            </a:r>
            <a:r>
              <a:rPr lang="zh-CN" altLang="en-US" dirty="0">
                <a:solidFill>
                  <a:srgbClr val="FF0000"/>
                </a:solidFill>
                <a:latin typeface="思源黑体 CN Normal" panose="020B0400000000000000" pitchFamily="34" charset="-122"/>
                <a:ea typeface="思源黑体 CN Normal" panose="020B0400000000000000" pitchFamily="34" charset="-122"/>
              </a:rPr>
              <a:t>不</a:t>
            </a:r>
            <a:r>
              <a:rPr lang="zh-CN" altLang="en-US" dirty="0" smtClean="0">
                <a:solidFill>
                  <a:srgbClr val="FF0000"/>
                </a:solidFill>
                <a:latin typeface="思源黑体 CN Normal" panose="020B0400000000000000" pitchFamily="34" charset="-122"/>
                <a:ea typeface="思源黑体 CN Normal" panose="020B0400000000000000" pitchFamily="34" charset="-122"/>
              </a:rPr>
              <a:t>支持</a:t>
            </a:r>
            <a:r>
              <a:rPr lang="zh-CN" altLang="en-US" dirty="0">
                <a:solidFill>
                  <a:srgbClr val="FF0000"/>
                </a:solidFill>
                <a:latin typeface="思源黑体 CN Normal" panose="020B0400000000000000" pitchFamily="34" charset="-122"/>
                <a:ea typeface="思源黑体 CN Normal" panose="020B0400000000000000" pitchFamily="34" charset="-122"/>
              </a:rPr>
              <a:t>合法</a:t>
            </a:r>
            <a:r>
              <a:rPr lang="zh-CN" altLang="en-US" dirty="0" smtClean="0">
                <a:solidFill>
                  <a:srgbClr val="FF0000"/>
                </a:solidFill>
                <a:latin typeface="思源黑体 CN Normal" panose="020B0400000000000000" pitchFamily="34" charset="-122"/>
                <a:ea typeface="思源黑体 CN Normal" panose="020B0400000000000000" pitchFamily="34" charset="-122"/>
              </a:rPr>
              <a:t>感知</a:t>
            </a:r>
            <a:endParaRPr lang="en-US" altLang="zh-CN" dirty="0">
              <a:solidFill>
                <a:srgbClr val="FF0000"/>
              </a:solidFill>
              <a:latin typeface="思源黑体 CN Normal" panose="020B0400000000000000" pitchFamily="34" charset="-122"/>
              <a:ea typeface="思源黑体 CN Normal" panose="020B0400000000000000" pitchFamily="34" charset="-122"/>
            </a:endParaRPr>
          </a:p>
          <a:p>
            <a:pPr lvl="1">
              <a:lnSpc>
                <a:spcPct val="150000"/>
              </a:lnSpc>
            </a:pPr>
            <a:endParaRPr lang="en-US" altLang="zh-CN" dirty="0" smtClean="0"/>
          </a:p>
          <a:p>
            <a:pPr lvl="1">
              <a:lnSpc>
                <a:spcPct val="150000"/>
              </a:lnSpc>
            </a:pPr>
            <a:endParaRPr lang="en-US" altLang="zh-CN" dirty="0"/>
          </a:p>
          <a:p>
            <a:pPr lvl="1">
              <a:lnSpc>
                <a:spcPct val="150000"/>
              </a:lnSpc>
            </a:pPr>
            <a:endParaRPr lang="zh-CN" altLang="en-US" dirty="0"/>
          </a:p>
        </p:txBody>
      </p:sp>
      <p:sp>
        <p:nvSpPr>
          <p:cNvPr id="1048606" name="文本框 9"/>
          <p:cNvSpPr txBox="1"/>
          <p:nvPr/>
        </p:nvSpPr>
        <p:spPr>
          <a:xfrm>
            <a:off x="11495314" y="6290732"/>
            <a:ext cx="322579" cy="396239"/>
          </a:xfrm>
          <a:prstGeom prst="rect">
            <a:avLst/>
          </a:prstGeom>
          <a:noFill/>
        </p:spPr>
        <p:txBody>
          <a:bodyPr wrap="none" rtlCol="0">
            <a:spAutoFit/>
          </a:bodyPr>
          <a:p>
            <a:r>
              <a:rPr lang="en-US" altLang="zh-CN" dirty="0" smtClean="0"/>
              <a:t>5</a:t>
            </a:r>
            <a:endParaRPr lang="zh-CN" altLang="en-US" dirty="0"/>
          </a:p>
        </p:txBody>
      </p:sp>
      <p:sp>
        <p:nvSpPr>
          <p:cNvPr id="1048607" name="文本占位符 2"/>
          <p:cNvSpPr txBox="1"/>
          <p:nvPr/>
        </p:nvSpPr>
        <p:spPr>
          <a:xfrm>
            <a:off x="737911" y="38195"/>
            <a:ext cx="3215623" cy="40195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2200" b="1" kern="1200" spc="300">
                <a:solidFill>
                  <a:schemeClr val="bg1"/>
                </a:solidFill>
                <a:latin typeface="思源黑体 CN Bold" panose="020B0800000000000000" pitchFamily="34" charset="-122"/>
                <a:ea typeface="思源黑体 CN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kern="0" dirty="0" smtClean="0">
                <a:ea typeface="楷体" panose="02010609060101010101" pitchFamily="49" charset="-122"/>
                <a:sym typeface="DengXian" panose="02010600030101010101" pitchFamily="2" charset="-122"/>
              </a:rPr>
              <a:t>研究背景和动机</a:t>
            </a:r>
            <a:endParaRPr lang="zh-CN" altLang="en-US" kern="0" dirty="0">
              <a:ea typeface="楷体" panose="02010609060101010101" pitchFamily="49" charset="-122"/>
              <a:sym typeface="DengXian" panose="02010600030101010101" pitchFamily="2" charset="-122"/>
            </a:endParaRPr>
          </a:p>
        </p:txBody>
      </p:sp>
      <p:sp>
        <p:nvSpPr>
          <p:cNvPr id="1048608" name="文本框 12"/>
          <p:cNvSpPr txBox="1"/>
          <p:nvPr/>
        </p:nvSpPr>
        <p:spPr>
          <a:xfrm>
            <a:off x="312846" y="588139"/>
            <a:ext cx="11064429" cy="726440"/>
          </a:xfrm>
          <a:prstGeom prst="rect">
            <a:avLst/>
          </a:prstGeom>
          <a:noFill/>
        </p:spPr>
        <p:txBody>
          <a:bodyPr wrap="square" rtlCol="0">
            <a:spAutoFit/>
          </a:bodyPr>
          <a:p>
            <a:pPr>
              <a:lnSpc>
                <a:spcPct val="150000"/>
              </a:lnSpc>
            </a:pP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现有工作的局限</a:t>
            </a:r>
            <a:endParaRPr lang="en-US" altLang="zh-CN"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endParaRPr>
          </a:p>
        </p:txBody>
      </p:sp>
      <p:sp>
        <p:nvSpPr>
          <p:cNvPr id="1048609" name="文本占位符 3"/>
          <p:cNvSpPr txBox="1"/>
          <p:nvPr/>
        </p:nvSpPr>
        <p:spPr>
          <a:xfrm>
            <a:off x="5911850" y="6453505"/>
            <a:ext cx="1129030" cy="40449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4/23</a:t>
            </a:r>
            <a:endParaRPr lang="en-US" altLang="zh-CN" sz="2000" dirty="0"/>
          </a:p>
        </p:txBody>
      </p:sp>
      <p:grpSp>
        <p:nvGrpSpPr>
          <p:cNvPr id="52" name="组合 10"/>
          <p:cNvGrpSpPr/>
          <p:nvPr/>
        </p:nvGrpSpPr>
        <p:grpSpPr>
          <a:xfrm>
            <a:off x="4323644" y="65006"/>
            <a:ext cx="6446520" cy="716915"/>
            <a:chOff x="3330222" y="76294"/>
            <a:chExt cx="6446520" cy="716915"/>
          </a:xfrm>
        </p:grpSpPr>
        <p:sp>
          <p:nvSpPr>
            <p:cNvPr id="1048610" name="文本框 14"/>
            <p:cNvSpPr txBox="1"/>
            <p:nvPr/>
          </p:nvSpPr>
          <p:spPr>
            <a:xfrm>
              <a:off x="3330222" y="76294"/>
              <a:ext cx="1626870" cy="368300"/>
            </a:xfrm>
            <a:prstGeom prst="rect">
              <a:avLst/>
            </a:prstGeom>
            <a:noFill/>
          </p:spPr>
          <p:txBody>
            <a:bodyPr wrap="square" rtlCol="0">
              <a:spAutoFit/>
            </a:bodyPr>
            <a:p>
              <a:r>
                <a:rPr lang="en-US" altLang="zh-CN" dirty="0" smtClean="0">
                  <a:solidFill>
                    <a:schemeClr val="bg1"/>
                  </a:solidFill>
                  <a:ea typeface="思源黑体 CN Bold" panose="020B0800000000000000"/>
                </a:rPr>
                <a:t>1.</a:t>
              </a:r>
              <a:r>
                <a:rPr lang="zh-CN" altLang="en-US" dirty="0" smtClean="0">
                  <a:solidFill>
                    <a:schemeClr val="bg1"/>
                  </a:solidFill>
                  <a:ea typeface="思源黑体 CN Bold" panose="020B0800000000000000"/>
                </a:rPr>
                <a:t>背景和动机</a:t>
              </a:r>
              <a:endParaRPr lang="zh-CN" altLang="en-US" dirty="0">
                <a:solidFill>
                  <a:schemeClr val="bg1"/>
                </a:solidFill>
                <a:ea typeface="思源黑体 CN Bold" panose="020B0800000000000000"/>
              </a:endParaRPr>
            </a:p>
          </p:txBody>
        </p:sp>
        <p:sp>
          <p:nvSpPr>
            <p:cNvPr id="1048611" name="文本框 15"/>
            <p:cNvSpPr txBox="1"/>
            <p:nvPr/>
          </p:nvSpPr>
          <p:spPr>
            <a:xfrm>
              <a:off x="4968484" y="76294"/>
              <a:ext cx="1354667" cy="3962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2.</a:t>
              </a:r>
              <a:r>
                <a:rPr lang="zh-CN" altLang="en-US" dirty="0" smtClean="0">
                  <a:solidFill>
                    <a:schemeClr val="bg1">
                      <a:lumMod val="65000"/>
                    </a:schemeClr>
                  </a:solidFill>
                  <a:ea typeface="思源黑体 CN Bold" panose="020B0800000000000000"/>
                </a:rPr>
                <a:t>信道加扰</a:t>
              </a:r>
              <a:endParaRPr lang="zh-CN" altLang="en-US" dirty="0">
                <a:solidFill>
                  <a:schemeClr val="bg1">
                    <a:lumMod val="65000"/>
                  </a:schemeClr>
                </a:solidFill>
                <a:ea typeface="思源黑体 CN Bold" panose="020B0800000000000000"/>
              </a:endParaRPr>
            </a:p>
          </p:txBody>
        </p:sp>
        <p:sp>
          <p:nvSpPr>
            <p:cNvPr id="1048612" name="文本框 17"/>
            <p:cNvSpPr txBox="1"/>
            <p:nvPr/>
          </p:nvSpPr>
          <p:spPr>
            <a:xfrm>
              <a:off x="6349012" y="76294"/>
              <a:ext cx="1645285" cy="716915"/>
            </a:xfrm>
            <a:prstGeom prst="rect">
              <a:avLst/>
            </a:prstGeom>
            <a:noFill/>
          </p:spPr>
          <p:txBody>
            <a:bodyPr wrap="square" rtlCol="0">
              <a:no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8613" name="文本框 18"/>
            <p:cNvSpPr txBox="1"/>
            <p:nvPr/>
          </p:nvSpPr>
          <p:spPr>
            <a:xfrm>
              <a:off x="8024142" y="92804"/>
              <a:ext cx="1752600" cy="368300"/>
            </a:xfrm>
            <a:prstGeom prst="rect">
              <a:avLst/>
            </a:prstGeom>
            <a:noFill/>
          </p:spPr>
          <p:txBody>
            <a:bodyPr wrap="square" rtlCol="0">
              <a:spAutoFit/>
            </a:bodyPr>
            <a:p>
              <a:r>
                <a:rPr lang="en-US" altLang="zh-CN" dirty="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9716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486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05" grpId="0"/>
      <p:bldP spid="1048605"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28" name="文本占位符 1"/>
          <p:cNvSpPr>
            <a:spLocks noGrp="1"/>
          </p:cNvSpPr>
          <p:nvPr>
            <p:ph type="body" sz="quarter" idx="12"/>
          </p:nvPr>
        </p:nvSpPr>
        <p:spPr>
          <a:xfrm>
            <a:off x="218106" y="81066"/>
            <a:ext cx="410545" cy="401955"/>
          </a:xfrm>
        </p:spPr>
        <p:txBody>
          <a:bodyPr/>
          <a:p>
            <a:r>
              <a:rPr lang="en-US" altLang="zh-CN" dirty="0"/>
              <a:t>1</a:t>
            </a:r>
            <a:endParaRPr lang="zh-CN" altLang="en-US" dirty="0"/>
          </a:p>
        </p:txBody>
      </p:sp>
      <p:sp>
        <p:nvSpPr>
          <p:cNvPr id="1048629" name="文本占位符 2"/>
          <p:cNvSpPr>
            <a:spLocks noGrp="1"/>
          </p:cNvSpPr>
          <p:nvPr>
            <p:ph type="body" sz="quarter" idx="13"/>
          </p:nvPr>
        </p:nvSpPr>
        <p:spPr/>
        <p:txBody>
          <a:bodyPr/>
          <a:p>
            <a:r>
              <a:rPr lang="zh-CN" altLang="en-US" kern="0" dirty="0">
                <a:ea typeface="楷体" panose="02010609060101010101" pitchFamily="49" charset="-122"/>
                <a:sym typeface="DengXian" panose="02010600030101010101" pitchFamily="2" charset="-122"/>
              </a:rPr>
              <a:t>研究背景和动机</a:t>
            </a:r>
            <a:endParaRPr lang="zh-CN" altLang="en-US" kern="0" dirty="0">
              <a:ea typeface="楷体" panose="02010609060101010101" pitchFamily="49" charset="-122"/>
              <a:sym typeface="DengXian" panose="02010600030101010101" pitchFamily="2" charset="-122"/>
            </a:endParaRPr>
          </a:p>
        </p:txBody>
      </p:sp>
      <p:sp>
        <p:nvSpPr>
          <p:cNvPr id="1048630" name="文本框 6"/>
          <p:cNvSpPr txBox="1"/>
          <p:nvPr/>
        </p:nvSpPr>
        <p:spPr>
          <a:xfrm>
            <a:off x="423378" y="687372"/>
            <a:ext cx="11064429" cy="691515"/>
          </a:xfrm>
          <a:prstGeom prst="rect">
            <a:avLst/>
          </a:prstGeom>
          <a:noFill/>
        </p:spPr>
        <p:txBody>
          <a:bodyPr wrap="square" rtlCol="0">
            <a:spAutoFit/>
          </a:bodyPr>
          <a:p>
            <a:pPr>
              <a:lnSpc>
                <a:spcPct val="150000"/>
              </a:lnSpc>
            </a:pP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Research Motivation and Challenges</a:t>
            </a:r>
            <a:endPar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a:p>
            <a:pPr>
              <a:lnSpc>
                <a:spcPct val="150000"/>
              </a:lnSpc>
            </a:pPr>
            <a:endParaRPr lang="en-US" altLang="zh-CN" sz="100" dirty="0" smtClean="0">
              <a:latin typeface="DengXian" panose="02010600030101010101" pitchFamily="2" charset="-122"/>
              <a:ea typeface="微软雅黑" panose="020B0503020204020204" pitchFamily="34" charset="-122"/>
              <a:sym typeface="DengXian" panose="02010600030101010101" pitchFamily="2" charset="-122"/>
            </a:endParaRPr>
          </a:p>
        </p:txBody>
      </p:sp>
      <p:pic>
        <p:nvPicPr>
          <p:cNvPr id="2097164" name="图片 8"/>
          <p:cNvPicPr>
            <a:picLocks noChangeAspect="1"/>
          </p:cNvPicPr>
          <p:nvPr/>
        </p:nvPicPr>
        <p:blipFill>
          <a:blip r:embed="rId1"/>
          <a:stretch>
            <a:fillRect/>
          </a:stretch>
        </p:blipFill>
        <p:spPr>
          <a:xfrm>
            <a:off x="6041998" y="2378280"/>
            <a:ext cx="5959195" cy="3254875"/>
          </a:xfrm>
          <a:prstGeom prst="rect">
            <a:avLst/>
          </a:prstGeom>
        </p:spPr>
      </p:pic>
      <p:sp>
        <p:nvSpPr>
          <p:cNvPr id="1048631" name="文本占位符 3"/>
          <p:cNvSpPr txBox="1"/>
          <p:nvPr/>
        </p:nvSpPr>
        <p:spPr>
          <a:xfrm>
            <a:off x="5911850" y="6453505"/>
            <a:ext cx="1241425" cy="40449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5/23</a:t>
            </a:r>
            <a:endParaRPr lang="en-US" altLang="zh-CN" sz="2000" dirty="0"/>
          </a:p>
        </p:txBody>
      </p:sp>
      <p:grpSp>
        <p:nvGrpSpPr>
          <p:cNvPr id="60" name="组合 7"/>
          <p:cNvGrpSpPr/>
          <p:nvPr/>
        </p:nvGrpSpPr>
        <p:grpSpPr>
          <a:xfrm>
            <a:off x="4323644" y="65006"/>
            <a:ext cx="6467475" cy="716915"/>
            <a:chOff x="3330222" y="76294"/>
            <a:chExt cx="6467475" cy="716915"/>
          </a:xfrm>
        </p:grpSpPr>
        <p:sp>
          <p:nvSpPr>
            <p:cNvPr id="1048632" name="文本框 10"/>
            <p:cNvSpPr txBox="1"/>
            <p:nvPr/>
          </p:nvSpPr>
          <p:spPr>
            <a:xfrm>
              <a:off x="3330222" y="76294"/>
              <a:ext cx="1637665" cy="368300"/>
            </a:xfrm>
            <a:prstGeom prst="rect">
              <a:avLst/>
            </a:prstGeom>
            <a:noFill/>
          </p:spPr>
          <p:txBody>
            <a:bodyPr wrap="square" rtlCol="0">
              <a:spAutoFit/>
            </a:bodyPr>
            <a:p>
              <a:r>
                <a:rPr lang="en-US" altLang="zh-CN" dirty="0" smtClean="0">
                  <a:solidFill>
                    <a:schemeClr val="bg1"/>
                  </a:solidFill>
                  <a:ea typeface="思源黑体 CN Bold" panose="020B0800000000000000"/>
                </a:rPr>
                <a:t>1.</a:t>
              </a:r>
              <a:r>
                <a:rPr lang="zh-CN" altLang="en-US" dirty="0" smtClean="0">
                  <a:solidFill>
                    <a:schemeClr val="bg1"/>
                  </a:solidFill>
                  <a:ea typeface="思源黑体 CN Bold" panose="020B0800000000000000"/>
                </a:rPr>
                <a:t>背景和动机</a:t>
              </a:r>
              <a:endParaRPr lang="zh-CN" altLang="en-US" dirty="0">
                <a:solidFill>
                  <a:schemeClr val="bg1"/>
                </a:solidFill>
                <a:ea typeface="思源黑体 CN Bold" panose="020B0800000000000000"/>
              </a:endParaRPr>
            </a:p>
          </p:txBody>
        </p:sp>
        <p:sp>
          <p:nvSpPr>
            <p:cNvPr id="1048633" name="文本框 11"/>
            <p:cNvSpPr txBox="1"/>
            <p:nvPr/>
          </p:nvSpPr>
          <p:spPr>
            <a:xfrm>
              <a:off x="4968484" y="76294"/>
              <a:ext cx="1354667" cy="3962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2.</a:t>
              </a:r>
              <a:r>
                <a:rPr lang="zh-CN" altLang="en-US" dirty="0" smtClean="0">
                  <a:solidFill>
                    <a:schemeClr val="bg1">
                      <a:lumMod val="65000"/>
                    </a:schemeClr>
                  </a:solidFill>
                  <a:ea typeface="思源黑体 CN Bold" panose="020B0800000000000000"/>
                </a:rPr>
                <a:t>信道加扰</a:t>
              </a:r>
              <a:endParaRPr lang="zh-CN" altLang="en-US" dirty="0">
                <a:solidFill>
                  <a:schemeClr val="bg1">
                    <a:lumMod val="65000"/>
                  </a:schemeClr>
                </a:solidFill>
                <a:ea typeface="思源黑体 CN Bold" panose="020B0800000000000000"/>
              </a:endParaRPr>
            </a:p>
          </p:txBody>
        </p:sp>
        <p:sp>
          <p:nvSpPr>
            <p:cNvPr id="1048634" name="文本框 12"/>
            <p:cNvSpPr txBox="1"/>
            <p:nvPr/>
          </p:nvSpPr>
          <p:spPr>
            <a:xfrm>
              <a:off x="6349012" y="76294"/>
              <a:ext cx="1624965" cy="716915"/>
            </a:xfrm>
            <a:prstGeom prst="rect">
              <a:avLst/>
            </a:prstGeom>
            <a:noFill/>
          </p:spPr>
          <p:txBody>
            <a:bodyPr wrap="square" rtlCol="0">
              <a:no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8635" name="文本框 13"/>
            <p:cNvSpPr txBox="1"/>
            <p:nvPr/>
          </p:nvSpPr>
          <p:spPr>
            <a:xfrm>
              <a:off x="8024142" y="92804"/>
              <a:ext cx="1773555" cy="368300"/>
            </a:xfrm>
            <a:prstGeom prst="rect">
              <a:avLst/>
            </a:prstGeom>
            <a:noFill/>
          </p:spPr>
          <p:txBody>
            <a:bodyPr wrap="square" rtlCol="0">
              <a:spAutoFit/>
            </a:bodyPr>
            <a:p>
              <a:r>
                <a:rPr lang="en-US" altLang="zh-CN" dirty="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p:sp>
        <p:nvSpPr>
          <p:cNvPr id="1048636" name="文本框 3"/>
          <p:cNvSpPr txBox="1"/>
          <p:nvPr/>
        </p:nvSpPr>
        <p:spPr>
          <a:xfrm>
            <a:off x="725805" y="2230755"/>
            <a:ext cx="5235575" cy="2584450"/>
          </a:xfrm>
          <a:prstGeom prst="rect">
            <a:avLst/>
          </a:prstGeom>
          <a:noFill/>
        </p:spPr>
        <p:txBody>
          <a:bodyPr wrap="square" rtlCol="0">
            <a:spAutoFit/>
          </a:bodyPr>
          <a:p>
            <a:pPr marL="285750" indent="-285750">
              <a:lnSpc>
                <a:spcPct val="150000"/>
              </a:lnSpc>
              <a:buFont typeface="Arial" panose="020B0604020202090204" pitchFamily="34" charset="0"/>
              <a:buChar char="•"/>
            </a:pPr>
            <a:r>
              <a:rPr lang="zh-CN" altLang="en-US" dirty="0">
                <a:latin typeface="思源黑体 CN Normal" panose="020B0400000000000000" pitchFamily="34" charset="-122"/>
                <a:ea typeface="思源黑体 CN Normal" panose="020B0400000000000000" pitchFamily="34" charset="-122"/>
              </a:rPr>
              <a:t>not only to interfere but also to deceive eavesdroppers</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rPr>
              <a:t>（</a:t>
            </a:r>
            <a:r>
              <a:rPr lang="en-US" altLang="zh-CN"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rPr>
              <a:t>Eve</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rPr>
              <a:t>）</a:t>
            </a:r>
            <a:endParaRPr lang="en-US" altLang="zh-CN"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endParaRPr>
          </a:p>
          <a:p>
            <a:pPr marL="285750" indent="-285750">
              <a:lnSpc>
                <a:spcPct val="150000"/>
              </a:lnSpc>
              <a:buFont typeface="Arial" panose="020B0604020202090204" pitchFamily="34" charset="0"/>
              <a:buChar char="•"/>
            </a:pPr>
            <a:r>
              <a:rPr lang="en-US" altLang="zh-CN" dirty="0">
                <a:solidFill>
                  <a:schemeClr val="tx1">
                    <a:lumMod val="85000"/>
                    <a:lumOff val="15000"/>
                  </a:schemeClr>
                </a:solidFill>
                <a:latin typeface="思源黑体 CN Normal" panose="020B0400000000000000" pitchFamily="34" charset="-122"/>
                <a:ea typeface="思源黑体 CN Normal" panose="020B0400000000000000" pitchFamily="34" charset="-122"/>
              </a:rPr>
              <a:t>Not degrade </a:t>
            </a: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rPr>
              <a:t>the system's communication performance</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rPr>
              <a:t>（</a:t>
            </a:r>
            <a:r>
              <a:rPr lang="en-US" altLang="zh-CN"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rPr>
              <a:t>Carol</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rPr>
              <a:t>）</a:t>
            </a:r>
            <a:endParaRPr lang="en-US" altLang="zh-CN"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endParaRPr>
          </a:p>
          <a:p>
            <a:pPr marL="285750" indent="-285750">
              <a:lnSpc>
                <a:spcPct val="150000"/>
              </a:lnSpc>
              <a:buFont typeface="Arial" panose="020B0604020202090204" pitchFamily="34" charset="0"/>
              <a:buChar char="•"/>
            </a:pPr>
            <a:r>
              <a:rPr lang="zh-CN" altLang="en-US" dirty="0" smtClean="0">
                <a:latin typeface="思源黑体 CN Normal" panose="020B0400000000000000" pitchFamily="34" charset="-122"/>
                <a:ea typeface="思源黑体 CN Normal" panose="020B0400000000000000" pitchFamily="34" charset="-122"/>
              </a:rPr>
              <a:t>supporting legitimate sensing</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rPr>
              <a:t>（</a:t>
            </a:r>
            <a:r>
              <a:rPr lang="en-US" altLang="zh-CN"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rPr>
              <a:t>Bob</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rPr>
              <a:t>）</a:t>
            </a:r>
            <a:endParaRPr lang="en-US" altLang="zh-CN"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endParaRPr>
          </a:p>
          <a:p>
            <a:pPr marL="285750" indent="-285750">
              <a:lnSpc>
                <a:spcPct val="150000"/>
              </a:lnSpc>
              <a:buFont typeface="Arial" panose="020B0604020202090204" pitchFamily="34" charset="0"/>
              <a:buChar char="•"/>
            </a:pP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rPr>
              <a:t>various scrambling </a:t>
            </a:r>
            <a:r>
              <a:rPr lang="en-US" altLang="zh-CN"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rPr>
              <a:t>pattern</a:t>
            </a:r>
            <a:r>
              <a:rPr lang="en-US" altLang="zh-CN"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rPr>
              <a:t>s</a:t>
            </a:r>
            <a:endParaRPr lang="en-US" altLang="zh-CN"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endParaRPr>
          </a:p>
        </p:txBody>
      </p:sp>
      <p:sp>
        <p:nvSpPr>
          <p:cNvPr id="1048637" name="文本框 4"/>
          <p:cNvSpPr txBox="1"/>
          <p:nvPr/>
        </p:nvSpPr>
        <p:spPr>
          <a:xfrm>
            <a:off x="704822" y="1378480"/>
            <a:ext cx="11296650" cy="645160"/>
          </a:xfrm>
          <a:prstGeom prst="rect">
            <a:avLst/>
          </a:prstGeom>
          <a:noFill/>
        </p:spPr>
        <p:txBody>
          <a:bodyPr wrap="none" rtlCol="0">
            <a:spAutoFit/>
          </a:bodyPr>
          <a:p>
            <a:pPr algn="l"/>
            <a:r>
              <a:rPr dirty="0">
                <a:solidFill>
                  <a:schemeClr val="tx1">
                    <a:lumMod val="85000"/>
                    <a:lumOff val="15000"/>
                  </a:schemeClr>
                </a:solidFill>
                <a:latin typeface="思源黑体 CN Normal" panose="020B0400000000000000" pitchFamily="34" charset="-122"/>
                <a:ea typeface="思源黑体 CN Normal" panose="020B0400000000000000" pitchFamily="34" charset="-122"/>
              </a:rPr>
              <a:t>We want to implement a built-in transmitter (Alice) scrambling scheme that achieves the following:</a:t>
            </a:r>
            <a:endParaRPr dirty="0">
              <a:solidFill>
                <a:schemeClr val="tx1">
                  <a:lumMod val="85000"/>
                  <a:lumOff val="15000"/>
                </a:schemeClr>
              </a:solidFill>
              <a:latin typeface="思源黑体 CN Normal" panose="020B0400000000000000" pitchFamily="34" charset="-122"/>
              <a:ea typeface="思源黑体 CN Normal" panose="020B0400000000000000" pitchFamily="34" charset="-122"/>
            </a:endParaRPr>
          </a:p>
          <a:p>
            <a:endParaRPr lang="zh-CN" alt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648" name="文本占位符 1"/>
          <p:cNvSpPr>
            <a:spLocks noGrp="1"/>
          </p:cNvSpPr>
          <p:nvPr>
            <p:ph type="body" sz="quarter" idx="12"/>
          </p:nvPr>
        </p:nvSpPr>
        <p:spPr>
          <a:xfrm>
            <a:off x="218105" y="76294"/>
            <a:ext cx="410545" cy="401955"/>
          </a:xfrm>
        </p:spPr>
        <p:txBody>
          <a:bodyPr/>
          <a:p>
            <a:r>
              <a:rPr lang="en-US" altLang="zh-CN" dirty="0"/>
              <a:t>2</a:t>
            </a:r>
            <a:endParaRPr lang="zh-CN" altLang="en-US" dirty="0"/>
          </a:p>
        </p:txBody>
      </p:sp>
      <p:sp>
        <p:nvSpPr>
          <p:cNvPr id="1048649" name="文本占位符 2"/>
          <p:cNvSpPr>
            <a:spLocks noGrp="1"/>
          </p:cNvSpPr>
          <p:nvPr>
            <p:ph type="body" sz="quarter" idx="13"/>
          </p:nvPr>
        </p:nvSpPr>
        <p:spPr/>
        <p:txBody>
          <a:bodyPr/>
          <a:p>
            <a:r>
              <a:rPr lang="zh-CN" altLang="en-US" kern="0" dirty="0">
                <a:ea typeface="楷体" panose="02010609060101010101" pitchFamily="49" charset="-122"/>
                <a:sym typeface="DengXian" panose="02010600030101010101" pitchFamily="2" charset="-122"/>
              </a:rPr>
              <a:t>内</a:t>
            </a:r>
            <a:r>
              <a:rPr lang="zh-CN" altLang="en-US" kern="0" dirty="0" smtClean="0">
                <a:ea typeface="楷体" panose="02010609060101010101" pitchFamily="49" charset="-122"/>
                <a:sym typeface="DengXian" panose="02010600030101010101" pitchFamily="2" charset="-122"/>
              </a:rPr>
              <a:t>建信道加扰方案</a:t>
            </a:r>
            <a:endParaRPr lang="zh-CN" altLang="en-US" kern="0" dirty="0">
              <a:ea typeface="楷体" panose="02010609060101010101" pitchFamily="49" charset="-122"/>
              <a:sym typeface="DengXian" panose="02010600030101010101" pitchFamily="2" charset="-122"/>
            </a:endParaRPr>
          </a:p>
        </p:txBody>
      </p:sp>
      <p:sp>
        <p:nvSpPr>
          <p:cNvPr id="1048650" name="文本框 6"/>
          <p:cNvSpPr txBox="1"/>
          <p:nvPr/>
        </p:nvSpPr>
        <p:spPr>
          <a:xfrm>
            <a:off x="0" y="628037"/>
            <a:ext cx="11064429" cy="726439"/>
          </a:xfrm>
          <a:prstGeom prst="rect">
            <a:avLst/>
          </a:prstGeom>
          <a:noFill/>
        </p:spPr>
        <p:txBody>
          <a:bodyPr wrap="square" rtlCol="0">
            <a:spAutoFit/>
          </a:bodyPr>
          <a:p>
            <a:pPr lvl="1">
              <a:lnSpc>
                <a:spcPct val="150000"/>
              </a:lnSpc>
            </a:pPr>
            <a:r>
              <a:rPr lang="en-US" altLang="zh-CN" sz="2500" dirty="0" smtClean="0">
                <a:solidFill>
                  <a:srgbClr val="9E008B"/>
                </a:solidFill>
                <a:latin typeface="Times New Roman" panose="02020503050405090304" pitchFamily="18" charset="0"/>
                <a:ea typeface="思源黑体 CN Bold" panose="020B0800000000000000" pitchFamily="34" charset="-122"/>
                <a:cs typeface="Times New Roman" panose="02020503050405090304" pitchFamily="18" charset="0"/>
                <a:sym typeface="DengXian" panose="02010600030101010101" pitchFamily="2" charset="-122"/>
              </a:rPr>
              <a:t>CSS</a:t>
            </a: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方案</a:t>
            </a:r>
            <a:r>
              <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的基本原理</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grpSp>
        <p:nvGrpSpPr>
          <p:cNvPr id="67" name="组合 3"/>
          <p:cNvGrpSpPr/>
          <p:nvPr/>
        </p:nvGrpSpPr>
        <p:grpSpPr>
          <a:xfrm>
            <a:off x="6481313" y="2537754"/>
            <a:ext cx="1798171" cy="2502912"/>
            <a:chOff x="5479828" y="2523130"/>
            <a:chExt cx="1798171" cy="2502912"/>
          </a:xfrm>
        </p:grpSpPr>
        <p:sp>
          <p:nvSpPr>
            <p:cNvPr id="1048651" name="文本框 16"/>
            <p:cNvSpPr txBox="1">
              <a:spLocks noRot="1" noChangeAspect="1" noMove="1" noResize="1" noEditPoints="1" noAdjustHandles="1" noChangeArrowheads="1" noChangeShapeType="1" noTextEdit="1"/>
            </p:cNvSpPr>
            <p:nvPr/>
          </p:nvSpPr>
          <p:spPr>
            <a:xfrm>
              <a:off x="5494497" y="2523130"/>
              <a:ext cx="795924" cy="369332"/>
            </a:xfrm>
            <a:prstGeom prst="rect">
              <a:avLst/>
            </a:prstGeom>
            <a:blipFill>
              <a:blip r:embed="rId1"/>
              <a:stretch>
                <a:fillRect/>
              </a:stretch>
            </a:blipFill>
          </p:spPr>
          <p:txBody>
            <a:bodyPr/>
            <a:p>
              <a:r>
                <a:rPr lang="zh-CN" altLang="en-US">
                  <a:noFill/>
                </a:rPr>
                <a:t> </a:t>
              </a:r>
              <a:endParaRPr lang="zh-CN" altLang="en-US">
                <a:noFill/>
              </a:endParaRPr>
            </a:p>
          </p:txBody>
        </p:sp>
        <p:sp>
          <p:nvSpPr>
            <p:cNvPr id="1048652" name="文本框 17"/>
            <p:cNvSpPr txBox="1">
              <a:spLocks noRot="1" noChangeAspect="1" noMove="1" noResize="1" noEditPoints="1" noAdjustHandles="1" noChangeArrowheads="1" noChangeShapeType="1" noTextEdit="1"/>
            </p:cNvSpPr>
            <p:nvPr/>
          </p:nvSpPr>
          <p:spPr>
            <a:xfrm>
              <a:off x="5494497" y="2942918"/>
              <a:ext cx="1730795" cy="369332"/>
            </a:xfrm>
            <a:prstGeom prst="rect">
              <a:avLst/>
            </a:prstGeom>
            <a:blipFill>
              <a:blip r:embed="rId2"/>
              <a:stretch>
                <a:fillRect/>
              </a:stretch>
            </a:blipFill>
          </p:spPr>
          <p:txBody>
            <a:bodyPr/>
            <a:p>
              <a:r>
                <a:rPr lang="zh-CN" altLang="en-US">
                  <a:noFill/>
                </a:rPr>
                <a:t> </a:t>
              </a:r>
              <a:endParaRPr lang="zh-CN" altLang="en-US">
                <a:noFill/>
              </a:endParaRPr>
            </a:p>
          </p:txBody>
        </p:sp>
        <p:sp>
          <p:nvSpPr>
            <p:cNvPr id="1048653" name="文本框 18"/>
            <p:cNvSpPr txBox="1">
              <a:spLocks noRot="1" noChangeAspect="1" noMove="1" noResize="1" noEditPoints="1" noAdjustHandles="1" noChangeArrowheads="1" noChangeShapeType="1" noTextEdit="1"/>
            </p:cNvSpPr>
            <p:nvPr/>
          </p:nvSpPr>
          <p:spPr>
            <a:xfrm>
              <a:off x="5494497" y="3298030"/>
              <a:ext cx="1783502" cy="666144"/>
            </a:xfrm>
            <a:prstGeom prst="rect">
              <a:avLst/>
            </a:prstGeom>
            <a:blipFill>
              <a:blip r:embed="rId3"/>
              <a:stretch>
                <a:fillRect b="-9091"/>
              </a:stretch>
            </a:blipFill>
          </p:spPr>
          <p:txBody>
            <a:bodyPr/>
            <a:p>
              <a:r>
                <a:rPr lang="zh-CN" altLang="en-US">
                  <a:noFill/>
                </a:rPr>
                <a:t> </a:t>
              </a:r>
              <a:endParaRPr lang="zh-CN" altLang="en-US">
                <a:noFill/>
              </a:endParaRPr>
            </a:p>
          </p:txBody>
        </p:sp>
        <p:sp>
          <p:nvSpPr>
            <p:cNvPr id="1048654" name="文本框 19"/>
            <p:cNvSpPr txBox="1">
              <a:spLocks noRot="1" noChangeAspect="1" noMove="1" noResize="1" noEditPoints="1" noAdjustHandles="1" noChangeArrowheads="1" noChangeShapeType="1" noTextEdit="1"/>
            </p:cNvSpPr>
            <p:nvPr/>
          </p:nvSpPr>
          <p:spPr>
            <a:xfrm>
              <a:off x="5479828" y="4082899"/>
              <a:ext cx="1581138" cy="943143"/>
            </a:xfrm>
            <a:prstGeom prst="rect">
              <a:avLst/>
            </a:prstGeom>
            <a:blipFill>
              <a:blip r:embed="rId4"/>
              <a:stretch>
                <a:fillRect/>
              </a:stretch>
            </a:blipFill>
          </p:spPr>
          <p:txBody>
            <a:bodyPr/>
            <a:p>
              <a:r>
                <a:rPr lang="zh-CN" altLang="en-US">
                  <a:noFill/>
                </a:rPr>
                <a:t> </a:t>
              </a:r>
              <a:endParaRPr lang="zh-CN" altLang="en-US">
                <a:noFill/>
              </a:endParaRPr>
            </a:p>
          </p:txBody>
        </p:sp>
      </p:grpSp>
      <p:sp>
        <p:nvSpPr>
          <p:cNvPr id="1048656" name="文本占位符 3"/>
          <p:cNvSpPr txBox="1"/>
          <p:nvPr/>
        </p:nvSpPr>
        <p:spPr>
          <a:xfrm>
            <a:off x="5911850" y="6453505"/>
            <a:ext cx="1031240" cy="40449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6/23</a:t>
            </a:r>
            <a:endParaRPr lang="en-US" altLang="zh-CN" sz="2000" dirty="0"/>
          </a:p>
        </p:txBody>
      </p:sp>
      <p:grpSp>
        <p:nvGrpSpPr>
          <p:cNvPr id="68" name="组合 22"/>
          <p:cNvGrpSpPr/>
          <p:nvPr/>
        </p:nvGrpSpPr>
        <p:grpSpPr>
          <a:xfrm>
            <a:off x="2356725" y="2537754"/>
            <a:ext cx="2487027" cy="2194896"/>
            <a:chOff x="423377" y="3193094"/>
            <a:chExt cx="2487027" cy="2194896"/>
          </a:xfrm>
        </p:grpSpPr>
        <p:sp>
          <p:nvSpPr>
            <p:cNvPr id="1048657" name="文本框 23"/>
            <p:cNvSpPr txBox="1">
              <a:spLocks noRot="1" noChangeAspect="1" noMove="1" noResize="1" noEditPoints="1" noAdjustHandles="1" noChangeArrowheads="1" noChangeShapeType="1" noTextEdit="1"/>
            </p:cNvSpPr>
            <p:nvPr/>
          </p:nvSpPr>
          <p:spPr>
            <a:xfrm>
              <a:off x="423377" y="3193094"/>
              <a:ext cx="1031886" cy="369332"/>
            </a:xfrm>
            <a:prstGeom prst="rect">
              <a:avLst/>
            </a:prstGeom>
            <a:blipFill>
              <a:blip r:embed="rId5"/>
              <a:stretch>
                <a:fillRect l="-5325" t="-9836" b="-22951"/>
              </a:stretch>
            </a:blipFill>
          </p:spPr>
          <p:txBody>
            <a:bodyPr/>
            <a:p>
              <a:r>
                <a:rPr lang="zh-CN" altLang="en-US">
                  <a:noFill/>
                </a:rPr>
                <a:t> </a:t>
              </a:r>
              <a:endParaRPr lang="zh-CN" altLang="en-US">
                <a:noFill/>
              </a:endParaRPr>
            </a:p>
          </p:txBody>
        </p:sp>
        <p:sp>
          <p:nvSpPr>
            <p:cNvPr id="1048658" name="文本框 24"/>
            <p:cNvSpPr txBox="1">
              <a:spLocks noRot="1" noChangeAspect="1" noMove="1" noResize="1" noEditPoints="1" noAdjustHandles="1" noChangeArrowheads="1" noChangeShapeType="1" noTextEdit="1"/>
            </p:cNvSpPr>
            <p:nvPr/>
          </p:nvSpPr>
          <p:spPr>
            <a:xfrm>
              <a:off x="423377" y="3616200"/>
              <a:ext cx="1907445" cy="369332"/>
            </a:xfrm>
            <a:prstGeom prst="rect">
              <a:avLst/>
            </a:prstGeom>
            <a:blipFill>
              <a:blip r:embed="rId6"/>
              <a:stretch>
                <a:fillRect l="-2875" t="-11667" b="-25000"/>
              </a:stretch>
            </a:blipFill>
          </p:spPr>
          <p:txBody>
            <a:bodyPr/>
            <a:p>
              <a:r>
                <a:rPr lang="zh-CN" altLang="en-US">
                  <a:noFill/>
                </a:rPr>
                <a:t> </a:t>
              </a:r>
              <a:endParaRPr lang="zh-CN" altLang="en-US">
                <a:noFill/>
              </a:endParaRPr>
            </a:p>
          </p:txBody>
        </p:sp>
        <p:sp>
          <p:nvSpPr>
            <p:cNvPr id="1048659" name="文本框 25"/>
            <p:cNvSpPr txBox="1">
              <a:spLocks noRot="1" noChangeAspect="1" noMove="1" noResize="1" noEditPoints="1" noAdjustHandles="1" noChangeArrowheads="1" noChangeShapeType="1" noTextEdit="1"/>
            </p:cNvSpPr>
            <p:nvPr/>
          </p:nvSpPr>
          <p:spPr>
            <a:xfrm>
              <a:off x="423377" y="3985532"/>
              <a:ext cx="2487027" cy="614848"/>
            </a:xfrm>
            <a:prstGeom prst="rect">
              <a:avLst/>
            </a:prstGeom>
            <a:blipFill>
              <a:blip r:embed="rId7"/>
              <a:stretch>
                <a:fillRect l="-2206" b="-10891"/>
              </a:stretch>
            </a:blipFill>
          </p:spPr>
          <p:txBody>
            <a:bodyPr/>
            <a:p>
              <a:r>
                <a:rPr lang="zh-CN" altLang="en-US">
                  <a:noFill/>
                </a:rPr>
                <a:t> </a:t>
              </a:r>
              <a:endParaRPr lang="zh-CN" altLang="en-US">
                <a:noFill/>
              </a:endParaRPr>
            </a:p>
          </p:txBody>
        </p:sp>
        <p:sp>
          <p:nvSpPr>
            <p:cNvPr id="1048660" name="文本框 26"/>
            <p:cNvSpPr txBox="1">
              <a:spLocks noRot="1" noChangeAspect="1" noMove="1" noResize="1" noEditPoints="1" noAdjustHandles="1" noChangeArrowheads="1" noChangeShapeType="1" noTextEdit="1"/>
            </p:cNvSpPr>
            <p:nvPr/>
          </p:nvSpPr>
          <p:spPr>
            <a:xfrm>
              <a:off x="452121" y="4773142"/>
              <a:ext cx="2020553" cy="614848"/>
            </a:xfrm>
            <a:prstGeom prst="rect">
              <a:avLst/>
            </a:prstGeom>
            <a:blipFill>
              <a:blip r:embed="rId8"/>
              <a:stretch>
                <a:fillRect l="-2410" b="-10891"/>
              </a:stretch>
            </a:blipFill>
          </p:spPr>
          <p:txBody>
            <a:bodyPr/>
            <a:p>
              <a:r>
                <a:rPr lang="zh-CN" altLang="en-US">
                  <a:noFill/>
                </a:rPr>
                <a:t> </a:t>
              </a:r>
              <a:endParaRPr lang="zh-CN" altLang="en-US">
                <a:noFill/>
              </a:endParaRPr>
            </a:p>
          </p:txBody>
        </p:sp>
      </p:grpSp>
      <p:sp>
        <p:nvSpPr>
          <p:cNvPr id="1048661" name="右箭头 4"/>
          <p:cNvSpPr/>
          <p:nvPr/>
        </p:nvSpPr>
        <p:spPr>
          <a:xfrm>
            <a:off x="5429661" y="3495444"/>
            <a:ext cx="480411" cy="300564"/>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p>
            <a:pPr algn="ctr"/>
            <a:endParaRPr lang="zh-CN" altLang="en-US"/>
          </a:p>
        </p:txBody>
      </p:sp>
      <p:sp>
        <p:nvSpPr>
          <p:cNvPr id="1048662" name="文本框 28"/>
          <p:cNvSpPr txBox="1"/>
          <p:nvPr/>
        </p:nvSpPr>
        <p:spPr>
          <a:xfrm>
            <a:off x="816623" y="1349036"/>
            <a:ext cx="10467676" cy="1198880"/>
          </a:xfrm>
          <a:prstGeom prst="rect">
            <a:avLst/>
          </a:prstGeom>
          <a:noFill/>
        </p:spPr>
        <p:txBody>
          <a:bodyPr wrap="square" rtlCol="0">
            <a:spAutoFit/>
          </a:bodyPr>
          <a:p>
            <a:r>
              <a:rPr dirty="0">
                <a:ea typeface="思源黑体 CN Bold" panose="020B0800000000000000"/>
              </a:rPr>
              <a:t>The Channel State Scrambling (CSS) scheme uses the receiver's channel estimation and equalization mechanism. The channel state changes introduced by CSS scrambling are perceived as real multipath propagation, allowing the receiver to correctly decode the data from the scrambled signal. However, the Channel State Information (CSI) measured by the receiver is scrambled.</a:t>
            </a:r>
            <a:endParaRPr dirty="0">
              <a:ea typeface="思源黑体 CN Bold" panose="020B0800000000000000"/>
            </a:endParaRPr>
          </a:p>
        </p:txBody>
      </p:sp>
      <p:grpSp>
        <p:nvGrpSpPr>
          <p:cNvPr id="69" name="组合 33"/>
          <p:cNvGrpSpPr/>
          <p:nvPr/>
        </p:nvGrpSpPr>
        <p:grpSpPr>
          <a:xfrm>
            <a:off x="4323644" y="65006"/>
            <a:ext cx="6325235" cy="742315"/>
            <a:chOff x="3330222" y="76294"/>
            <a:chExt cx="6325235" cy="742315"/>
          </a:xfrm>
        </p:grpSpPr>
        <p:sp>
          <p:nvSpPr>
            <p:cNvPr id="1048663" name="文本框 34"/>
            <p:cNvSpPr txBox="1"/>
            <p:nvPr/>
          </p:nvSpPr>
          <p:spPr>
            <a:xfrm>
              <a:off x="3330222" y="76294"/>
              <a:ext cx="1637665"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8664" name="文本框 35"/>
            <p:cNvSpPr txBox="1"/>
            <p:nvPr/>
          </p:nvSpPr>
          <p:spPr>
            <a:xfrm>
              <a:off x="4968484" y="76294"/>
              <a:ext cx="1354667" cy="396240"/>
            </a:xfrm>
            <a:prstGeom prst="rect">
              <a:avLst/>
            </a:prstGeom>
            <a:noFill/>
          </p:spPr>
          <p:txBody>
            <a:bodyPr wrap="square" rtlCol="0">
              <a:spAutoFit/>
            </a:bodyPr>
            <a:p>
              <a:r>
                <a:rPr lang="en-US" altLang="zh-CN" dirty="0" smtClean="0">
                  <a:solidFill>
                    <a:schemeClr val="bg1"/>
                  </a:solidFill>
                  <a:ea typeface="思源黑体 CN Bold" panose="020B0800000000000000"/>
                </a:rPr>
                <a:t>2.</a:t>
              </a:r>
              <a:r>
                <a:rPr lang="zh-CN" altLang="en-US" dirty="0" smtClean="0">
                  <a:solidFill>
                    <a:schemeClr val="bg1"/>
                  </a:solidFill>
                  <a:ea typeface="思源黑体 CN Bold" panose="020B0800000000000000"/>
                </a:rPr>
                <a:t>信道加扰</a:t>
              </a:r>
              <a:endParaRPr lang="zh-CN" altLang="en-US" dirty="0">
                <a:solidFill>
                  <a:schemeClr val="bg1"/>
                </a:solidFill>
                <a:ea typeface="思源黑体 CN Bold" panose="020B0800000000000000"/>
              </a:endParaRPr>
            </a:p>
          </p:txBody>
        </p:sp>
        <p:sp>
          <p:nvSpPr>
            <p:cNvPr id="1048665" name="文本框 36"/>
            <p:cNvSpPr txBox="1"/>
            <p:nvPr/>
          </p:nvSpPr>
          <p:spPr>
            <a:xfrm>
              <a:off x="6349012" y="76294"/>
              <a:ext cx="1631315"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8666" name="文本框 37"/>
            <p:cNvSpPr txBox="1"/>
            <p:nvPr/>
          </p:nvSpPr>
          <p:spPr>
            <a:xfrm>
              <a:off x="8024142" y="92804"/>
              <a:ext cx="1631315" cy="725805"/>
            </a:xfrm>
            <a:prstGeom prst="rect">
              <a:avLst/>
            </a:prstGeom>
            <a:noFill/>
          </p:spPr>
          <p:txBody>
            <a:bodyPr wrap="square" rtlCol="0">
              <a:noAutofit/>
            </a:bodyPr>
            <a:p>
              <a:r>
                <a:rPr lang="en-US" altLang="zh-CN" dirty="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p:sp>
        <p:nvSpPr>
          <p:cNvPr id="2" name="文本框 1"/>
          <p:cNvSpPr txBox="1"/>
          <p:nvPr/>
        </p:nvSpPr>
        <p:spPr>
          <a:xfrm>
            <a:off x="3752215" y="5171440"/>
            <a:ext cx="5265420" cy="843280"/>
          </a:xfrm>
          <a:prstGeom prst="rect">
            <a:avLst/>
          </a:prstGeom>
          <a:noFill/>
        </p:spPr>
        <p:txBody>
          <a:bodyPr wrap="square" rtlCol="0">
            <a:noAutofit/>
          </a:bodyPr>
          <a:p>
            <a:pPr marL="285750" indent="-285750">
              <a:buFont typeface="Arial" panose="020B0604020202090204" pitchFamily="34" charset="0"/>
              <a:buChar char="•"/>
            </a:pPr>
            <a:r>
              <a:rPr lang="zh-CN" altLang="en-US"/>
              <a:t>接收器测量得</a:t>
            </a:r>
            <a:r>
              <a:rPr lang="zh-CN" altLang="en-US"/>
              <a:t>到的</a:t>
            </a:r>
            <a:r>
              <a:rPr lang="en-US" altLang="zh-CN"/>
              <a:t>CSI </a:t>
            </a:r>
            <a:r>
              <a:rPr lang="zh-CN" altLang="en-US"/>
              <a:t>从</a:t>
            </a:r>
            <a:r>
              <a:rPr lang="en-US" altLang="zh-CN"/>
              <a:t> </a:t>
            </a:r>
            <a:r>
              <a:rPr lang="en-US" altLang="zh-CN">
                <a:solidFill>
                  <a:srgbClr val="FF0000"/>
                </a:solidFill>
              </a:rPr>
              <a:t>H</a:t>
            </a:r>
            <a:r>
              <a:rPr lang="en-US" altLang="zh-CN"/>
              <a:t> </a:t>
            </a:r>
            <a:r>
              <a:rPr lang="zh-CN" altLang="en-US"/>
              <a:t>变为</a:t>
            </a:r>
            <a:r>
              <a:rPr lang="en-US" altLang="zh-CN"/>
              <a:t> </a:t>
            </a:r>
            <a:r>
              <a:rPr lang="en-US" altLang="zh-CN">
                <a:solidFill>
                  <a:srgbClr val="FF0000"/>
                </a:solidFill>
              </a:rPr>
              <a:t>H x S</a:t>
            </a:r>
            <a:endParaRPr lang="en-US" altLang="zh-CN">
              <a:solidFill>
                <a:srgbClr val="FF0000"/>
              </a:solidFill>
            </a:endParaRPr>
          </a:p>
          <a:p>
            <a:pPr indent="0">
              <a:buFont typeface="Arial" panose="020B0604020202090204" pitchFamily="34" charset="0"/>
              <a:buNone/>
            </a:pPr>
            <a:endParaRPr lang="en-US" altLang="zh-CN">
              <a:solidFill>
                <a:srgbClr val="FF0000"/>
              </a:solidFill>
            </a:endParaRPr>
          </a:p>
          <a:p>
            <a:pPr marL="285750" indent="-285750">
              <a:buFont typeface="Arial" panose="020B0604020202090204" pitchFamily="34" charset="0"/>
              <a:buChar char="•"/>
            </a:pPr>
            <a:r>
              <a:rPr lang="zh-CN" altLang="en-US">
                <a:solidFill>
                  <a:schemeClr val="tx1"/>
                </a:solidFill>
              </a:rPr>
              <a:t>解得的数据不变，也就是不影响通信</a:t>
            </a:r>
            <a:endParaRPr lang="zh-CN" altLang="en-US">
              <a:solidFill>
                <a:schemeClr val="tx1"/>
              </a:solidFill>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740" name="文本占位符 1"/>
          <p:cNvSpPr>
            <a:spLocks noGrp="1"/>
          </p:cNvSpPr>
          <p:nvPr>
            <p:ph type="body" sz="quarter" idx="12"/>
          </p:nvPr>
        </p:nvSpPr>
        <p:spPr>
          <a:xfrm>
            <a:off x="218105" y="76294"/>
            <a:ext cx="410545" cy="401955"/>
          </a:xfrm>
        </p:spPr>
        <p:txBody>
          <a:bodyPr/>
          <a:p>
            <a:r>
              <a:rPr lang="en-US" altLang="zh-CN" dirty="0"/>
              <a:t>2</a:t>
            </a:r>
            <a:endParaRPr lang="zh-CN" altLang="en-US" dirty="0"/>
          </a:p>
        </p:txBody>
      </p:sp>
      <p:sp>
        <p:nvSpPr>
          <p:cNvPr id="1048741" name="文本占位符 2"/>
          <p:cNvSpPr>
            <a:spLocks noGrp="1"/>
          </p:cNvSpPr>
          <p:nvPr>
            <p:ph type="body" sz="quarter" idx="13"/>
          </p:nvPr>
        </p:nvSpPr>
        <p:spPr/>
        <p:txBody>
          <a:bodyPr/>
          <a:p>
            <a:r>
              <a:rPr lang="zh-CN" altLang="en-US" kern="0" dirty="0">
                <a:ea typeface="楷体" panose="02010609060101010101" pitchFamily="49" charset="-122"/>
                <a:sym typeface="DengXian" panose="02010600030101010101" pitchFamily="2" charset="-122"/>
              </a:rPr>
              <a:t>内</a:t>
            </a:r>
            <a:r>
              <a:rPr lang="zh-CN" altLang="en-US" kern="0" dirty="0" smtClean="0">
                <a:ea typeface="楷体" panose="02010609060101010101" pitchFamily="49" charset="-122"/>
                <a:sym typeface="DengXian" panose="02010600030101010101" pitchFamily="2" charset="-122"/>
              </a:rPr>
              <a:t>建信道加扰方案</a:t>
            </a:r>
            <a:endParaRPr lang="zh-CN" altLang="en-US" kern="0" dirty="0">
              <a:ea typeface="楷体" panose="02010609060101010101" pitchFamily="49" charset="-122"/>
              <a:sym typeface="DengXian" panose="02010600030101010101" pitchFamily="2" charset="-122"/>
            </a:endParaRPr>
          </a:p>
        </p:txBody>
      </p:sp>
      <p:sp>
        <p:nvSpPr>
          <p:cNvPr id="1048742" name="文本框 6"/>
          <p:cNvSpPr txBox="1"/>
          <p:nvPr/>
        </p:nvSpPr>
        <p:spPr>
          <a:xfrm>
            <a:off x="379854" y="586888"/>
            <a:ext cx="11064429" cy="726440"/>
          </a:xfrm>
          <a:prstGeom prst="rect">
            <a:avLst/>
          </a:prstGeom>
          <a:noFill/>
        </p:spPr>
        <p:txBody>
          <a:bodyPr wrap="square" rtlCol="0">
            <a:spAutoFit/>
          </a:bodyPr>
          <a:p>
            <a:pPr marL="0" lvl="1">
              <a:lnSpc>
                <a:spcPct val="150000"/>
              </a:lnSpc>
            </a:pPr>
            <a:r>
              <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线性预测算法及其应用示例</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pic>
        <p:nvPicPr>
          <p:cNvPr id="2097168" name="图片 3"/>
          <p:cNvPicPr>
            <a:picLocks noChangeAspect="1"/>
          </p:cNvPicPr>
          <p:nvPr/>
        </p:nvPicPr>
        <p:blipFill>
          <a:blip r:embed="rId1"/>
          <a:stretch>
            <a:fillRect/>
          </a:stretch>
        </p:blipFill>
        <p:spPr>
          <a:xfrm>
            <a:off x="5763970" y="2692529"/>
            <a:ext cx="5886146" cy="3437369"/>
          </a:xfrm>
          <a:prstGeom prst="rect">
            <a:avLst/>
          </a:prstGeom>
        </p:spPr>
      </p:pic>
      <p:sp>
        <p:nvSpPr>
          <p:cNvPr id="1048743" name="文本框 8"/>
          <p:cNvSpPr txBox="1"/>
          <p:nvPr/>
        </p:nvSpPr>
        <p:spPr>
          <a:xfrm>
            <a:off x="628650" y="1383857"/>
            <a:ext cx="4793955" cy="2030095"/>
          </a:xfrm>
          <a:prstGeom prst="rect">
            <a:avLst/>
          </a:prstGeom>
          <a:noFill/>
        </p:spPr>
        <p:txBody>
          <a:bodyPr wrap="square" rtlCol="0">
            <a:spAutoFit/>
          </a:bodyPr>
          <a:p>
            <a:r>
              <a:rPr dirty="0">
                <a:ea typeface="思源黑体 CN Bold" panose="020B0800000000000000"/>
              </a:rPr>
              <a:t>The Linear Predictive Coding (LPC) algorithm from speech synthesis can generate numerous signals similar in frequency components to the original signal based on a few parameters. </a:t>
            </a:r>
            <a:r>
              <a:rPr lang="en-US" dirty="0">
                <a:ea typeface="思源黑体 CN Bold" panose="020B0800000000000000"/>
              </a:rPr>
              <a:t>We leverage it</a:t>
            </a:r>
            <a:r>
              <a:rPr dirty="0">
                <a:ea typeface="思源黑体 CN Bold" panose="020B0800000000000000"/>
              </a:rPr>
              <a:t> to create scrambling vectors for Wi-Fi signals, mimicking human activity signals.</a:t>
            </a:r>
            <a:r>
              <a:rPr lang="zh-CN" altLang="en-US" dirty="0">
                <a:ea typeface="思源黑体 CN Bold" panose="020B0800000000000000"/>
              </a:rPr>
              <a:t> </a:t>
            </a:r>
            <a:endParaRPr lang="zh-CN" altLang="en-US" dirty="0">
              <a:ea typeface="思源黑体 CN Bold" panose="020B0800000000000000"/>
            </a:endParaRPr>
          </a:p>
        </p:txBody>
      </p:sp>
      <p:pic>
        <p:nvPicPr>
          <p:cNvPr id="2097169" name="colorcloud">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183050" y="4625048"/>
            <a:ext cx="609600" cy="609600"/>
          </a:xfrm>
          <a:prstGeom prst="rect">
            <a:avLst/>
          </a:prstGeom>
        </p:spPr>
        <p:style>
          <a:lnRef idx="1">
            <a:schemeClr val="accent5"/>
          </a:lnRef>
          <a:fillRef idx="2">
            <a:schemeClr val="accent5"/>
          </a:fillRef>
          <a:effectRef idx="1">
            <a:schemeClr val="accent5"/>
          </a:effectRef>
          <a:fontRef idx="minor">
            <a:schemeClr val="dk1"/>
          </a:fontRef>
        </p:style>
      </p:pic>
      <p:pic>
        <p:nvPicPr>
          <p:cNvPr id="2097170" name="colorcloud_output_voice">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4"/>
          <a:stretch>
            <a:fillRect/>
          </a:stretch>
        </p:blipFill>
        <p:spPr>
          <a:xfrm>
            <a:off x="3764621" y="4625048"/>
            <a:ext cx="609600" cy="609600"/>
          </a:xfrm>
          <a:prstGeom prst="rect">
            <a:avLst/>
          </a:prstGeom>
        </p:spPr>
        <p:style>
          <a:lnRef idx="1">
            <a:schemeClr val="accent6"/>
          </a:lnRef>
          <a:fillRef idx="2">
            <a:schemeClr val="accent6"/>
          </a:fillRef>
          <a:effectRef idx="1">
            <a:schemeClr val="accent6"/>
          </a:effectRef>
          <a:fontRef idx="minor">
            <a:schemeClr val="dk1"/>
          </a:fontRef>
        </p:style>
      </p:pic>
      <p:sp>
        <p:nvSpPr>
          <p:cNvPr id="1048744" name="文本框 9"/>
          <p:cNvSpPr txBox="1"/>
          <p:nvPr/>
        </p:nvSpPr>
        <p:spPr>
          <a:xfrm>
            <a:off x="933852" y="5467532"/>
            <a:ext cx="1097280" cy="396240"/>
          </a:xfrm>
          <a:prstGeom prst="rect">
            <a:avLst/>
          </a:prstGeom>
          <a:noFill/>
        </p:spPr>
        <p:txBody>
          <a:bodyPr wrap="none" rtlCol="0">
            <a:spAutoFit/>
          </a:bodyPr>
          <a:p>
            <a:r>
              <a:rPr lang="zh-CN" altLang="en-US" dirty="0" smtClean="0">
                <a:ea typeface="思源黑体 CN Bold" panose="020B0800000000000000"/>
              </a:rPr>
              <a:t>原始信号</a:t>
            </a:r>
            <a:endParaRPr lang="zh-CN" altLang="en-US" dirty="0">
              <a:ea typeface="思源黑体 CN Bold" panose="020B0800000000000000"/>
            </a:endParaRPr>
          </a:p>
        </p:txBody>
      </p:sp>
      <p:sp>
        <p:nvSpPr>
          <p:cNvPr id="1048745" name="文本框 10"/>
          <p:cNvSpPr txBox="1"/>
          <p:nvPr/>
        </p:nvSpPr>
        <p:spPr>
          <a:xfrm>
            <a:off x="7460548" y="6129898"/>
            <a:ext cx="2468880" cy="396239"/>
          </a:xfrm>
          <a:prstGeom prst="rect">
            <a:avLst/>
          </a:prstGeom>
          <a:noFill/>
        </p:spPr>
        <p:txBody>
          <a:bodyPr wrap="none" rtlCol="0">
            <a:spAutoFit/>
          </a:bodyPr>
          <a:p>
            <a:r>
              <a:rPr lang="zh-CN" altLang="en-US" dirty="0">
                <a:ea typeface="思源黑体 CN Bold" panose="020B0800000000000000"/>
              </a:rPr>
              <a:t>线性预测</a:t>
            </a:r>
            <a:r>
              <a:rPr lang="zh-CN" altLang="en-US" dirty="0" smtClean="0">
                <a:ea typeface="思源黑体 CN Bold" panose="020B0800000000000000"/>
              </a:rPr>
              <a:t>算法基本流程</a:t>
            </a:r>
            <a:endParaRPr lang="zh-CN" altLang="en-US" dirty="0">
              <a:ea typeface="思源黑体 CN Bold" panose="020B0800000000000000"/>
            </a:endParaRPr>
          </a:p>
        </p:txBody>
      </p:sp>
      <p:pic>
        <p:nvPicPr>
          <p:cNvPr id="2097171" name="图片 11"/>
          <p:cNvPicPr>
            <a:picLocks noChangeAspect="1"/>
          </p:cNvPicPr>
          <p:nvPr/>
        </p:nvPicPr>
        <p:blipFill>
          <a:blip r:embed="rId7"/>
          <a:stretch>
            <a:fillRect/>
          </a:stretch>
        </p:blipFill>
        <p:spPr>
          <a:xfrm>
            <a:off x="1183005" y="5977710"/>
            <a:ext cx="3273625" cy="874873"/>
          </a:xfrm>
          <a:prstGeom prst="rect">
            <a:avLst/>
          </a:prstGeom>
        </p:spPr>
      </p:pic>
      <p:sp>
        <p:nvSpPr>
          <p:cNvPr id="1048746" name="文本框 12"/>
          <p:cNvSpPr txBox="1">
            <a:spLocks noRot="1" noChangeAspect="1" noMove="1" noResize="1" noEditPoints="1" noAdjustHandles="1" noChangeArrowheads="1" noChangeShapeType="1" noTextEdit="1"/>
          </p:cNvSpPr>
          <p:nvPr/>
        </p:nvSpPr>
        <p:spPr>
          <a:xfrm>
            <a:off x="628649" y="3518812"/>
            <a:ext cx="4793955" cy="646331"/>
          </a:xfrm>
          <a:prstGeom prst="rect">
            <a:avLst/>
          </a:prstGeom>
          <a:blipFill>
            <a:blip r:embed="rId8"/>
            <a:stretch>
              <a:fillRect l="-1017" t="-4717" b="-13208"/>
            </a:stretch>
          </a:blipFill>
        </p:spPr>
        <p:txBody>
          <a:bodyPr/>
          <a:p>
            <a:r>
              <a:rPr lang="zh-CN" altLang="en-US">
                <a:noFill/>
              </a:rPr>
              <a:t> </a:t>
            </a:r>
            <a:endParaRPr lang="zh-CN" altLang="en-US">
              <a:noFill/>
            </a:endParaRPr>
          </a:p>
        </p:txBody>
      </p:sp>
      <p:sp>
        <p:nvSpPr>
          <p:cNvPr id="1048747" name="文本占位符 3"/>
          <p:cNvSpPr txBox="1"/>
          <p:nvPr/>
        </p:nvSpPr>
        <p:spPr>
          <a:xfrm>
            <a:off x="5552440" y="6453505"/>
            <a:ext cx="1129030" cy="40449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7/23</a:t>
            </a:r>
            <a:endParaRPr lang="en-US" altLang="zh-CN" sz="2000" dirty="0"/>
          </a:p>
        </p:txBody>
      </p:sp>
      <p:sp>
        <p:nvSpPr>
          <p:cNvPr id="1048748" name="文本框 15"/>
          <p:cNvSpPr txBox="1"/>
          <p:nvPr/>
        </p:nvSpPr>
        <p:spPr>
          <a:xfrm>
            <a:off x="3515423" y="5467532"/>
            <a:ext cx="1097280" cy="396240"/>
          </a:xfrm>
          <a:prstGeom prst="rect">
            <a:avLst/>
          </a:prstGeom>
          <a:noFill/>
        </p:spPr>
        <p:txBody>
          <a:bodyPr wrap="none" rtlCol="0">
            <a:spAutoFit/>
          </a:bodyPr>
          <a:p>
            <a:r>
              <a:rPr lang="zh-CN" altLang="en-US" dirty="0">
                <a:ea typeface="思源黑体 CN Bold" panose="020B0800000000000000"/>
              </a:rPr>
              <a:t>合成</a:t>
            </a:r>
            <a:r>
              <a:rPr lang="zh-CN" altLang="en-US" dirty="0" smtClean="0">
                <a:ea typeface="思源黑体 CN Bold" panose="020B0800000000000000"/>
              </a:rPr>
              <a:t>信号</a:t>
            </a:r>
            <a:endParaRPr lang="zh-CN" altLang="en-US" dirty="0">
              <a:ea typeface="思源黑体 CN Bold" panose="020B0800000000000000"/>
            </a:endParaRPr>
          </a:p>
        </p:txBody>
      </p:sp>
      <p:pic>
        <p:nvPicPr>
          <p:cNvPr id="2097172" name="图片 14"/>
          <p:cNvPicPr>
            <a:picLocks noChangeAspect="1"/>
          </p:cNvPicPr>
          <p:nvPr/>
        </p:nvPicPr>
        <p:blipFill>
          <a:blip r:embed="rId9" cstate="hqprint"/>
          <a:stretch>
            <a:fillRect/>
          </a:stretch>
        </p:blipFill>
        <p:spPr>
          <a:xfrm>
            <a:off x="5900611" y="717308"/>
            <a:ext cx="2747122" cy="1813387"/>
          </a:xfrm>
          <a:prstGeom prst="rect">
            <a:avLst/>
          </a:prstGeom>
        </p:spPr>
      </p:pic>
      <p:pic>
        <p:nvPicPr>
          <p:cNvPr id="2097173" name="图片 16"/>
          <p:cNvPicPr>
            <a:picLocks noChangeAspect="1"/>
          </p:cNvPicPr>
          <p:nvPr/>
        </p:nvPicPr>
        <p:blipFill>
          <a:blip r:embed="rId10" cstate="hqprint"/>
          <a:stretch>
            <a:fillRect/>
          </a:stretch>
        </p:blipFill>
        <p:spPr>
          <a:xfrm>
            <a:off x="8979429" y="758992"/>
            <a:ext cx="2761019" cy="1730018"/>
          </a:xfrm>
          <a:prstGeom prst="rect">
            <a:avLst/>
          </a:prstGeom>
        </p:spPr>
      </p:pic>
      <p:grpSp>
        <p:nvGrpSpPr>
          <p:cNvPr id="83" name="组合 21"/>
          <p:cNvGrpSpPr/>
          <p:nvPr/>
        </p:nvGrpSpPr>
        <p:grpSpPr>
          <a:xfrm>
            <a:off x="4323644" y="65006"/>
            <a:ext cx="6332220" cy="396240"/>
            <a:chOff x="3330222" y="76294"/>
            <a:chExt cx="6332220" cy="396240"/>
          </a:xfrm>
        </p:grpSpPr>
        <p:sp>
          <p:nvSpPr>
            <p:cNvPr id="1048766" name="文本框 22"/>
            <p:cNvSpPr txBox="1"/>
            <p:nvPr>
              <p:custDataLst>
                <p:tags r:id="rId11"/>
              </p:custDataLst>
            </p:nvPr>
          </p:nvSpPr>
          <p:spPr>
            <a:xfrm>
              <a:off x="3330222" y="76294"/>
              <a:ext cx="1637665"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8767" name="文本框 25"/>
            <p:cNvSpPr txBox="1"/>
            <p:nvPr>
              <p:custDataLst>
                <p:tags r:id="rId12"/>
              </p:custDataLst>
            </p:nvPr>
          </p:nvSpPr>
          <p:spPr>
            <a:xfrm>
              <a:off x="4968484" y="76294"/>
              <a:ext cx="1354667" cy="396240"/>
            </a:xfrm>
            <a:prstGeom prst="rect">
              <a:avLst/>
            </a:prstGeom>
            <a:noFill/>
          </p:spPr>
          <p:txBody>
            <a:bodyPr wrap="square" rtlCol="0">
              <a:spAutoFit/>
            </a:bodyPr>
            <a:p>
              <a:r>
                <a:rPr lang="en-US" altLang="zh-CN" dirty="0" smtClean="0">
                  <a:solidFill>
                    <a:schemeClr val="bg1"/>
                  </a:solidFill>
                  <a:ea typeface="思源黑体 CN Bold" panose="020B0800000000000000"/>
                </a:rPr>
                <a:t>2.</a:t>
              </a:r>
              <a:r>
                <a:rPr lang="zh-CN" altLang="en-US" dirty="0" smtClean="0">
                  <a:solidFill>
                    <a:schemeClr val="bg1"/>
                  </a:solidFill>
                  <a:ea typeface="思源黑体 CN Bold" panose="020B0800000000000000"/>
                </a:rPr>
                <a:t>信道加扰</a:t>
              </a:r>
              <a:endParaRPr lang="zh-CN" altLang="en-US" dirty="0">
                <a:solidFill>
                  <a:schemeClr val="bg1"/>
                </a:solidFill>
                <a:ea typeface="思源黑体 CN Bold" panose="020B0800000000000000"/>
              </a:endParaRPr>
            </a:p>
          </p:txBody>
        </p:sp>
        <p:sp>
          <p:nvSpPr>
            <p:cNvPr id="1048768" name="文本框 26"/>
            <p:cNvSpPr txBox="1"/>
            <p:nvPr>
              <p:custDataLst>
                <p:tags r:id="rId13"/>
              </p:custDataLst>
            </p:nvPr>
          </p:nvSpPr>
          <p:spPr>
            <a:xfrm>
              <a:off x="6349012" y="76294"/>
              <a:ext cx="1638300"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8769" name="文本框 27"/>
            <p:cNvSpPr txBox="1"/>
            <p:nvPr>
              <p:custDataLst>
                <p:tags r:id="rId14"/>
              </p:custDataLst>
            </p:nvPr>
          </p:nvSpPr>
          <p:spPr>
            <a:xfrm>
              <a:off x="8024142" y="92804"/>
              <a:ext cx="1638300" cy="368300"/>
            </a:xfrm>
            <a:prstGeom prst="rect">
              <a:avLst/>
            </a:prstGeom>
            <a:noFill/>
          </p:spPr>
          <p:txBody>
            <a:bodyPr wrap="square" rtlCol="0">
              <a:spAutoFit/>
            </a:bodyPr>
            <a:p>
              <a:r>
                <a:rPr lang="en-US" altLang="zh-CN" dirty="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p:spTree>
  </p:cSld>
  <p:clrMapOvr>
    <a:masterClrMapping/>
  </p:clrMapOvr>
  <p:transition/>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2097169"/>
                </p:tgtEl>
              </p:cMediaNode>
            </p:audio>
            <p:audio>
              <p:cMediaNode vol="80000">
                <p:cTn id="3" fill="hold" display="0">
                  <p:stCondLst>
                    <p:cond delay="indefinite"/>
                  </p:stCondLst>
                  <p:endCondLst>
                    <p:cond evt="onStopAudio" delay="0">
                      <p:tgtEl>
                        <p:sldTgt/>
                      </p:tgtEl>
                    </p:cond>
                  </p:endCondLst>
                </p:cTn>
                <p:tgtEl>
                  <p:spTgt spid="2097170"/>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756" name="文本占位符 1"/>
          <p:cNvSpPr>
            <a:spLocks noGrp="1"/>
          </p:cNvSpPr>
          <p:nvPr>
            <p:ph type="body" sz="quarter" idx="12"/>
          </p:nvPr>
        </p:nvSpPr>
        <p:spPr>
          <a:xfrm>
            <a:off x="218105" y="76294"/>
            <a:ext cx="410545" cy="401955"/>
          </a:xfrm>
        </p:spPr>
        <p:txBody>
          <a:bodyPr/>
          <a:p>
            <a:r>
              <a:rPr lang="en-US" altLang="zh-CN" dirty="0"/>
              <a:t>2</a:t>
            </a:r>
            <a:endParaRPr lang="zh-CN" altLang="en-US" dirty="0"/>
          </a:p>
        </p:txBody>
      </p:sp>
      <p:sp>
        <p:nvSpPr>
          <p:cNvPr id="1048757" name="文本占位符 2"/>
          <p:cNvSpPr>
            <a:spLocks noGrp="1"/>
          </p:cNvSpPr>
          <p:nvPr>
            <p:ph type="body" sz="quarter" idx="13"/>
          </p:nvPr>
        </p:nvSpPr>
        <p:spPr/>
        <p:txBody>
          <a:bodyPr/>
          <a:p>
            <a:r>
              <a:rPr lang="zh-CN" altLang="en-US" kern="0" dirty="0">
                <a:ea typeface="楷体" panose="02010609060101010101" pitchFamily="49" charset="-122"/>
                <a:sym typeface="DengXian" panose="02010600030101010101" pitchFamily="2" charset="-122"/>
              </a:rPr>
              <a:t>内</a:t>
            </a:r>
            <a:r>
              <a:rPr lang="zh-CN" altLang="en-US" kern="0" dirty="0" smtClean="0">
                <a:ea typeface="楷体" panose="02010609060101010101" pitchFamily="49" charset="-122"/>
                <a:sym typeface="DengXian" panose="02010600030101010101" pitchFamily="2" charset="-122"/>
              </a:rPr>
              <a:t>建信道加扰方案</a:t>
            </a:r>
            <a:endParaRPr lang="zh-CN" altLang="en-US" kern="0" dirty="0">
              <a:ea typeface="楷体" panose="02010609060101010101" pitchFamily="49" charset="-122"/>
              <a:sym typeface="DengXian" panose="02010600030101010101" pitchFamily="2" charset="-122"/>
            </a:endParaRPr>
          </a:p>
        </p:txBody>
      </p:sp>
      <p:sp>
        <p:nvSpPr>
          <p:cNvPr id="1048758" name="文本框 6"/>
          <p:cNvSpPr txBox="1"/>
          <p:nvPr/>
        </p:nvSpPr>
        <p:spPr>
          <a:xfrm>
            <a:off x="379854" y="579849"/>
            <a:ext cx="11064429" cy="726440"/>
          </a:xfrm>
          <a:prstGeom prst="rect">
            <a:avLst/>
          </a:prstGeom>
          <a:noFill/>
        </p:spPr>
        <p:txBody>
          <a:bodyPr wrap="square" rtlCol="0">
            <a:spAutoFit/>
          </a:bodyPr>
          <a:p>
            <a:pPr marL="0" lvl="1">
              <a:lnSpc>
                <a:spcPct val="150000"/>
              </a:lnSpc>
            </a:pP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线性预测算法生成人体活动信号</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sp>
        <p:nvSpPr>
          <p:cNvPr id="1048759" name="文本占位符 3"/>
          <p:cNvSpPr txBox="1"/>
          <p:nvPr/>
        </p:nvSpPr>
        <p:spPr>
          <a:xfrm>
            <a:off x="5529580" y="6453505"/>
            <a:ext cx="1167130" cy="43243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8/23</a:t>
            </a:r>
            <a:endParaRPr lang="en-US" altLang="zh-CN" sz="2000" dirty="0"/>
          </a:p>
        </p:txBody>
      </p:sp>
      <p:pic>
        <p:nvPicPr>
          <p:cNvPr id="2097174" name="图片 5"/>
          <p:cNvPicPr>
            <a:picLocks noChangeAspect="1"/>
          </p:cNvPicPr>
          <p:nvPr/>
        </p:nvPicPr>
        <p:blipFill>
          <a:blip r:embed="rId1" cstate="hqprint"/>
          <a:stretch>
            <a:fillRect/>
          </a:stretch>
        </p:blipFill>
        <p:spPr>
          <a:xfrm>
            <a:off x="379854" y="3693255"/>
            <a:ext cx="3652392" cy="2288541"/>
          </a:xfrm>
          <a:prstGeom prst="rect">
            <a:avLst/>
          </a:prstGeom>
        </p:spPr>
      </p:pic>
      <p:pic>
        <p:nvPicPr>
          <p:cNvPr id="2097175" name="图片 10"/>
          <p:cNvPicPr>
            <a:picLocks noChangeAspect="1"/>
          </p:cNvPicPr>
          <p:nvPr/>
        </p:nvPicPr>
        <p:blipFill>
          <a:blip r:embed="rId2" cstate="hqprint"/>
          <a:stretch>
            <a:fillRect/>
          </a:stretch>
        </p:blipFill>
        <p:spPr>
          <a:xfrm>
            <a:off x="423377" y="1282575"/>
            <a:ext cx="3498056" cy="2309081"/>
          </a:xfrm>
          <a:prstGeom prst="rect">
            <a:avLst/>
          </a:prstGeom>
        </p:spPr>
      </p:pic>
      <p:pic>
        <p:nvPicPr>
          <p:cNvPr id="2097176" name="图片 11"/>
          <p:cNvPicPr>
            <a:picLocks noChangeAspect="1"/>
          </p:cNvPicPr>
          <p:nvPr/>
        </p:nvPicPr>
        <p:blipFill>
          <a:blip r:embed="rId3"/>
          <a:stretch>
            <a:fillRect/>
          </a:stretch>
        </p:blipFill>
        <p:spPr>
          <a:xfrm>
            <a:off x="8330640" y="3693255"/>
            <a:ext cx="3611709" cy="2288541"/>
          </a:xfrm>
          <a:prstGeom prst="rect">
            <a:avLst/>
          </a:prstGeom>
        </p:spPr>
      </p:pic>
      <p:pic>
        <p:nvPicPr>
          <p:cNvPr id="2097177" name="图片 12"/>
          <p:cNvPicPr>
            <a:picLocks noChangeAspect="1"/>
          </p:cNvPicPr>
          <p:nvPr/>
        </p:nvPicPr>
        <p:blipFill>
          <a:blip r:embed="rId4"/>
          <a:stretch>
            <a:fillRect/>
          </a:stretch>
        </p:blipFill>
        <p:spPr>
          <a:xfrm>
            <a:off x="8353822" y="1284272"/>
            <a:ext cx="3498056" cy="2305686"/>
          </a:xfrm>
          <a:prstGeom prst="rect">
            <a:avLst/>
          </a:prstGeom>
        </p:spPr>
      </p:pic>
      <p:sp>
        <p:nvSpPr>
          <p:cNvPr id="1048760" name="矩形 13"/>
          <p:cNvSpPr/>
          <p:nvPr/>
        </p:nvSpPr>
        <p:spPr>
          <a:xfrm>
            <a:off x="5264047" y="1218821"/>
            <a:ext cx="1554480" cy="396240"/>
          </a:xfrm>
          <a:prstGeom prst="rect">
            <a:avLst/>
          </a:prstGeom>
        </p:spPr>
        <p:txBody>
          <a:bodyPr wrap="none">
            <a:spAutoFit/>
          </a:bodyPr>
          <a:p>
            <a:r>
              <a:rPr lang="zh-CN" altLang="en-US" dirty="0" smtClean="0">
                <a:solidFill>
                  <a:schemeClr val="tx1"/>
                </a:solidFill>
                <a:ea typeface="思源黑体 CN Bold" panose="020B0800000000000000"/>
              </a:rPr>
              <a:t>线性预测算法</a:t>
            </a:r>
            <a:endParaRPr lang="zh-CN" altLang="en-US" dirty="0">
              <a:solidFill>
                <a:schemeClr val="tx1"/>
              </a:solidFill>
              <a:ea typeface="思源黑体 CN Bold" panose="020B0800000000000000"/>
            </a:endParaRPr>
          </a:p>
        </p:txBody>
      </p:sp>
      <p:sp>
        <p:nvSpPr>
          <p:cNvPr id="1048761" name="右箭头 14"/>
          <p:cNvSpPr/>
          <p:nvPr/>
        </p:nvSpPr>
        <p:spPr>
          <a:xfrm>
            <a:off x="4514850" y="1512570"/>
            <a:ext cx="3216275" cy="433070"/>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p>
            <a:pPr algn="ctr"/>
            <a:endParaRPr lang="zh-CN" altLang="en-US"/>
          </a:p>
        </p:txBody>
      </p:sp>
      <p:sp>
        <p:nvSpPr>
          <p:cNvPr id="1048762" name="文本框 15"/>
          <p:cNvSpPr txBox="1"/>
          <p:nvPr/>
        </p:nvSpPr>
        <p:spPr>
          <a:xfrm>
            <a:off x="1324674" y="6083395"/>
            <a:ext cx="2011680" cy="396239"/>
          </a:xfrm>
          <a:prstGeom prst="rect">
            <a:avLst/>
          </a:prstGeom>
          <a:noFill/>
        </p:spPr>
        <p:txBody>
          <a:bodyPr wrap="none" rtlCol="0">
            <a:spAutoFit/>
          </a:bodyPr>
          <a:p>
            <a:r>
              <a:rPr lang="zh-CN" altLang="en-US" dirty="0" smtClean="0">
                <a:ea typeface="思源黑体 CN Bold" panose="020B0800000000000000"/>
              </a:rPr>
              <a:t>原始坐下起立信号</a:t>
            </a:r>
            <a:endParaRPr lang="zh-CN" altLang="en-US" dirty="0">
              <a:ea typeface="思源黑体 CN Bold" panose="020B0800000000000000"/>
            </a:endParaRPr>
          </a:p>
        </p:txBody>
      </p:sp>
      <p:sp>
        <p:nvSpPr>
          <p:cNvPr id="1048763" name="文本框 16"/>
          <p:cNvSpPr txBox="1"/>
          <p:nvPr/>
        </p:nvSpPr>
        <p:spPr>
          <a:xfrm>
            <a:off x="9412958" y="6082079"/>
            <a:ext cx="2011681" cy="396240"/>
          </a:xfrm>
          <a:prstGeom prst="rect">
            <a:avLst/>
          </a:prstGeom>
          <a:noFill/>
        </p:spPr>
        <p:txBody>
          <a:bodyPr wrap="none" rtlCol="0">
            <a:spAutoFit/>
          </a:bodyPr>
          <a:p>
            <a:r>
              <a:rPr lang="zh-CN" altLang="en-US" dirty="0" smtClean="0">
                <a:ea typeface="思源黑体 CN Bold" panose="020B0800000000000000"/>
              </a:rPr>
              <a:t>合成坐下起立信号</a:t>
            </a:r>
            <a:endParaRPr lang="zh-CN" altLang="en-US" dirty="0">
              <a:ea typeface="思源黑体 CN Bold" panose="020B0800000000000000"/>
            </a:endParaRPr>
          </a:p>
        </p:txBody>
      </p:sp>
      <p:pic>
        <p:nvPicPr>
          <p:cNvPr id="2097178" name="图片 18"/>
          <p:cNvPicPr>
            <a:picLocks noChangeAspect="1"/>
          </p:cNvPicPr>
          <p:nvPr/>
        </p:nvPicPr>
        <p:blipFill>
          <a:blip r:embed="rId5" cstate="hqprint"/>
          <a:stretch>
            <a:fillRect/>
          </a:stretch>
        </p:blipFill>
        <p:spPr>
          <a:xfrm>
            <a:off x="4693126" y="1941496"/>
            <a:ext cx="3088030" cy="825273"/>
          </a:xfrm>
          <a:prstGeom prst="rect">
            <a:avLst/>
          </a:prstGeom>
        </p:spPr>
      </p:pic>
      <p:pic>
        <p:nvPicPr>
          <p:cNvPr id="2097179" name="图片 19"/>
          <p:cNvPicPr>
            <a:picLocks noChangeAspect="1"/>
          </p:cNvPicPr>
          <p:nvPr/>
        </p:nvPicPr>
        <p:blipFill>
          <a:blip r:embed="rId6"/>
          <a:stretch>
            <a:fillRect/>
          </a:stretch>
        </p:blipFill>
        <p:spPr>
          <a:xfrm>
            <a:off x="4893738" y="2811169"/>
            <a:ext cx="2576968" cy="1557828"/>
          </a:xfrm>
          <a:prstGeom prst="rect">
            <a:avLst/>
          </a:prstGeom>
        </p:spPr>
      </p:pic>
      <p:sp>
        <p:nvSpPr>
          <p:cNvPr id="1048765" name="文本框 20"/>
          <p:cNvSpPr txBox="1"/>
          <p:nvPr/>
        </p:nvSpPr>
        <p:spPr>
          <a:xfrm>
            <a:off x="5599323" y="4368872"/>
            <a:ext cx="1097280" cy="396240"/>
          </a:xfrm>
          <a:prstGeom prst="rect">
            <a:avLst/>
          </a:prstGeom>
          <a:noFill/>
        </p:spPr>
        <p:txBody>
          <a:bodyPr wrap="none" rtlCol="0">
            <a:spAutoFit/>
          </a:bodyPr>
          <a:p>
            <a:r>
              <a:rPr lang="zh-CN" altLang="en-US" dirty="0" smtClean="0">
                <a:ea typeface="思源黑体 CN Bold" panose="020B0800000000000000"/>
              </a:rPr>
              <a:t>激励信号</a:t>
            </a:r>
            <a:endParaRPr lang="zh-CN" altLang="en-US" dirty="0">
              <a:ea typeface="思源黑体 CN Bold" panose="020B0800000000000000"/>
            </a:endParaRPr>
          </a:p>
        </p:txBody>
      </p:sp>
      <p:cxnSp>
        <p:nvCxnSpPr>
          <p:cNvPr id="3145745" name="直接连接符 23"/>
          <p:cNvCxnSpPr/>
          <p:nvPr/>
        </p:nvCxnSpPr>
        <p:spPr>
          <a:xfrm>
            <a:off x="4120587" y="1218821"/>
            <a:ext cx="0" cy="486325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46" name="直接连接符 24"/>
          <p:cNvCxnSpPr/>
          <p:nvPr/>
        </p:nvCxnSpPr>
        <p:spPr>
          <a:xfrm>
            <a:off x="8185230" y="1180976"/>
            <a:ext cx="0" cy="486325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83" name="组合 21"/>
          <p:cNvGrpSpPr/>
          <p:nvPr/>
        </p:nvGrpSpPr>
        <p:grpSpPr>
          <a:xfrm>
            <a:off x="4323644" y="65006"/>
            <a:ext cx="6332220" cy="396240"/>
            <a:chOff x="3330222" y="76294"/>
            <a:chExt cx="6332220" cy="396240"/>
          </a:xfrm>
        </p:grpSpPr>
        <p:sp>
          <p:nvSpPr>
            <p:cNvPr id="1048766" name="文本框 22"/>
            <p:cNvSpPr txBox="1"/>
            <p:nvPr/>
          </p:nvSpPr>
          <p:spPr>
            <a:xfrm>
              <a:off x="3330222" y="76294"/>
              <a:ext cx="1637665"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8767" name="文本框 25"/>
            <p:cNvSpPr txBox="1"/>
            <p:nvPr/>
          </p:nvSpPr>
          <p:spPr>
            <a:xfrm>
              <a:off x="4968484" y="76294"/>
              <a:ext cx="1354667" cy="396240"/>
            </a:xfrm>
            <a:prstGeom prst="rect">
              <a:avLst/>
            </a:prstGeom>
            <a:noFill/>
          </p:spPr>
          <p:txBody>
            <a:bodyPr wrap="square" rtlCol="0">
              <a:spAutoFit/>
            </a:bodyPr>
            <a:p>
              <a:r>
                <a:rPr lang="en-US" altLang="zh-CN" dirty="0" smtClean="0">
                  <a:solidFill>
                    <a:schemeClr val="bg1"/>
                  </a:solidFill>
                  <a:ea typeface="思源黑体 CN Bold" panose="020B0800000000000000"/>
                </a:rPr>
                <a:t>2.</a:t>
              </a:r>
              <a:r>
                <a:rPr lang="zh-CN" altLang="en-US" dirty="0" smtClean="0">
                  <a:solidFill>
                    <a:schemeClr val="bg1"/>
                  </a:solidFill>
                  <a:ea typeface="思源黑体 CN Bold" panose="020B0800000000000000"/>
                </a:rPr>
                <a:t>信道加扰</a:t>
              </a:r>
              <a:endParaRPr lang="zh-CN" altLang="en-US" dirty="0">
                <a:solidFill>
                  <a:schemeClr val="bg1"/>
                </a:solidFill>
                <a:ea typeface="思源黑体 CN Bold" panose="020B0800000000000000"/>
              </a:endParaRPr>
            </a:p>
          </p:txBody>
        </p:sp>
        <p:sp>
          <p:nvSpPr>
            <p:cNvPr id="1048768" name="文本框 26"/>
            <p:cNvSpPr txBox="1"/>
            <p:nvPr/>
          </p:nvSpPr>
          <p:spPr>
            <a:xfrm>
              <a:off x="6349012" y="76294"/>
              <a:ext cx="1638300"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8769" name="文本框 27"/>
            <p:cNvSpPr txBox="1"/>
            <p:nvPr/>
          </p:nvSpPr>
          <p:spPr>
            <a:xfrm>
              <a:off x="8024142" y="92804"/>
              <a:ext cx="1638300" cy="368300"/>
            </a:xfrm>
            <a:prstGeom prst="rect">
              <a:avLst/>
            </a:prstGeom>
            <a:noFill/>
          </p:spPr>
          <p:txBody>
            <a:bodyPr wrap="square" rtlCol="0">
              <a:spAutoFit/>
            </a:bodyPr>
            <a:p>
              <a:r>
                <a:rPr lang="en-US" altLang="zh-CN" dirty="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mc:AlternateContent xmlns:mc="http://schemas.openxmlformats.org/markup-compatibility/2006">
        <mc:Choice xmlns:a14="http://schemas.microsoft.com/office/drawing/2010/main" Requires="a14">
          <p:sp>
            <p:nvSpPr>
              <p:cNvPr id="2" name="文本框 1"/>
              <p:cNvSpPr txBox="1"/>
              <p:nvPr/>
            </p:nvSpPr>
            <p:spPr>
              <a:xfrm>
                <a:off x="4371340" y="4765040"/>
                <a:ext cx="3729990" cy="762635"/>
              </a:xfrm>
              <a:prstGeom prst="rect">
                <a:avLst/>
              </a:prstGeom>
              <a:noFill/>
            </p:spPr>
            <p:txBody>
              <a:bodyPr wrap="square" rtlCol="0" anchor="t">
                <a:noAutofit/>
              </a:bodyPr>
              <a:p>
                <a:r>
                  <a:rPr lang="zh-CN" altLang="en-US" dirty="0" smtClean="0">
                    <a:sym typeface="+mn-ea"/>
                  </a:rPr>
                  <a:t>把线性预测算法应用到人体活动信号上可得模拟人体活动</a:t>
                </a:r>
                <a:r>
                  <a:rPr lang="zh-CN" altLang="en-US" dirty="0" smtClean="0">
                    <a:sym typeface="+mn-ea"/>
                  </a:rPr>
                  <a:t>的信号，作为发射器在中心子载波上的加扰值，</a:t>
                </a:r>
                <a:endParaRPr lang="zh-CN" altLang="en-US" dirty="0" smtClean="0">
                  <a:sym typeface="+mn-ea"/>
                </a:endParaRPr>
              </a:p>
              <a:p>
                <a:r>
                  <a:rPr lang="zh-CN" altLang="en-US" dirty="0" smtClean="0">
                    <a:sym typeface="+mn-ea"/>
                  </a:rPr>
                  <a:t>记为</a:t>
                </a:r>
                <a14:m>
                  <m:oMath xmlns:m="http://schemas.openxmlformats.org/officeDocument/2006/math">
                    <m:r>
                      <a:rPr lang="en-US" altLang="zh-CN" i="1" dirty="0" smtClean="0">
                        <a:solidFill>
                          <a:schemeClr val="accent2">
                            <a:lumMod val="50000"/>
                          </a:schemeClr>
                        </a:solidFill>
                        <a:latin typeface="DejaVu Math TeX Gyre" panose="02000503000000000000" charset="0"/>
                        <a:cs typeface="DejaVu Math TeX Gyre" panose="02000503000000000000" charset="0"/>
                        <a:sym typeface="+mn-ea"/>
                      </a:rPr>
                      <m:t>𝐷</m:t>
                    </m:r>
                    <m:r>
                      <a:rPr lang="en-US" altLang="zh-CN" i="1" dirty="0" smtClean="0">
                        <a:solidFill>
                          <a:schemeClr val="accent2">
                            <a:lumMod val="50000"/>
                          </a:schemeClr>
                        </a:solidFill>
                        <a:latin typeface="DejaVu Math TeX Gyre" panose="02000503000000000000" charset="0"/>
                        <a:cs typeface="DejaVu Math TeX Gyre" panose="02000503000000000000" charset="0"/>
                        <a:sym typeface="+mn-ea"/>
                      </a:rPr>
                      <m:t>(</m:t>
                    </m:r>
                    <m:sSub>
                      <m:sSubPr>
                        <m:ctrlPr>
                          <a:rPr lang="en-US" altLang="zh-CN" i="1" dirty="0" smtClean="0">
                            <a:solidFill>
                              <a:schemeClr val="accent2">
                                <a:lumMod val="50000"/>
                              </a:schemeClr>
                            </a:solidFill>
                            <a:latin typeface="DejaVu Math TeX Gyre" panose="02000503000000000000" charset="0"/>
                            <a:cs typeface="DejaVu Math TeX Gyre" panose="02000503000000000000" charset="0"/>
                            <a:sym typeface="+mn-ea"/>
                          </a:rPr>
                        </m:ctrlPr>
                      </m:sSubPr>
                      <m:e>
                        <m:r>
                          <a:rPr lang="en-US" altLang="zh-CN" i="1" dirty="0" smtClean="0">
                            <a:solidFill>
                              <a:schemeClr val="accent2">
                                <a:lumMod val="50000"/>
                              </a:schemeClr>
                            </a:solidFill>
                            <a:latin typeface="DejaVu Math TeX Gyre" panose="02000503000000000000" charset="0"/>
                            <a:cs typeface="DejaVu Math TeX Gyre" panose="02000503000000000000" charset="0"/>
                            <a:sym typeface="+mn-ea"/>
                          </a:rPr>
                          <m:t>𝑓</m:t>
                        </m:r>
                      </m:e>
                      <m:sub>
                        <m:r>
                          <a:rPr lang="en-US" altLang="zh-CN" i="1" dirty="0" smtClean="0">
                            <a:solidFill>
                              <a:schemeClr val="accent2">
                                <a:lumMod val="50000"/>
                              </a:schemeClr>
                            </a:solidFill>
                            <a:latin typeface="DejaVu Math TeX Gyre" panose="02000503000000000000" charset="0"/>
                            <a:cs typeface="DejaVu Math TeX Gyre" panose="02000503000000000000" charset="0"/>
                            <a:sym typeface="+mn-ea"/>
                          </a:rPr>
                          <m:t>0</m:t>
                        </m:r>
                      </m:sub>
                    </m:sSub>
                    <m:r>
                      <a:rPr lang="en-US" altLang="zh-CN" i="1" dirty="0" smtClean="0">
                        <a:solidFill>
                          <a:schemeClr val="accent2">
                            <a:lumMod val="50000"/>
                          </a:schemeClr>
                        </a:solidFill>
                        <a:latin typeface="DejaVu Math TeX Gyre" panose="02000503000000000000" charset="0"/>
                        <a:cs typeface="DejaVu Math TeX Gyre" panose="02000503000000000000" charset="0"/>
                        <a:sym typeface="+mn-ea"/>
                      </a:rPr>
                      <m:t>,</m:t>
                    </m:r>
                    <m:r>
                      <a:rPr lang="en-US" altLang="zh-CN" i="1" dirty="0" smtClean="0">
                        <a:solidFill>
                          <a:schemeClr val="accent2">
                            <a:lumMod val="50000"/>
                          </a:schemeClr>
                        </a:solidFill>
                        <a:latin typeface="DejaVu Math TeX Gyre" panose="02000503000000000000" charset="0"/>
                        <a:cs typeface="DejaVu Math TeX Gyre" panose="02000503000000000000" charset="0"/>
                        <a:sym typeface="+mn-ea"/>
                      </a:rPr>
                      <m:t>𝑡</m:t>
                    </m:r>
                    <m:r>
                      <a:rPr lang="en-US" altLang="zh-CN" i="1" dirty="0" smtClean="0">
                        <a:solidFill>
                          <a:schemeClr val="accent2">
                            <a:lumMod val="50000"/>
                          </a:schemeClr>
                        </a:solidFill>
                        <a:latin typeface="DejaVu Math TeX Gyre" panose="02000503000000000000" charset="0"/>
                        <a:ea typeface="宋体" charset="0"/>
                        <a:cs typeface="DejaVu Math TeX Gyre" panose="02000503000000000000" charset="0"/>
                        <a:sym typeface="+mn-ea"/>
                      </a:rPr>
                      <m:t>)</m:t>
                    </m:r>
                  </m:oMath>
                </a14:m>
                <a:endParaRPr lang="en-US" altLang="zh-CN" i="1" dirty="0" smtClean="0">
                  <a:solidFill>
                    <a:schemeClr val="accent2">
                      <a:lumMod val="50000"/>
                    </a:schemeClr>
                  </a:solidFill>
                  <a:latin typeface="DejaVu Math TeX Gyre" panose="02000503000000000000" charset="0"/>
                  <a:ea typeface="宋体" charset="0"/>
                  <a:cs typeface="DejaVu Math TeX Gyre" panose="02000503000000000000" charset="0"/>
                  <a:sym typeface="+mn-ea"/>
                </a:endParaRPr>
              </a:p>
            </p:txBody>
          </p:sp>
        </mc:Choice>
        <mc:Fallback>
          <p:sp>
            <p:nvSpPr>
              <p:cNvPr id="2" name="文本框 1"/>
              <p:cNvSpPr txBox="1">
                <a:spLocks noRot="1" noChangeAspect="1" noMove="1" noResize="1" noEditPoints="1" noAdjustHandles="1" noChangeArrowheads="1" noChangeShapeType="1" noTextEdit="1"/>
              </p:cNvSpPr>
              <p:nvPr/>
            </p:nvSpPr>
            <p:spPr>
              <a:xfrm>
                <a:off x="4371340" y="4765040"/>
                <a:ext cx="3729990" cy="762635"/>
              </a:xfrm>
              <a:prstGeom prst="rect">
                <a:avLst/>
              </a:prstGeom>
              <a:blipFill rotWithShape="1">
                <a:blip r:embed="rId7"/>
                <a:stretch>
                  <a:fillRect r="-511" b="-49958"/>
                </a:stretch>
              </a:blipFill>
            </p:spPr>
            <p:txBody>
              <a:bodyPr/>
              <a:lstStyle/>
              <a:p>
                <a:r>
                  <a:rPr lang="zh-CN" altLang="en-US">
                    <a:noFill/>
                  </a:rPr>
                  <a:t> </a:t>
                </a:r>
              </a:p>
            </p:txBody>
          </p:sp>
        </mc:Fallback>
      </mc:AlternateContent>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1048773" name="文本占位符 1"/>
          <p:cNvSpPr>
            <a:spLocks noGrp="1"/>
          </p:cNvSpPr>
          <p:nvPr>
            <p:ph type="body" sz="quarter" idx="12"/>
          </p:nvPr>
        </p:nvSpPr>
        <p:spPr>
          <a:xfrm>
            <a:off x="218105" y="76294"/>
            <a:ext cx="410545" cy="401955"/>
          </a:xfrm>
        </p:spPr>
        <p:txBody>
          <a:bodyPr/>
          <a:p>
            <a:r>
              <a:rPr lang="en-US" altLang="zh-CN" dirty="0"/>
              <a:t>2</a:t>
            </a:r>
            <a:endParaRPr lang="zh-CN" altLang="en-US" dirty="0"/>
          </a:p>
        </p:txBody>
      </p:sp>
      <p:sp>
        <p:nvSpPr>
          <p:cNvPr id="1048774" name="文本占位符 2"/>
          <p:cNvSpPr>
            <a:spLocks noGrp="1"/>
          </p:cNvSpPr>
          <p:nvPr>
            <p:ph type="body" sz="quarter" idx="13"/>
          </p:nvPr>
        </p:nvSpPr>
        <p:spPr/>
        <p:txBody>
          <a:bodyPr/>
          <a:p>
            <a:r>
              <a:rPr lang="zh-CN" altLang="en-US" kern="0" dirty="0">
                <a:ea typeface="楷体" panose="02010609060101010101" pitchFamily="49" charset="-122"/>
                <a:sym typeface="DengXian" panose="02010600030101010101" pitchFamily="2" charset="-122"/>
              </a:rPr>
              <a:t>内</a:t>
            </a:r>
            <a:r>
              <a:rPr lang="zh-CN" altLang="en-US" kern="0" dirty="0" smtClean="0">
                <a:ea typeface="楷体" panose="02010609060101010101" pitchFamily="49" charset="-122"/>
                <a:sym typeface="DengXian" panose="02010600030101010101" pitchFamily="2" charset="-122"/>
              </a:rPr>
              <a:t>建信道加扰方案</a:t>
            </a:r>
            <a:endParaRPr lang="zh-CN" altLang="en-US" kern="0" dirty="0">
              <a:ea typeface="楷体" panose="02010609060101010101" pitchFamily="49" charset="-122"/>
              <a:sym typeface="DengXian" panose="02010600030101010101" pitchFamily="2" charset="-122"/>
            </a:endParaRPr>
          </a:p>
        </p:txBody>
      </p:sp>
      <p:sp>
        <p:nvSpPr>
          <p:cNvPr id="1048775" name="文本框 6"/>
          <p:cNvSpPr txBox="1"/>
          <p:nvPr/>
        </p:nvSpPr>
        <p:spPr>
          <a:xfrm>
            <a:off x="379854" y="579849"/>
            <a:ext cx="11064429" cy="726440"/>
          </a:xfrm>
          <a:prstGeom prst="rect">
            <a:avLst/>
          </a:prstGeom>
          <a:noFill/>
        </p:spPr>
        <p:txBody>
          <a:bodyPr wrap="square" rtlCol="0">
            <a:spAutoFit/>
          </a:bodyPr>
          <a:p>
            <a:pPr marL="0" lvl="1">
              <a:lnSpc>
                <a:spcPct val="150000"/>
              </a:lnSpc>
            </a:pP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产</a:t>
            </a:r>
            <a:r>
              <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生</a:t>
            </a: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大量不同的加扰模式</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pic>
        <p:nvPicPr>
          <p:cNvPr id="2097180" name="图片 3"/>
          <p:cNvPicPr>
            <a:picLocks noChangeAspect="1"/>
          </p:cNvPicPr>
          <p:nvPr/>
        </p:nvPicPr>
        <p:blipFill>
          <a:blip r:embed="rId1"/>
          <a:stretch>
            <a:fillRect/>
          </a:stretch>
        </p:blipFill>
        <p:spPr>
          <a:xfrm>
            <a:off x="5158357" y="1160931"/>
            <a:ext cx="6899177" cy="5207224"/>
          </a:xfrm>
          <a:prstGeom prst="rect">
            <a:avLst/>
          </a:prstGeom>
        </p:spPr>
      </p:pic>
      <p:sp>
        <p:nvSpPr>
          <p:cNvPr id="1048776" name="文本占位符 3"/>
          <p:cNvSpPr txBox="1"/>
          <p:nvPr/>
        </p:nvSpPr>
        <p:spPr>
          <a:xfrm>
            <a:off x="5529568" y="6453566"/>
            <a:ext cx="848654" cy="404434"/>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9/23</a:t>
            </a:r>
            <a:endParaRPr lang="en-US" altLang="zh-CN" sz="2000" dirty="0"/>
          </a:p>
        </p:txBody>
      </p:sp>
      <p:pic>
        <p:nvPicPr>
          <p:cNvPr id="2097181" name="图片 7"/>
          <p:cNvPicPr>
            <a:picLocks noChangeAspect="1"/>
          </p:cNvPicPr>
          <p:nvPr/>
        </p:nvPicPr>
        <p:blipFill>
          <a:blip r:embed="rId2"/>
          <a:stretch>
            <a:fillRect/>
          </a:stretch>
        </p:blipFill>
        <p:spPr>
          <a:xfrm>
            <a:off x="973951" y="1425299"/>
            <a:ext cx="3273625" cy="874873"/>
          </a:xfrm>
          <a:prstGeom prst="rect">
            <a:avLst/>
          </a:prstGeom>
        </p:spPr>
      </p:pic>
      <p:grpSp>
        <p:nvGrpSpPr>
          <p:cNvPr id="87" name="组合 10"/>
          <p:cNvGrpSpPr/>
          <p:nvPr/>
        </p:nvGrpSpPr>
        <p:grpSpPr>
          <a:xfrm>
            <a:off x="4323644" y="65006"/>
            <a:ext cx="6432550" cy="396240"/>
            <a:chOff x="3330222" y="76294"/>
            <a:chExt cx="6432550" cy="396240"/>
          </a:xfrm>
        </p:grpSpPr>
        <p:sp>
          <p:nvSpPr>
            <p:cNvPr id="1048778" name="文本框 11"/>
            <p:cNvSpPr txBox="1"/>
            <p:nvPr/>
          </p:nvSpPr>
          <p:spPr>
            <a:xfrm>
              <a:off x="3330222" y="76294"/>
              <a:ext cx="1645285"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8779" name="文本框 12"/>
            <p:cNvSpPr txBox="1"/>
            <p:nvPr/>
          </p:nvSpPr>
          <p:spPr>
            <a:xfrm>
              <a:off x="4968484" y="76294"/>
              <a:ext cx="1354667" cy="396240"/>
            </a:xfrm>
            <a:prstGeom prst="rect">
              <a:avLst/>
            </a:prstGeom>
            <a:noFill/>
          </p:spPr>
          <p:txBody>
            <a:bodyPr wrap="square" rtlCol="0">
              <a:spAutoFit/>
            </a:bodyPr>
            <a:p>
              <a:r>
                <a:rPr lang="en-US" altLang="zh-CN" dirty="0" smtClean="0">
                  <a:solidFill>
                    <a:schemeClr val="bg1"/>
                  </a:solidFill>
                  <a:ea typeface="思源黑体 CN Bold" panose="020B0800000000000000"/>
                </a:rPr>
                <a:t>2.</a:t>
              </a:r>
              <a:r>
                <a:rPr lang="zh-CN" altLang="en-US" dirty="0" smtClean="0">
                  <a:solidFill>
                    <a:schemeClr val="bg1"/>
                  </a:solidFill>
                  <a:ea typeface="思源黑体 CN Bold" panose="020B0800000000000000"/>
                </a:rPr>
                <a:t>信道加扰</a:t>
              </a:r>
              <a:endParaRPr lang="zh-CN" altLang="en-US" dirty="0">
                <a:solidFill>
                  <a:schemeClr val="bg1"/>
                </a:solidFill>
                <a:ea typeface="思源黑体 CN Bold" panose="020B0800000000000000"/>
              </a:endParaRPr>
            </a:p>
          </p:txBody>
        </p:sp>
        <p:sp>
          <p:nvSpPr>
            <p:cNvPr id="1048780" name="文本框 13"/>
            <p:cNvSpPr txBox="1"/>
            <p:nvPr/>
          </p:nvSpPr>
          <p:spPr>
            <a:xfrm>
              <a:off x="6349012" y="76294"/>
              <a:ext cx="1645285"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8781" name="文本框 14"/>
            <p:cNvSpPr txBox="1"/>
            <p:nvPr/>
          </p:nvSpPr>
          <p:spPr>
            <a:xfrm>
              <a:off x="8024142" y="92804"/>
              <a:ext cx="1738630" cy="368300"/>
            </a:xfrm>
            <a:prstGeom prst="rect">
              <a:avLst/>
            </a:prstGeom>
            <a:noFill/>
          </p:spPr>
          <p:txBody>
            <a:bodyPr wrap="square" rtlCol="0">
              <a:spAutoFit/>
            </a:bodyPr>
            <a:p>
              <a:r>
                <a:rPr lang="en-US" altLang="zh-CN" dirty="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p:sp>
        <p:nvSpPr>
          <p:cNvPr id="1048782" name="文本框 4"/>
          <p:cNvSpPr txBox="1">
            <a:spLocks noRot="1" noChangeAspect="1" noMove="1" noResize="1" noEditPoints="1" noAdjustHandles="1" noChangeArrowheads="1" noChangeShapeType="1" noTextEdit="1"/>
          </p:cNvSpPr>
          <p:nvPr/>
        </p:nvSpPr>
        <p:spPr>
          <a:xfrm>
            <a:off x="180615" y="2843261"/>
            <a:ext cx="4797124" cy="369332"/>
          </a:xfrm>
          <a:prstGeom prst="rect">
            <a:avLst/>
          </a:prstGeom>
          <a:blipFill>
            <a:blip r:embed="rId3"/>
            <a:stretch>
              <a:fillRect l="-1144" t="-9836" r="-381" b="-24590"/>
            </a:stretch>
          </a:blipFill>
        </p:spPr>
        <p:txBody>
          <a:bodyPr/>
          <a:p>
            <a:endParaRPr lang="zh-CN" altLang="en-US">
              <a:noFill/>
            </a:endParaRPr>
          </a:p>
        </p:txBody>
      </p:sp>
      <p:sp>
        <p:nvSpPr>
          <p:cNvPr id="1048783" name="右箭头 15"/>
          <p:cNvSpPr/>
          <p:nvPr/>
        </p:nvSpPr>
        <p:spPr>
          <a:xfrm rot="5400000">
            <a:off x="2243934" y="3477565"/>
            <a:ext cx="450567" cy="219919"/>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p>
            <a:pPr algn="ctr"/>
            <a:endParaRPr lang="zh-CN" altLang="en-US"/>
          </a:p>
        </p:txBody>
      </p:sp>
      <p:sp>
        <p:nvSpPr>
          <p:cNvPr id="1048784" name="文本框 16"/>
          <p:cNvSpPr txBox="1"/>
          <p:nvPr/>
        </p:nvSpPr>
        <p:spPr>
          <a:xfrm>
            <a:off x="1782445" y="3962400"/>
            <a:ext cx="1849755" cy="404495"/>
          </a:xfrm>
          <a:prstGeom prst="rect">
            <a:avLst/>
          </a:prstGeom>
          <a:noFill/>
        </p:spPr>
        <p:txBody>
          <a:bodyPr wrap="square" rtlCol="0">
            <a:noAutofit/>
          </a:bodyPr>
          <a:p>
            <a:r>
              <a:rPr lang="zh-CN" altLang="en-US" dirty="0">
                <a:ea typeface="思源黑体 CN Bold" panose="020B0800000000000000"/>
              </a:rPr>
              <a:t>时频分布</a:t>
            </a:r>
            <a:r>
              <a:rPr lang="zh-CN" altLang="en-US" dirty="0">
                <a:ea typeface="思源黑体 CN Bold" panose="020B0800000000000000"/>
              </a:rPr>
              <a:t>相似</a:t>
            </a:r>
            <a:endParaRPr lang="zh-CN" altLang="en-US" dirty="0">
              <a:ea typeface="思源黑体 CN Bold" panose="020B0800000000000000"/>
            </a:endParaRPr>
          </a:p>
          <a:p>
            <a:endParaRPr lang="zh-CN" altLang="en-US" dirty="0">
              <a:ea typeface="思源黑体 CN Bold" panose="020B0800000000000000"/>
            </a:endParaRPr>
          </a:p>
        </p:txBody>
      </p:sp>
      <p:sp>
        <p:nvSpPr>
          <p:cNvPr id="1048785" name="文本框 5"/>
          <p:cNvSpPr txBox="1"/>
          <p:nvPr/>
        </p:nvSpPr>
        <p:spPr>
          <a:xfrm>
            <a:off x="169353" y="4874878"/>
            <a:ext cx="4379810" cy="645160"/>
          </a:xfrm>
          <a:prstGeom prst="rect">
            <a:avLst/>
          </a:prstGeom>
          <a:noFill/>
        </p:spPr>
        <p:txBody>
          <a:bodyPr wrap="square" rtlCol="0">
            <a:spAutoFit/>
          </a:bodyPr>
          <a:p>
            <a:pPr marL="285750" indent="-285750">
              <a:buFont typeface="Arial" panose="020B0604020202090204" pitchFamily="34" charset="0"/>
              <a:buChar char="•"/>
            </a:pPr>
            <a:r>
              <a:rPr lang="zh-CN" altLang="en-US" dirty="0" smtClean="0">
                <a:ea typeface="思源黑体 CN Bold" panose="020B0800000000000000"/>
              </a:rPr>
              <a:t>这使我们能够为相同的人体活动生成大量不同的随机信号，使窃听者</a:t>
            </a:r>
            <a:r>
              <a:rPr lang="zh-CN" altLang="en-US" dirty="0" smtClean="0">
                <a:ea typeface="思源黑体 CN Bold" panose="020B0800000000000000"/>
              </a:rPr>
              <a:t>难以破解</a:t>
            </a:r>
            <a:endParaRPr lang="zh-CN" altLang="en-US" dirty="0" smtClean="0">
              <a:ea typeface="思源黑体 CN Bold" panose="020B0800000000000000"/>
            </a:endParaRPr>
          </a:p>
        </p:txBody>
      </p:sp>
      <p:sp>
        <p:nvSpPr>
          <p:cNvPr id="2" name="文本框 1"/>
          <p:cNvSpPr txBox="1"/>
          <p:nvPr/>
        </p:nvSpPr>
        <p:spPr>
          <a:xfrm>
            <a:off x="1782445" y="4261485"/>
            <a:ext cx="6096000" cy="368300"/>
          </a:xfrm>
          <a:prstGeom prst="rect">
            <a:avLst/>
          </a:prstGeom>
          <a:noFill/>
        </p:spPr>
        <p:txBody>
          <a:bodyPr wrap="square" rtlCol="0" anchor="t">
            <a:spAutoFit/>
          </a:bodyPr>
          <a:p>
            <a:r>
              <a:rPr lang="zh-CN" altLang="en-US" dirty="0">
                <a:ea typeface="思源黑体 CN Bold" panose="020B0800000000000000"/>
                <a:sym typeface="+mn-ea"/>
              </a:rPr>
              <a:t>时域波形不同</a:t>
            </a:r>
            <a:endParaRPr lang="zh-CN" altLang="en-US" dirty="0">
              <a:ea typeface="思源黑体 CN Bold" panose="020B0800000000000000"/>
              <a:sym typeface="+mn-ea"/>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90" name=""/>
        <p:cNvGrpSpPr/>
        <p:nvPr/>
      </p:nvGrpSpPr>
      <p:grpSpPr>
        <a:xfrm>
          <a:off x="0" y="0"/>
          <a:ext cx="0" cy="0"/>
          <a:chOff x="0" y="0"/>
          <a:chExt cx="0" cy="0"/>
        </a:xfrm>
      </p:grpSpPr>
      <p:sp>
        <p:nvSpPr>
          <p:cNvPr id="1048789" name="文本占位符 1"/>
          <p:cNvSpPr>
            <a:spLocks noGrp="1"/>
          </p:cNvSpPr>
          <p:nvPr>
            <p:ph type="body" sz="quarter" idx="12"/>
          </p:nvPr>
        </p:nvSpPr>
        <p:spPr>
          <a:xfrm>
            <a:off x="218105" y="76294"/>
            <a:ext cx="410545" cy="401955"/>
          </a:xfrm>
        </p:spPr>
        <p:txBody>
          <a:bodyPr/>
          <a:p>
            <a:r>
              <a:rPr lang="en-US" altLang="zh-CN" dirty="0"/>
              <a:t>2</a:t>
            </a:r>
            <a:endParaRPr lang="zh-CN" altLang="en-US" dirty="0"/>
          </a:p>
        </p:txBody>
      </p:sp>
      <p:sp>
        <p:nvSpPr>
          <p:cNvPr id="1048790" name="文本占位符 2"/>
          <p:cNvSpPr>
            <a:spLocks noGrp="1"/>
          </p:cNvSpPr>
          <p:nvPr>
            <p:ph type="body" sz="quarter" idx="13"/>
          </p:nvPr>
        </p:nvSpPr>
        <p:spPr/>
        <p:txBody>
          <a:bodyPr/>
          <a:p>
            <a:r>
              <a:rPr lang="zh-CN" altLang="en-US" kern="0" dirty="0">
                <a:ea typeface="楷体" panose="02010609060101010101" pitchFamily="49" charset="-122"/>
                <a:sym typeface="DengXian" panose="02010600030101010101" pitchFamily="2" charset="-122"/>
              </a:rPr>
              <a:t>内</a:t>
            </a:r>
            <a:r>
              <a:rPr lang="zh-CN" altLang="en-US" kern="0" dirty="0" smtClean="0">
                <a:ea typeface="楷体" panose="02010609060101010101" pitchFamily="49" charset="-122"/>
                <a:sym typeface="DengXian" panose="02010600030101010101" pitchFamily="2" charset="-122"/>
              </a:rPr>
              <a:t>建信道加扰方案</a:t>
            </a:r>
            <a:endParaRPr lang="zh-CN" altLang="en-US" kern="0" dirty="0">
              <a:ea typeface="楷体" panose="02010609060101010101" pitchFamily="49" charset="-122"/>
              <a:sym typeface="DengXian" panose="02010600030101010101" pitchFamily="2" charset="-122"/>
            </a:endParaRPr>
          </a:p>
        </p:txBody>
      </p:sp>
      <p:sp>
        <p:nvSpPr>
          <p:cNvPr id="1048791" name="文本框 6"/>
          <p:cNvSpPr txBox="1"/>
          <p:nvPr/>
        </p:nvSpPr>
        <p:spPr>
          <a:xfrm>
            <a:off x="379854" y="579849"/>
            <a:ext cx="11064429" cy="726440"/>
          </a:xfrm>
          <a:prstGeom prst="rect">
            <a:avLst/>
          </a:prstGeom>
          <a:noFill/>
        </p:spPr>
        <p:txBody>
          <a:bodyPr wrap="square" rtlCol="0">
            <a:spAutoFit/>
          </a:bodyPr>
          <a:p>
            <a:pPr marL="0" lvl="1">
              <a:lnSpc>
                <a:spcPct val="150000"/>
              </a:lnSpc>
            </a:pP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人体活动类型随时间的变化</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sp>
        <p:nvSpPr>
          <p:cNvPr id="1048792" name="文本占位符 3"/>
          <p:cNvSpPr txBox="1"/>
          <p:nvPr/>
        </p:nvSpPr>
        <p:spPr>
          <a:xfrm>
            <a:off x="5529580" y="6453505"/>
            <a:ext cx="1002665" cy="40449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10/23</a:t>
            </a:r>
            <a:endParaRPr lang="en-US" altLang="zh-CN" sz="2000" dirty="0"/>
          </a:p>
        </p:txBody>
      </p:sp>
      <p:sp>
        <p:nvSpPr>
          <p:cNvPr id="1048793" name="文本框 9"/>
          <p:cNvSpPr txBox="1"/>
          <p:nvPr/>
        </p:nvSpPr>
        <p:spPr>
          <a:xfrm>
            <a:off x="379854" y="2741658"/>
            <a:ext cx="11125156" cy="398780"/>
          </a:xfrm>
          <a:prstGeom prst="rect">
            <a:avLst/>
          </a:prstGeom>
          <a:noFill/>
        </p:spPr>
        <p:txBody>
          <a:bodyPr wrap="square" rtlCol="0">
            <a:spAutoFit/>
          </a:bodyPr>
          <a:p>
            <a:r>
              <a:rPr lang="zh-CN" altLang="en-US" sz="2000" dirty="0" smtClean="0">
                <a:ea typeface="思源黑体 CN Bold" panose="020B0800000000000000"/>
              </a:rPr>
              <a:t>令每种人体活动</a:t>
            </a:r>
            <a:r>
              <a:rPr lang="zh-CN" altLang="en-US" sz="2000" dirty="0">
                <a:ea typeface="思源黑体 CN Bold" panose="020B0800000000000000"/>
              </a:rPr>
              <a:t>类型由一个唯一的标识表示，记为𝑚</a:t>
            </a:r>
            <a:r>
              <a:rPr lang="en-US" altLang="zh-CN" sz="2000" dirty="0">
                <a:ea typeface="思源黑体 CN Bold" panose="020B0800000000000000"/>
              </a:rPr>
              <a:t>  </a:t>
            </a:r>
            <a:r>
              <a:rPr lang="zh-CN" altLang="en-US" sz="2000" dirty="0">
                <a:ea typeface="思源黑体 CN Bold" panose="020B0800000000000000"/>
              </a:rPr>
              <a:t>，𝑚 </a:t>
            </a:r>
            <a:r>
              <a:rPr lang="en-US" altLang="zh-CN" sz="2000" dirty="0">
                <a:ea typeface="思源黑体 CN Bold" panose="020B0800000000000000"/>
              </a:rPr>
              <a:t> </a:t>
            </a:r>
            <a:r>
              <a:rPr lang="zh-CN" altLang="en-US" sz="2000" dirty="0">
                <a:ea typeface="思源黑体 CN Bold" panose="020B0800000000000000"/>
              </a:rPr>
              <a:t>∈ </a:t>
            </a:r>
            <a:r>
              <a:rPr lang="en-US" altLang="zh-CN" sz="2000" dirty="0">
                <a:ea typeface="思源黑体 CN Bold" panose="020B0800000000000000"/>
              </a:rPr>
              <a:t>{</a:t>
            </a:r>
            <a:r>
              <a:rPr lang="zh-CN" altLang="en-US" sz="2000" dirty="0">
                <a:ea typeface="思源黑体 CN Bold" panose="020B0800000000000000"/>
              </a:rPr>
              <a:t>𝐸</a:t>
            </a:r>
            <a:r>
              <a:rPr lang="en-US" altLang="zh-CN" sz="2000" dirty="0">
                <a:ea typeface="思源黑体 CN Bold" panose="020B0800000000000000"/>
              </a:rPr>
              <a:t>  , </a:t>
            </a:r>
            <a:r>
              <a:rPr lang="zh-CN" altLang="en-US" sz="2000" dirty="0">
                <a:ea typeface="思源黑体 CN Bold" panose="020B0800000000000000"/>
              </a:rPr>
              <a:t>𝐹 </a:t>
            </a:r>
            <a:r>
              <a:rPr lang="en-US" altLang="zh-CN" sz="2000" dirty="0">
                <a:ea typeface="思源黑体 CN Bold" panose="020B0800000000000000"/>
              </a:rPr>
              <a:t> , </a:t>
            </a:r>
            <a:r>
              <a:rPr lang="zh-CN" altLang="en-US" sz="2000" dirty="0">
                <a:ea typeface="思源黑体 CN Bold" panose="020B0800000000000000"/>
              </a:rPr>
              <a:t>𝑃 </a:t>
            </a:r>
            <a:r>
              <a:rPr lang="en-US" altLang="zh-CN" sz="2000" dirty="0">
                <a:ea typeface="思源黑体 CN Bold" panose="020B0800000000000000"/>
              </a:rPr>
              <a:t> , </a:t>
            </a:r>
            <a:r>
              <a:rPr lang="zh-CN" altLang="en-US" sz="2000" dirty="0">
                <a:ea typeface="思源黑体 CN Bold" panose="020B0800000000000000"/>
              </a:rPr>
              <a:t>𝑅</a:t>
            </a:r>
            <a:r>
              <a:rPr lang="en-US" altLang="zh-CN" sz="2000" dirty="0">
                <a:ea typeface="思源黑体 CN Bold" panose="020B0800000000000000"/>
              </a:rPr>
              <a:t>  , </a:t>
            </a:r>
            <a:r>
              <a:rPr lang="zh-CN" altLang="en-US" sz="2000" dirty="0">
                <a:ea typeface="思源黑体 CN Bold" panose="020B0800000000000000"/>
              </a:rPr>
              <a:t>𝑊 </a:t>
            </a:r>
            <a:r>
              <a:rPr lang="en-US" altLang="zh-CN" sz="2000" dirty="0">
                <a:ea typeface="思源黑体 CN Bold" panose="020B0800000000000000"/>
              </a:rPr>
              <a:t>  , </a:t>
            </a:r>
            <a:r>
              <a:rPr lang="zh-CN" altLang="en-US" sz="2000" dirty="0">
                <a:ea typeface="思源黑体 CN Bold" panose="020B0800000000000000"/>
              </a:rPr>
              <a:t>𝑆</a:t>
            </a:r>
            <a:r>
              <a:rPr lang="en-US" altLang="zh-CN" sz="2000" dirty="0">
                <a:ea typeface="思源黑体 CN Bold" panose="020B0800000000000000"/>
              </a:rPr>
              <a:t>  </a:t>
            </a:r>
            <a:r>
              <a:rPr lang="en-US" altLang="zh-CN" sz="2000" dirty="0" smtClean="0">
                <a:ea typeface="思源黑体 CN Bold" panose="020B0800000000000000"/>
              </a:rPr>
              <a:t>}</a:t>
            </a:r>
            <a:endParaRPr lang="en-US" altLang="zh-CN" sz="2000" dirty="0" smtClean="0">
              <a:ea typeface="思源黑体 CN Bold" panose="020B0800000000000000"/>
            </a:endParaRPr>
          </a:p>
        </p:txBody>
      </p:sp>
      <p:grpSp>
        <p:nvGrpSpPr>
          <p:cNvPr id="91" name="组合 7"/>
          <p:cNvGrpSpPr/>
          <p:nvPr/>
        </p:nvGrpSpPr>
        <p:grpSpPr>
          <a:xfrm>
            <a:off x="4323644" y="65006"/>
            <a:ext cx="6439535" cy="742315"/>
            <a:chOff x="3330222" y="76294"/>
            <a:chExt cx="6439535" cy="742315"/>
          </a:xfrm>
        </p:grpSpPr>
        <p:sp>
          <p:nvSpPr>
            <p:cNvPr id="1048794" name="文本框 10"/>
            <p:cNvSpPr txBox="1"/>
            <p:nvPr/>
          </p:nvSpPr>
          <p:spPr>
            <a:xfrm>
              <a:off x="3330222" y="76294"/>
              <a:ext cx="1652905"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8795" name="文本框 11"/>
            <p:cNvSpPr txBox="1"/>
            <p:nvPr/>
          </p:nvSpPr>
          <p:spPr>
            <a:xfrm>
              <a:off x="4968484" y="76294"/>
              <a:ext cx="1354667" cy="396240"/>
            </a:xfrm>
            <a:prstGeom prst="rect">
              <a:avLst/>
            </a:prstGeom>
            <a:noFill/>
          </p:spPr>
          <p:txBody>
            <a:bodyPr wrap="square" rtlCol="0">
              <a:spAutoFit/>
            </a:bodyPr>
            <a:p>
              <a:r>
                <a:rPr lang="en-US" altLang="zh-CN" dirty="0" smtClean="0">
                  <a:solidFill>
                    <a:schemeClr val="bg1"/>
                  </a:solidFill>
                  <a:ea typeface="思源黑体 CN Bold" panose="020B0800000000000000"/>
                </a:rPr>
                <a:t>2.</a:t>
              </a:r>
              <a:r>
                <a:rPr lang="zh-CN" altLang="en-US" dirty="0" smtClean="0">
                  <a:solidFill>
                    <a:schemeClr val="bg1"/>
                  </a:solidFill>
                  <a:ea typeface="思源黑体 CN Bold" panose="020B0800000000000000"/>
                </a:rPr>
                <a:t>信道加扰</a:t>
              </a:r>
              <a:endParaRPr lang="zh-CN" altLang="en-US" dirty="0">
                <a:solidFill>
                  <a:schemeClr val="bg1"/>
                </a:solidFill>
                <a:ea typeface="思源黑体 CN Bold" panose="020B0800000000000000"/>
              </a:endParaRPr>
            </a:p>
          </p:txBody>
        </p:sp>
        <p:sp>
          <p:nvSpPr>
            <p:cNvPr id="1048796" name="文本框 12"/>
            <p:cNvSpPr txBox="1"/>
            <p:nvPr/>
          </p:nvSpPr>
          <p:spPr>
            <a:xfrm>
              <a:off x="6349012" y="76294"/>
              <a:ext cx="1653540"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8797" name="文本框 13"/>
            <p:cNvSpPr txBox="1"/>
            <p:nvPr/>
          </p:nvSpPr>
          <p:spPr>
            <a:xfrm>
              <a:off x="8024142" y="92804"/>
              <a:ext cx="1745615" cy="725805"/>
            </a:xfrm>
            <a:prstGeom prst="rect">
              <a:avLst/>
            </a:prstGeom>
            <a:noFill/>
          </p:spPr>
          <p:txBody>
            <a:bodyPr wrap="square" rtlCol="0">
              <a:noAutofit/>
            </a:bodyPr>
            <a:p>
              <a:r>
                <a:rPr lang="en-US" altLang="zh-CN" dirty="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p:grpSp>
        <p:nvGrpSpPr>
          <p:cNvPr id="92" name="组合 15"/>
          <p:cNvGrpSpPr/>
          <p:nvPr/>
        </p:nvGrpSpPr>
        <p:grpSpPr>
          <a:xfrm>
            <a:off x="7355461" y="7126946"/>
            <a:ext cx="3324601" cy="459549"/>
            <a:chOff x="4018076" y="2618934"/>
            <a:chExt cx="3324601" cy="459549"/>
          </a:xfrm>
        </p:grpSpPr>
        <p:sp>
          <p:nvSpPr>
            <p:cNvPr id="1048798" name="矩形 3"/>
            <p:cNvSpPr>
              <a:spLocks noRot="1" noChangeAspect="1" noMove="1" noResize="1" noEditPoints="1" noAdjustHandles="1" noChangeArrowheads="1" noChangeShapeType="1" noTextEdit="1"/>
            </p:cNvSpPr>
            <p:nvPr/>
          </p:nvSpPr>
          <p:spPr>
            <a:xfrm>
              <a:off x="4018076" y="2707272"/>
              <a:ext cx="503599" cy="369332"/>
            </a:xfrm>
            <a:prstGeom prst="rect">
              <a:avLst/>
            </a:prstGeom>
            <a:blipFill>
              <a:blip r:embed="rId1"/>
              <a:stretch>
                <a:fillRect b="-1667"/>
              </a:stretch>
            </a:blipFill>
          </p:spPr>
          <p:txBody>
            <a:bodyPr/>
            <a:p>
              <a:r>
                <a:rPr lang="zh-CN" altLang="en-US">
                  <a:noFill/>
                </a:rPr>
                <a:t> </a:t>
              </a:r>
              <a:endParaRPr lang="zh-CN" altLang="en-US">
                <a:noFill/>
              </a:endParaRPr>
            </a:p>
          </p:txBody>
        </p:sp>
        <p:sp>
          <p:nvSpPr>
            <p:cNvPr id="1048799" name="矩形 4"/>
            <p:cNvSpPr>
              <a:spLocks noRot="1" noChangeAspect="1" noMove="1" noResize="1" noEditPoints="1" noAdjustHandles="1" noChangeArrowheads="1" noChangeShapeType="1" noTextEdit="1"/>
            </p:cNvSpPr>
            <p:nvPr/>
          </p:nvSpPr>
          <p:spPr>
            <a:xfrm>
              <a:off x="5551609" y="2618934"/>
              <a:ext cx="1791068" cy="459549"/>
            </a:xfrm>
            <a:prstGeom prst="rect">
              <a:avLst/>
            </a:prstGeom>
            <a:blipFill>
              <a:blip r:embed="rId2"/>
              <a:stretch>
                <a:fillRect l="-2721" r="-1701" b="-11842"/>
              </a:stretch>
            </a:blipFill>
          </p:spPr>
          <p:txBody>
            <a:bodyPr/>
            <a:p>
              <a:r>
                <a:rPr lang="zh-CN" altLang="en-US">
                  <a:noFill/>
                </a:rPr>
                <a:t> </a:t>
              </a:r>
              <a:endParaRPr lang="zh-CN" altLang="en-US">
                <a:noFill/>
              </a:endParaRPr>
            </a:p>
          </p:txBody>
        </p:sp>
        <p:sp>
          <p:nvSpPr>
            <p:cNvPr id="1048800" name="上下箭头 5"/>
            <p:cNvSpPr/>
            <p:nvPr/>
          </p:nvSpPr>
          <p:spPr>
            <a:xfrm rot="5400000">
              <a:off x="4981614" y="2538042"/>
              <a:ext cx="196770" cy="70779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801" name="文本框 16"/>
          <p:cNvSpPr txBox="1">
            <a:spLocks noRot="1" noChangeAspect="1" noMove="1" noResize="1" noEditPoints="1" noAdjustHandles="1" noChangeArrowheads="1" noChangeShapeType="1" noTextEdit="1"/>
          </p:cNvSpPr>
          <p:nvPr/>
        </p:nvSpPr>
        <p:spPr>
          <a:xfrm>
            <a:off x="423377" y="3451475"/>
            <a:ext cx="5412978" cy="369332"/>
          </a:xfrm>
          <a:prstGeom prst="rect">
            <a:avLst/>
          </a:prstGeom>
          <a:blipFill>
            <a:blip r:embed="rId3"/>
            <a:stretch>
              <a:fillRect l="-901" t="-9836" b="-22951"/>
            </a:stretch>
          </a:blipFill>
        </p:spPr>
        <p:txBody>
          <a:bodyPr/>
          <a:p>
            <a:r>
              <a:rPr lang="zh-CN" altLang="en-US">
                <a:noFill/>
              </a:rPr>
              <a:t> </a:t>
            </a:r>
            <a:endParaRPr lang="zh-CN" altLang="en-US">
              <a:noFill/>
            </a:endParaRPr>
          </a:p>
        </p:txBody>
      </p:sp>
      <p:sp>
        <p:nvSpPr>
          <p:cNvPr id="1048802" name="文本框 17"/>
          <p:cNvSpPr txBox="1">
            <a:spLocks noRot="1" noChangeAspect="1" noMove="1" noResize="1" noEditPoints="1" noAdjustHandles="1" noChangeArrowheads="1" noChangeShapeType="1" noTextEdit="1"/>
          </p:cNvSpPr>
          <p:nvPr/>
        </p:nvSpPr>
        <p:spPr>
          <a:xfrm>
            <a:off x="379854" y="4707199"/>
            <a:ext cx="7612180" cy="482633"/>
          </a:xfrm>
          <a:prstGeom prst="rect">
            <a:avLst/>
          </a:prstGeom>
          <a:blipFill>
            <a:blip r:embed="rId4"/>
            <a:stretch>
              <a:fillRect/>
            </a:stretch>
          </a:blipFill>
        </p:spPr>
        <p:txBody>
          <a:bodyPr/>
          <a:p>
            <a:r>
              <a:rPr lang="zh-CN" altLang="en-US">
                <a:noFill/>
              </a:rPr>
              <a:t> </a:t>
            </a:r>
            <a:endParaRPr lang="zh-CN" altLang="en-US">
              <a:noFill/>
            </a:endParaRPr>
          </a:p>
        </p:txBody>
      </p:sp>
      <p:sp>
        <p:nvSpPr>
          <p:cNvPr id="1048803" name="上下箭头 18"/>
          <p:cNvSpPr/>
          <p:nvPr/>
        </p:nvSpPr>
        <p:spPr>
          <a:xfrm>
            <a:off x="3733389" y="5360304"/>
            <a:ext cx="184695" cy="43289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04" name="上下箭头 19"/>
          <p:cNvSpPr/>
          <p:nvPr/>
        </p:nvSpPr>
        <p:spPr>
          <a:xfrm>
            <a:off x="3733389" y="4054375"/>
            <a:ext cx="184695" cy="43289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05" name="矩形 21"/>
          <p:cNvSpPr/>
          <p:nvPr/>
        </p:nvSpPr>
        <p:spPr>
          <a:xfrm>
            <a:off x="2286868" y="5963670"/>
            <a:ext cx="3230880" cy="434339"/>
          </a:xfrm>
          <a:prstGeom prst="rect">
            <a:avLst/>
          </a:prstGeom>
        </p:spPr>
        <p:txBody>
          <a:bodyPr wrap="none">
            <a:spAutoFit/>
          </a:bodyPr>
          <a:p>
            <a:r>
              <a:rPr lang="zh-CN" altLang="en-US" sz="2000" dirty="0">
                <a:ea typeface="思源黑体 CN Bold" panose="020B0800000000000000"/>
              </a:rPr>
              <a:t>时间维度上的人体活动信号</a:t>
            </a:r>
            <a:endParaRPr lang="zh-CN" altLang="en-US" sz="2000" dirty="0">
              <a:ea typeface="思源黑体 CN Bold" panose="020B0800000000000000"/>
            </a:endParaRPr>
          </a:p>
        </p:txBody>
      </p:sp>
      <p:sp>
        <p:nvSpPr>
          <p:cNvPr id="1048806" name="矩形 14"/>
          <p:cNvSpPr/>
          <p:nvPr/>
        </p:nvSpPr>
        <p:spPr>
          <a:xfrm>
            <a:off x="379854" y="1358870"/>
            <a:ext cx="11020906" cy="1106805"/>
          </a:xfrm>
          <a:prstGeom prst="rect">
            <a:avLst/>
          </a:prstGeom>
        </p:spPr>
        <p:txBody>
          <a:bodyPr wrap="square">
            <a:spAutoFit/>
          </a:bodyPr>
          <a:p>
            <a:pPr>
              <a:lnSpc>
                <a:spcPct val="110000"/>
              </a:lnSpc>
            </a:pPr>
            <a:r>
              <a:rPr lang="zh-CN" altLang="en-US" sz="2000" dirty="0">
                <a:ea typeface="思源黑体 CN Bold" panose="020B0800000000000000"/>
              </a:rPr>
              <a:t>前面，我们介绍了如何使用线性预测算法生成一段人体活动信号。但实际环境</a:t>
            </a:r>
            <a:r>
              <a:rPr lang="zh-CN" altLang="en-US" sz="2000" dirty="0" smtClean="0">
                <a:ea typeface="思源黑体 CN Bold" panose="020B0800000000000000"/>
              </a:rPr>
              <a:t>中不会</a:t>
            </a:r>
            <a:r>
              <a:rPr lang="zh-CN" altLang="en-US" sz="2000" dirty="0">
                <a:ea typeface="思源黑体 CN Bold" panose="020B0800000000000000"/>
              </a:rPr>
              <a:t>一直在发生同一种人体活动。为了使合成信号更符合实际环境，我们基于密钥</a:t>
            </a:r>
            <a:r>
              <a:rPr lang="en-US" altLang="zh-CN" sz="2000" dirty="0">
                <a:ea typeface="思源黑体 CN Bold" panose="020B0800000000000000"/>
              </a:rPr>
              <a:t>K</a:t>
            </a:r>
            <a:r>
              <a:rPr lang="zh-CN" altLang="en-US" sz="2000" dirty="0">
                <a:ea typeface="思源黑体 CN Bold" panose="020B0800000000000000"/>
              </a:rPr>
              <a:t>，用伪</a:t>
            </a:r>
            <a:r>
              <a:rPr lang="zh-CN" altLang="en-US" sz="2000" dirty="0" smtClean="0">
                <a:ea typeface="思源黑体 CN Bold" panose="020B0800000000000000"/>
              </a:rPr>
              <a:t>随机过程来</a:t>
            </a:r>
            <a:r>
              <a:rPr lang="zh-CN" altLang="en-US" sz="2000" dirty="0">
                <a:ea typeface="思源黑体 CN Bold" panose="020B0800000000000000"/>
              </a:rPr>
              <a:t>决定在不同人体活动类型之间的</a:t>
            </a:r>
            <a:r>
              <a:rPr lang="zh-CN" altLang="en-US" sz="2000" dirty="0" smtClean="0">
                <a:ea typeface="思源黑体 CN Bold" panose="020B0800000000000000"/>
              </a:rPr>
              <a:t>转移，并为每种活动伪随机地选择一组线性预测系数和激励</a:t>
            </a:r>
            <a:r>
              <a:rPr lang="zh-CN" altLang="en-US" sz="2000" dirty="0" smtClean="0">
                <a:ea typeface="思源黑体 CN Bold" panose="020B0800000000000000"/>
              </a:rPr>
              <a:t>信号。 </a:t>
            </a:r>
            <a:endParaRPr lang="en-US" altLang="zh-CN" sz="2000" dirty="0">
              <a:ea typeface="思源黑体 CN Bold" panose="020B0800000000000000"/>
            </a:endParaRPr>
          </a:p>
        </p:txBody>
      </p:sp>
      <p:sp>
        <p:nvSpPr>
          <p:cNvPr id="3" name="右大括号 2"/>
          <p:cNvSpPr/>
          <p:nvPr/>
        </p:nvSpPr>
        <p:spPr>
          <a:xfrm>
            <a:off x="6851015" y="3566795"/>
            <a:ext cx="504190" cy="1353820"/>
          </a:xfrm>
          <a:prstGeom prst="rightBrace">
            <a:avLst>
              <a:gd name="adj1" fmla="val 41294"/>
              <a:gd name="adj2" fmla="val 48863"/>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 name="文本框 3"/>
          <p:cNvSpPr txBox="1"/>
          <p:nvPr/>
        </p:nvSpPr>
        <p:spPr>
          <a:xfrm>
            <a:off x="7440930" y="4053205"/>
            <a:ext cx="4064000" cy="368300"/>
          </a:xfrm>
          <a:prstGeom prst="rect">
            <a:avLst/>
          </a:prstGeom>
          <a:noFill/>
        </p:spPr>
        <p:txBody>
          <a:bodyPr wrap="square" rtlCol="0">
            <a:spAutoFit/>
          </a:bodyPr>
          <a:p>
            <a:r>
              <a:rPr lang="zh-CN" altLang="en-US"/>
              <a:t>根据</a:t>
            </a:r>
            <a:r>
              <a:rPr lang="en-US" altLang="zh-CN"/>
              <a:t> secure key </a:t>
            </a:r>
            <a:r>
              <a:rPr lang="en-US" altLang="zh-CN"/>
              <a:t>K</a:t>
            </a:r>
            <a:endParaRPr lang="en-US" altLang="zh-CN"/>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95" name=""/>
        <p:cNvGrpSpPr/>
        <p:nvPr/>
      </p:nvGrpSpPr>
      <p:grpSpPr>
        <a:xfrm>
          <a:off x="0" y="0"/>
          <a:ext cx="0" cy="0"/>
          <a:chOff x="0" y="0"/>
          <a:chExt cx="0" cy="0"/>
        </a:xfrm>
      </p:grpSpPr>
      <p:sp>
        <p:nvSpPr>
          <p:cNvPr id="1048809" name="文本占位符 1"/>
          <p:cNvSpPr>
            <a:spLocks noGrp="1"/>
          </p:cNvSpPr>
          <p:nvPr>
            <p:ph type="body" sz="quarter" idx="12"/>
          </p:nvPr>
        </p:nvSpPr>
        <p:spPr>
          <a:xfrm>
            <a:off x="218105" y="76294"/>
            <a:ext cx="410545" cy="401955"/>
          </a:xfrm>
        </p:spPr>
        <p:txBody>
          <a:bodyPr/>
          <a:p>
            <a:r>
              <a:rPr lang="en-US" altLang="zh-CN" dirty="0"/>
              <a:t>2</a:t>
            </a:r>
            <a:endParaRPr lang="zh-CN" altLang="en-US" dirty="0"/>
          </a:p>
        </p:txBody>
      </p:sp>
      <p:sp>
        <p:nvSpPr>
          <p:cNvPr id="1048810" name="文本占位符 2"/>
          <p:cNvSpPr>
            <a:spLocks noGrp="1"/>
          </p:cNvSpPr>
          <p:nvPr>
            <p:ph type="body" sz="quarter" idx="13"/>
          </p:nvPr>
        </p:nvSpPr>
        <p:spPr/>
        <p:txBody>
          <a:bodyPr/>
          <a:p>
            <a:r>
              <a:rPr lang="zh-CN" altLang="en-US" kern="0" dirty="0">
                <a:ea typeface="楷体" panose="02010609060101010101" pitchFamily="49" charset="-122"/>
                <a:sym typeface="DengXian" panose="02010600030101010101" pitchFamily="2" charset="-122"/>
              </a:rPr>
              <a:t>内</a:t>
            </a:r>
            <a:r>
              <a:rPr lang="zh-CN" altLang="en-US" kern="0" dirty="0" smtClean="0">
                <a:ea typeface="楷体" panose="02010609060101010101" pitchFamily="49" charset="-122"/>
                <a:sym typeface="DengXian" panose="02010600030101010101" pitchFamily="2" charset="-122"/>
              </a:rPr>
              <a:t>建信道加扰方案</a:t>
            </a:r>
            <a:endParaRPr lang="zh-CN" altLang="en-US" kern="0" dirty="0">
              <a:ea typeface="楷体" panose="02010609060101010101" pitchFamily="49" charset="-122"/>
              <a:sym typeface="DengXian" panose="02010600030101010101" pitchFamily="2" charset="-122"/>
            </a:endParaRPr>
          </a:p>
        </p:txBody>
      </p:sp>
      <p:sp>
        <p:nvSpPr>
          <p:cNvPr id="1048811" name="文本框 6"/>
          <p:cNvSpPr txBox="1"/>
          <p:nvPr/>
        </p:nvSpPr>
        <p:spPr>
          <a:xfrm>
            <a:off x="379854" y="563194"/>
            <a:ext cx="11064429" cy="726440"/>
          </a:xfrm>
          <a:prstGeom prst="rect">
            <a:avLst/>
          </a:prstGeom>
          <a:noFill/>
        </p:spPr>
        <p:txBody>
          <a:bodyPr wrap="square" rtlCol="0">
            <a:spAutoFit/>
          </a:bodyPr>
          <a:p>
            <a:pPr marL="0" lvl="1">
              <a:lnSpc>
                <a:spcPct val="150000"/>
              </a:lnSpc>
            </a:pPr>
            <a:r>
              <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加扰向量在频率维度上的</a:t>
            </a: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变化</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sp>
        <p:nvSpPr>
          <p:cNvPr id="1048812" name="文本框 5"/>
          <p:cNvSpPr txBox="1"/>
          <p:nvPr/>
        </p:nvSpPr>
        <p:spPr>
          <a:xfrm>
            <a:off x="562942" y="1379440"/>
            <a:ext cx="10698251" cy="645160"/>
          </a:xfrm>
          <a:prstGeom prst="rect">
            <a:avLst/>
          </a:prstGeom>
          <a:noFill/>
        </p:spPr>
        <p:txBody>
          <a:bodyPr wrap="square" rtlCol="0">
            <a:spAutoFit/>
          </a:bodyPr>
          <a:p>
            <a:r>
              <a:rPr lang="en-US" altLang="zh-CN" dirty="0" smtClean="0">
                <a:ea typeface="思源黑体 CN Bold" panose="020B0800000000000000"/>
              </a:rPr>
              <a:t>Wi-Fi </a:t>
            </a:r>
            <a:r>
              <a:rPr lang="zh-CN" altLang="en-US" dirty="0">
                <a:ea typeface="思源黑体 CN Bold" panose="020B0800000000000000"/>
              </a:rPr>
              <a:t>设备使用 </a:t>
            </a:r>
            <a:r>
              <a:rPr lang="en-US" altLang="zh-CN" dirty="0">
                <a:ea typeface="思源黑体 CN Bold" panose="020B0800000000000000"/>
              </a:rPr>
              <a:t>OFDM </a:t>
            </a:r>
            <a:r>
              <a:rPr lang="zh-CN" altLang="en-US" dirty="0">
                <a:ea typeface="思源黑体 CN Bold" panose="020B0800000000000000"/>
              </a:rPr>
              <a:t>同时在多个子载波上传输数据。</a:t>
            </a:r>
            <a:endParaRPr lang="zh-CN" altLang="en-US" dirty="0">
              <a:ea typeface="思源黑体 CN Bold" panose="020B0800000000000000"/>
            </a:endParaRPr>
          </a:p>
          <a:p>
            <a:endParaRPr lang="zh-CN" altLang="en-US" dirty="0">
              <a:ea typeface="思源黑体 CN Bold" panose="020B0800000000000000"/>
            </a:endParaRPr>
          </a:p>
        </p:txBody>
      </p:sp>
      <p:grpSp>
        <p:nvGrpSpPr>
          <p:cNvPr id="96" name="组合 9"/>
          <p:cNvGrpSpPr/>
          <p:nvPr/>
        </p:nvGrpSpPr>
        <p:grpSpPr>
          <a:xfrm>
            <a:off x="1244780" y="1905004"/>
            <a:ext cx="10016413" cy="873829"/>
            <a:chOff x="1245601" y="2543532"/>
            <a:chExt cx="10016413" cy="873829"/>
          </a:xfrm>
        </p:grpSpPr>
        <p:sp>
          <p:nvSpPr>
            <p:cNvPr id="1048813" name="文本框 3"/>
            <p:cNvSpPr txBox="1">
              <a:spLocks noRot="1" noChangeAspect="1" noMove="1" noResize="1" noEditPoints="1" noAdjustHandles="1" noChangeArrowheads="1" noChangeShapeType="1" noTextEdit="1"/>
            </p:cNvSpPr>
            <p:nvPr/>
          </p:nvSpPr>
          <p:spPr>
            <a:xfrm>
              <a:off x="1245601" y="2563182"/>
              <a:ext cx="3654334" cy="830997"/>
            </a:xfrm>
            <a:prstGeom prst="rect">
              <a:avLst/>
            </a:prstGeom>
            <a:blipFill>
              <a:blip r:embed="rId1"/>
              <a:stretch>
                <a:fillRect b="-9559"/>
              </a:stretch>
            </a:blipFill>
          </p:spPr>
          <p:txBody>
            <a:bodyPr/>
            <a:p>
              <a:r>
                <a:rPr lang="zh-CN" altLang="en-US">
                  <a:noFill/>
                </a:rPr>
                <a:t> </a:t>
              </a:r>
              <a:endParaRPr lang="zh-CN" altLang="en-US">
                <a:noFill/>
              </a:endParaRPr>
            </a:p>
          </p:txBody>
        </p:sp>
        <p:sp>
          <p:nvSpPr>
            <p:cNvPr id="1048814" name="文本框 8"/>
            <p:cNvSpPr txBox="1">
              <a:spLocks noRot="1" noChangeAspect="1" noMove="1" noResize="1" noEditPoints="1" noAdjustHandles="1" noChangeArrowheads="1" noChangeShapeType="1" noTextEdit="1"/>
            </p:cNvSpPr>
            <p:nvPr/>
          </p:nvSpPr>
          <p:spPr>
            <a:xfrm>
              <a:off x="6895690" y="2543532"/>
              <a:ext cx="4366324" cy="873829"/>
            </a:xfrm>
            <a:prstGeom prst="rect">
              <a:avLst/>
            </a:prstGeom>
            <a:blipFill>
              <a:blip r:embed="rId2"/>
              <a:stretch>
                <a:fillRect/>
              </a:stretch>
            </a:blipFill>
          </p:spPr>
          <p:txBody>
            <a:bodyPr/>
            <a:p>
              <a:r>
                <a:rPr lang="zh-CN" altLang="en-US">
                  <a:noFill/>
                </a:rPr>
                <a:t> </a:t>
              </a:r>
              <a:endParaRPr lang="zh-CN" altLang="en-US">
                <a:noFill/>
              </a:endParaRPr>
            </a:p>
          </p:txBody>
        </p:sp>
        <p:sp>
          <p:nvSpPr>
            <p:cNvPr id="1048815" name="右箭头 4"/>
            <p:cNvSpPr/>
            <p:nvPr/>
          </p:nvSpPr>
          <p:spPr>
            <a:xfrm>
              <a:off x="5582594" y="2774289"/>
              <a:ext cx="654755" cy="408781"/>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p>
              <a:pPr algn="ctr"/>
              <a:endParaRPr lang="zh-CN" altLang="en-US"/>
            </a:p>
          </p:txBody>
        </p:sp>
      </p:grpSp>
      <p:sp>
        <p:nvSpPr>
          <p:cNvPr id="1048816" name="文本框 12"/>
          <p:cNvSpPr txBox="1"/>
          <p:nvPr/>
        </p:nvSpPr>
        <p:spPr>
          <a:xfrm>
            <a:off x="562942" y="2954162"/>
            <a:ext cx="10698251" cy="645160"/>
          </a:xfrm>
          <a:prstGeom prst="rect">
            <a:avLst/>
          </a:prstGeom>
          <a:noFill/>
        </p:spPr>
        <p:txBody>
          <a:bodyPr wrap="square" rtlCol="0">
            <a:spAutoFit/>
          </a:bodyPr>
          <a:p>
            <a:r>
              <a:rPr lang="zh-CN" altLang="en-US" dirty="0" smtClean="0">
                <a:ea typeface="思源黑体 CN Bold" panose="020B0800000000000000"/>
              </a:rPr>
              <a:t>如果</a:t>
            </a:r>
            <a:r>
              <a:rPr lang="zh-CN" altLang="en-US" dirty="0">
                <a:ea typeface="思源黑体 CN Bold" panose="020B0800000000000000"/>
              </a:rPr>
              <a:t>所有子载波使用相同的加扰值 𝑆</a:t>
            </a:r>
            <a:r>
              <a:rPr lang="en-US" altLang="zh-CN" dirty="0">
                <a:ea typeface="思源黑体 CN Bold" panose="020B0800000000000000"/>
              </a:rPr>
              <a:t> (</a:t>
            </a:r>
            <a:r>
              <a:rPr lang="zh-CN" altLang="en-US" dirty="0">
                <a:ea typeface="思源黑体 CN Bold" panose="020B0800000000000000"/>
              </a:rPr>
              <a:t>𝑡</a:t>
            </a:r>
            <a:r>
              <a:rPr lang="en-US" altLang="zh-CN" dirty="0">
                <a:ea typeface="思源黑体 CN Bold" panose="020B0800000000000000"/>
              </a:rPr>
              <a:t>) </a:t>
            </a:r>
            <a:r>
              <a:rPr lang="zh-CN" altLang="en-US" dirty="0" smtClean="0">
                <a:ea typeface="思源黑体 CN Bold" panose="020B0800000000000000"/>
              </a:rPr>
              <a:t>，当</a:t>
            </a:r>
            <a:r>
              <a:rPr lang="zh-CN" altLang="en-US" dirty="0">
                <a:ea typeface="思源黑体 CN Bold" panose="020B0800000000000000"/>
              </a:rPr>
              <a:t>环境静止时， 虽然单个子载波的信道状态都在随时间变化，但它们的商保持不变</a:t>
            </a:r>
            <a:r>
              <a:rPr lang="zh-CN" altLang="en-US" dirty="0" smtClean="0">
                <a:ea typeface="思源黑体 CN Bold" panose="020B0800000000000000"/>
              </a:rPr>
              <a:t>，窃听</a:t>
            </a:r>
            <a:r>
              <a:rPr lang="zh-CN" altLang="en-US" dirty="0">
                <a:ea typeface="思源黑体 CN Bold" panose="020B0800000000000000"/>
              </a:rPr>
              <a:t>者仍然可以判断出</a:t>
            </a:r>
            <a:r>
              <a:rPr lang="zh-CN" altLang="en-US" dirty="0" smtClean="0">
                <a:ea typeface="思源黑体 CN Bold" panose="020B0800000000000000"/>
              </a:rPr>
              <a:t>环境是静止的。</a:t>
            </a:r>
            <a:endParaRPr lang="zh-CN" altLang="en-US" dirty="0">
              <a:ea typeface="思源黑体 CN Bold" panose="020B0800000000000000"/>
            </a:endParaRPr>
          </a:p>
        </p:txBody>
      </p:sp>
      <p:sp>
        <p:nvSpPr>
          <p:cNvPr id="1048817" name="文本占位符 3"/>
          <p:cNvSpPr txBox="1"/>
          <p:nvPr/>
        </p:nvSpPr>
        <p:spPr>
          <a:xfrm>
            <a:off x="5473700" y="6537325"/>
            <a:ext cx="1129665" cy="39560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11/23</a:t>
            </a:r>
            <a:endParaRPr lang="en-US" altLang="zh-CN" sz="2000" dirty="0"/>
          </a:p>
        </p:txBody>
      </p:sp>
      <p:pic>
        <p:nvPicPr>
          <p:cNvPr id="2097182" name="图片 16"/>
          <p:cNvPicPr>
            <a:picLocks noChangeAspect="1"/>
          </p:cNvPicPr>
          <p:nvPr/>
        </p:nvPicPr>
        <p:blipFill>
          <a:blip r:embed="rId3"/>
          <a:stretch>
            <a:fillRect/>
          </a:stretch>
        </p:blipFill>
        <p:spPr>
          <a:xfrm>
            <a:off x="4599798" y="3902590"/>
            <a:ext cx="3125208" cy="1990873"/>
          </a:xfrm>
          <a:prstGeom prst="rect">
            <a:avLst/>
          </a:prstGeom>
        </p:spPr>
      </p:pic>
      <p:pic>
        <p:nvPicPr>
          <p:cNvPr id="2097183" name="图片 17"/>
          <p:cNvPicPr>
            <a:picLocks noChangeAspect="1"/>
          </p:cNvPicPr>
          <p:nvPr/>
        </p:nvPicPr>
        <p:blipFill>
          <a:blip r:embed="rId4"/>
          <a:stretch>
            <a:fillRect/>
          </a:stretch>
        </p:blipFill>
        <p:spPr>
          <a:xfrm>
            <a:off x="8467583" y="3895497"/>
            <a:ext cx="3125208" cy="1977760"/>
          </a:xfrm>
          <a:prstGeom prst="rect">
            <a:avLst/>
          </a:prstGeom>
        </p:spPr>
      </p:pic>
      <p:grpSp>
        <p:nvGrpSpPr>
          <p:cNvPr id="97" name="组合 13"/>
          <p:cNvGrpSpPr/>
          <p:nvPr/>
        </p:nvGrpSpPr>
        <p:grpSpPr>
          <a:xfrm>
            <a:off x="4323644" y="65006"/>
            <a:ext cx="6369685" cy="715645"/>
            <a:chOff x="3330222" y="76294"/>
            <a:chExt cx="6369685" cy="715645"/>
          </a:xfrm>
        </p:grpSpPr>
        <p:sp>
          <p:nvSpPr>
            <p:cNvPr id="1048818" name="文本框 15"/>
            <p:cNvSpPr txBox="1"/>
            <p:nvPr/>
          </p:nvSpPr>
          <p:spPr>
            <a:xfrm>
              <a:off x="3330222" y="76294"/>
              <a:ext cx="1612265"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8819" name="文本框 18"/>
            <p:cNvSpPr txBox="1"/>
            <p:nvPr/>
          </p:nvSpPr>
          <p:spPr>
            <a:xfrm>
              <a:off x="4968484" y="76294"/>
              <a:ext cx="1354667" cy="396240"/>
            </a:xfrm>
            <a:prstGeom prst="rect">
              <a:avLst/>
            </a:prstGeom>
            <a:noFill/>
          </p:spPr>
          <p:txBody>
            <a:bodyPr wrap="square" rtlCol="0">
              <a:spAutoFit/>
            </a:bodyPr>
            <a:p>
              <a:r>
                <a:rPr lang="en-US" altLang="zh-CN" dirty="0" smtClean="0">
                  <a:solidFill>
                    <a:schemeClr val="bg1"/>
                  </a:solidFill>
                  <a:ea typeface="思源黑体 CN Bold" panose="020B0800000000000000"/>
                </a:rPr>
                <a:t>2.</a:t>
              </a:r>
              <a:r>
                <a:rPr lang="zh-CN" altLang="en-US" dirty="0" smtClean="0">
                  <a:solidFill>
                    <a:schemeClr val="bg1"/>
                  </a:solidFill>
                  <a:ea typeface="思源黑体 CN Bold" panose="020B0800000000000000"/>
                </a:rPr>
                <a:t>信道加扰</a:t>
              </a:r>
              <a:endParaRPr lang="zh-CN" altLang="en-US" dirty="0">
                <a:solidFill>
                  <a:schemeClr val="bg1"/>
                </a:solidFill>
                <a:ea typeface="思源黑体 CN Bold" panose="020B0800000000000000"/>
              </a:endParaRPr>
            </a:p>
          </p:txBody>
        </p:sp>
        <p:sp>
          <p:nvSpPr>
            <p:cNvPr id="1048820" name="文本框 19"/>
            <p:cNvSpPr txBox="1"/>
            <p:nvPr/>
          </p:nvSpPr>
          <p:spPr>
            <a:xfrm>
              <a:off x="6349012" y="76294"/>
              <a:ext cx="1675765" cy="715645"/>
            </a:xfrm>
            <a:prstGeom prst="rect">
              <a:avLst/>
            </a:prstGeom>
            <a:noFill/>
          </p:spPr>
          <p:txBody>
            <a:bodyPr wrap="square" rtlCol="0">
              <a:no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8821" name="文本框 20"/>
            <p:cNvSpPr txBox="1"/>
            <p:nvPr/>
          </p:nvSpPr>
          <p:spPr>
            <a:xfrm>
              <a:off x="8024142" y="92804"/>
              <a:ext cx="1675765" cy="368300"/>
            </a:xfrm>
            <a:prstGeom prst="rect">
              <a:avLst/>
            </a:prstGeom>
            <a:noFill/>
          </p:spPr>
          <p:txBody>
            <a:bodyPr wrap="square" rtlCol="0">
              <a:spAutoFit/>
            </a:bodyPr>
            <a:p>
              <a:r>
                <a:rPr lang="en-US" altLang="zh-CN" dirty="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p:pic>
        <p:nvPicPr>
          <p:cNvPr id="2097184" name="图片 7"/>
          <p:cNvPicPr>
            <a:picLocks noChangeAspect="1"/>
          </p:cNvPicPr>
          <p:nvPr/>
        </p:nvPicPr>
        <p:blipFill>
          <a:blip r:embed="rId5"/>
          <a:stretch>
            <a:fillRect/>
          </a:stretch>
        </p:blipFill>
        <p:spPr>
          <a:xfrm>
            <a:off x="628650" y="3895451"/>
            <a:ext cx="3228571" cy="2076190"/>
          </a:xfrm>
          <a:prstGeom prst="rect">
            <a:avLst/>
          </a:prstGeom>
        </p:spPr>
      </p:pic>
      <p:sp>
        <p:nvSpPr>
          <p:cNvPr id="2" name="文本框 1"/>
          <p:cNvSpPr txBox="1"/>
          <p:nvPr/>
        </p:nvSpPr>
        <p:spPr>
          <a:xfrm>
            <a:off x="563245" y="5993130"/>
            <a:ext cx="10880725" cy="395605"/>
          </a:xfrm>
          <a:prstGeom prst="rect">
            <a:avLst/>
          </a:prstGeom>
          <a:noFill/>
        </p:spPr>
        <p:txBody>
          <a:bodyPr wrap="square" rtlCol="0">
            <a:noAutofit/>
          </a:bodyPr>
          <a:p>
            <a:r>
              <a:rPr lang="zh-CN" altLang="en-US">
                <a:sym typeface="+mn-ea"/>
              </a:rPr>
              <a:t>当环境中有运动物体时，虽然加扰会在单个子载波上引入额外的频率成分，但它们的商仍会保留部分信息。</a:t>
            </a:r>
            <a:endParaRPr lang="zh-CN" altLang="en-US"/>
          </a:p>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9718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9718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9718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48827" name="文本占位符 1"/>
          <p:cNvSpPr>
            <a:spLocks noGrp="1"/>
          </p:cNvSpPr>
          <p:nvPr>
            <p:ph type="body" sz="quarter" idx="12"/>
          </p:nvPr>
        </p:nvSpPr>
        <p:spPr>
          <a:xfrm>
            <a:off x="218105" y="76294"/>
            <a:ext cx="410545" cy="401955"/>
          </a:xfrm>
        </p:spPr>
        <p:txBody>
          <a:bodyPr/>
          <a:p>
            <a:r>
              <a:rPr lang="en-US" altLang="zh-CN" dirty="0"/>
              <a:t>2</a:t>
            </a:r>
            <a:endParaRPr lang="zh-CN" altLang="en-US" dirty="0"/>
          </a:p>
        </p:txBody>
      </p:sp>
      <p:sp>
        <p:nvSpPr>
          <p:cNvPr id="1048828" name="文本占位符 2"/>
          <p:cNvSpPr>
            <a:spLocks noGrp="1"/>
          </p:cNvSpPr>
          <p:nvPr>
            <p:ph type="body" sz="quarter" idx="13"/>
          </p:nvPr>
        </p:nvSpPr>
        <p:spPr/>
        <p:txBody>
          <a:bodyPr/>
          <a:p>
            <a:r>
              <a:rPr lang="zh-CN" altLang="en-US" kern="0" dirty="0">
                <a:ea typeface="楷体" panose="02010609060101010101" pitchFamily="49" charset="-122"/>
                <a:sym typeface="DengXian" panose="02010600030101010101" pitchFamily="2" charset="-122"/>
              </a:rPr>
              <a:t>内</a:t>
            </a:r>
            <a:r>
              <a:rPr lang="zh-CN" altLang="en-US" kern="0" dirty="0" smtClean="0">
                <a:ea typeface="楷体" panose="02010609060101010101" pitchFamily="49" charset="-122"/>
                <a:sym typeface="DengXian" panose="02010600030101010101" pitchFamily="2" charset="-122"/>
              </a:rPr>
              <a:t>建信道加扰方案</a:t>
            </a:r>
            <a:endParaRPr lang="zh-CN" altLang="en-US" kern="0" dirty="0">
              <a:ea typeface="楷体" panose="02010609060101010101" pitchFamily="49" charset="-122"/>
              <a:sym typeface="DengXian" panose="02010600030101010101" pitchFamily="2" charset="-122"/>
            </a:endParaRPr>
          </a:p>
        </p:txBody>
      </p:sp>
      <p:sp>
        <p:nvSpPr>
          <p:cNvPr id="1048829" name="文本框 6"/>
          <p:cNvSpPr txBox="1"/>
          <p:nvPr/>
        </p:nvSpPr>
        <p:spPr>
          <a:xfrm>
            <a:off x="379854" y="563194"/>
            <a:ext cx="11064429" cy="726440"/>
          </a:xfrm>
          <a:prstGeom prst="rect">
            <a:avLst/>
          </a:prstGeom>
          <a:noFill/>
        </p:spPr>
        <p:txBody>
          <a:bodyPr wrap="square" rtlCol="0">
            <a:spAutoFit/>
          </a:bodyPr>
          <a:p>
            <a:pPr marL="0" lvl="1">
              <a:lnSpc>
                <a:spcPct val="150000"/>
              </a:lnSpc>
            </a:pPr>
            <a:r>
              <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加扰向量在频率维度上的</a:t>
            </a: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变化</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sp>
        <p:nvSpPr>
          <p:cNvPr id="1048830" name="文本占位符 3"/>
          <p:cNvSpPr txBox="1"/>
          <p:nvPr/>
        </p:nvSpPr>
        <p:spPr>
          <a:xfrm>
            <a:off x="5529580" y="6453505"/>
            <a:ext cx="1059815" cy="40513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12/23</a:t>
            </a:r>
            <a:endParaRPr lang="en-US" altLang="zh-CN" sz="2000" dirty="0"/>
          </a:p>
        </p:txBody>
      </p:sp>
      <p:sp>
        <p:nvSpPr>
          <p:cNvPr id="1048831" name="文本框 15"/>
          <p:cNvSpPr txBox="1">
            <a:spLocks noRot="1" noChangeAspect="1" noMove="1" noResize="1" noEditPoints="1" noAdjustHandles="1" noChangeArrowheads="1" noChangeShapeType="1" noTextEdit="1"/>
          </p:cNvSpPr>
          <p:nvPr/>
        </p:nvSpPr>
        <p:spPr>
          <a:xfrm>
            <a:off x="1072088" y="2091937"/>
            <a:ext cx="9461645" cy="932628"/>
          </a:xfrm>
          <a:prstGeom prst="rect">
            <a:avLst/>
          </a:prstGeom>
          <a:blipFill>
            <a:blip r:embed="rId1"/>
            <a:stretch>
              <a:fillRect/>
            </a:stretch>
          </a:blipFill>
        </p:spPr>
        <p:txBody>
          <a:bodyPr/>
          <a:p>
            <a:r>
              <a:rPr lang="zh-CN" altLang="en-US">
                <a:noFill/>
              </a:rPr>
              <a:t> </a:t>
            </a:r>
            <a:endParaRPr lang="zh-CN" altLang="en-US">
              <a:noFill/>
            </a:endParaRPr>
          </a:p>
        </p:txBody>
      </p:sp>
      <p:pic>
        <p:nvPicPr>
          <p:cNvPr id="2097185" name="图片 7"/>
          <p:cNvPicPr>
            <a:picLocks noChangeAspect="1"/>
          </p:cNvPicPr>
          <p:nvPr/>
        </p:nvPicPr>
        <p:blipFill>
          <a:blip r:embed="rId2"/>
          <a:stretch>
            <a:fillRect/>
          </a:stretch>
        </p:blipFill>
        <p:spPr>
          <a:xfrm>
            <a:off x="7687358" y="4230682"/>
            <a:ext cx="3756925" cy="2411161"/>
          </a:xfrm>
          <a:prstGeom prst="rect">
            <a:avLst/>
          </a:prstGeom>
        </p:spPr>
      </p:pic>
      <p:pic>
        <p:nvPicPr>
          <p:cNvPr id="2097186" name="图片 3"/>
          <p:cNvPicPr>
            <a:picLocks noChangeAspect="1"/>
          </p:cNvPicPr>
          <p:nvPr/>
        </p:nvPicPr>
        <p:blipFill>
          <a:blip r:embed="rId3"/>
          <a:stretch>
            <a:fillRect/>
          </a:stretch>
        </p:blipFill>
        <p:spPr>
          <a:xfrm>
            <a:off x="2562678" y="1354557"/>
            <a:ext cx="2939136" cy="737380"/>
          </a:xfrm>
          <a:prstGeom prst="rect">
            <a:avLst/>
          </a:prstGeom>
        </p:spPr>
      </p:pic>
      <p:grpSp>
        <p:nvGrpSpPr>
          <p:cNvPr id="101" name="组合 11"/>
          <p:cNvGrpSpPr/>
          <p:nvPr/>
        </p:nvGrpSpPr>
        <p:grpSpPr>
          <a:xfrm>
            <a:off x="4323644" y="65006"/>
            <a:ext cx="6347460" cy="716915"/>
            <a:chOff x="3330222" y="76294"/>
            <a:chExt cx="6347460" cy="716915"/>
          </a:xfrm>
        </p:grpSpPr>
        <p:sp>
          <p:nvSpPr>
            <p:cNvPr id="1048834" name="文本框 12"/>
            <p:cNvSpPr txBox="1"/>
            <p:nvPr/>
          </p:nvSpPr>
          <p:spPr>
            <a:xfrm>
              <a:off x="3330222" y="76294"/>
              <a:ext cx="1637665"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8835" name="文本框 16"/>
            <p:cNvSpPr txBox="1"/>
            <p:nvPr/>
          </p:nvSpPr>
          <p:spPr>
            <a:xfrm>
              <a:off x="4968484" y="76294"/>
              <a:ext cx="1354667" cy="396240"/>
            </a:xfrm>
            <a:prstGeom prst="rect">
              <a:avLst/>
            </a:prstGeom>
            <a:noFill/>
          </p:spPr>
          <p:txBody>
            <a:bodyPr wrap="square" rtlCol="0">
              <a:spAutoFit/>
            </a:bodyPr>
            <a:p>
              <a:r>
                <a:rPr lang="en-US" altLang="zh-CN" dirty="0" smtClean="0">
                  <a:solidFill>
                    <a:schemeClr val="bg1"/>
                  </a:solidFill>
                  <a:ea typeface="思源黑体 CN Bold" panose="020B0800000000000000"/>
                </a:rPr>
                <a:t>2.</a:t>
              </a:r>
              <a:r>
                <a:rPr lang="zh-CN" altLang="en-US" dirty="0" smtClean="0">
                  <a:solidFill>
                    <a:schemeClr val="bg1"/>
                  </a:solidFill>
                  <a:ea typeface="思源黑体 CN Bold" panose="020B0800000000000000"/>
                </a:rPr>
                <a:t>信道加扰</a:t>
              </a:r>
              <a:endParaRPr lang="zh-CN" altLang="en-US" dirty="0">
                <a:solidFill>
                  <a:schemeClr val="bg1"/>
                </a:solidFill>
                <a:ea typeface="思源黑体 CN Bold" panose="020B0800000000000000"/>
              </a:endParaRPr>
            </a:p>
          </p:txBody>
        </p:sp>
        <p:sp>
          <p:nvSpPr>
            <p:cNvPr id="1048836" name="文本框 17"/>
            <p:cNvSpPr txBox="1"/>
            <p:nvPr/>
          </p:nvSpPr>
          <p:spPr>
            <a:xfrm>
              <a:off x="6349012" y="76294"/>
              <a:ext cx="1631315" cy="716915"/>
            </a:xfrm>
            <a:prstGeom prst="rect">
              <a:avLst/>
            </a:prstGeom>
            <a:noFill/>
          </p:spPr>
          <p:txBody>
            <a:bodyPr wrap="square" rtlCol="0">
              <a:no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8837" name="文本框 18"/>
            <p:cNvSpPr txBox="1"/>
            <p:nvPr/>
          </p:nvSpPr>
          <p:spPr>
            <a:xfrm>
              <a:off x="8024142" y="92804"/>
              <a:ext cx="1653540" cy="700405"/>
            </a:xfrm>
            <a:prstGeom prst="rect">
              <a:avLst/>
            </a:prstGeom>
            <a:noFill/>
          </p:spPr>
          <p:txBody>
            <a:bodyPr wrap="square" rtlCol="0">
              <a:noAutofit/>
            </a:bodyPr>
            <a:p>
              <a:r>
                <a:rPr lang="en-US" altLang="zh-CN" dirty="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mc:AlternateContent xmlns:mc="http://schemas.openxmlformats.org/markup-compatibility/2006">
        <mc:Choice xmlns:a14="http://schemas.microsoft.com/office/drawing/2010/main" Requires="a14">
          <p:sp>
            <p:nvSpPr>
              <p:cNvPr id="6" name="文本框 5"/>
              <p:cNvSpPr txBox="1"/>
              <p:nvPr/>
            </p:nvSpPr>
            <p:spPr>
              <a:xfrm>
                <a:off x="628015" y="3010535"/>
                <a:ext cx="6715125" cy="634365"/>
              </a:xfrm>
              <a:prstGeom prst="rect">
                <a:avLst/>
              </a:prstGeom>
              <a:noFill/>
            </p:spPr>
            <p:txBody>
              <a:bodyPr wrap="square" rtlCol="0" anchor="t">
                <a:noAutofit/>
              </a:bodyPr>
              <a:p>
                <a:pPr marL="285750" indent="-285750">
                  <a:buFont typeface="Arial" panose="020B0604020202090204" pitchFamily="34" charset="0"/>
                  <a:buChar char="•"/>
                </a:pPr>
                <a14:m>
                  <m:oMath xmlns:m="http://schemas.openxmlformats.org/officeDocument/2006/math">
                    <m:sSub>
                      <m:sSubPr>
                        <m:ctrlPr>
                          <a:rPr lang="en-US" altLang="zh-CN" i="1" dirty="0">
                            <a:latin typeface="DejaVu Math TeX Gyre" panose="02000503000000000000" charset="0"/>
                            <a:cs typeface="DejaVu Math TeX Gyre" panose="02000503000000000000" charset="0"/>
                            <a:sym typeface="+mn-ea"/>
                          </a:rPr>
                        </m:ctrlPr>
                      </m:sSubPr>
                      <m:e>
                        <m:r>
                          <a:rPr lang="en-US" altLang="zh-CN" i="1" dirty="0">
                            <a:latin typeface="DejaVu Math TeX Gyre" panose="02000503000000000000" charset="0"/>
                            <a:cs typeface="DejaVu Math TeX Gyre" panose="02000503000000000000" charset="0"/>
                            <a:sym typeface="+mn-ea"/>
                          </a:rPr>
                          <m:t>𝜏</m:t>
                        </m:r>
                      </m:e>
                      <m:sub>
                        <m:r>
                          <a:rPr lang="en-US" altLang="zh-CN" i="1" dirty="0">
                            <a:latin typeface="DejaVu Math TeX Gyre" panose="02000503000000000000" charset="0"/>
                            <a:cs typeface="DejaVu Math TeX Gyre" panose="02000503000000000000" charset="0"/>
                            <a:sym typeface="+mn-ea"/>
                          </a:rPr>
                          <m:t>0</m:t>
                        </m:r>
                      </m:sub>
                    </m:sSub>
                    <m:r>
                      <a:rPr lang="en-US" altLang="zh-CN" i="1" dirty="0">
                        <a:latin typeface="DejaVu Math TeX Gyre" panose="02000503000000000000" charset="0"/>
                        <a:cs typeface="DejaVu Math TeX Gyre" panose="02000503000000000000" charset="0"/>
                        <a:sym typeface="+mn-ea"/>
                      </a:rPr>
                      <m:t>(</m:t>
                    </m:r>
                    <m:r>
                      <a:rPr lang="en-US" altLang="zh-CN" i="1" dirty="0">
                        <a:latin typeface="DejaVu Math TeX Gyre" panose="02000503000000000000" charset="0"/>
                        <a:cs typeface="DejaVu Math TeX Gyre" panose="02000503000000000000" charset="0"/>
                        <a:sym typeface="+mn-ea"/>
                      </a:rPr>
                      <m:t>𝑡</m:t>
                    </m:r>
                    <m:r>
                      <a:rPr lang="en-US" altLang="zh-CN" i="1" dirty="0">
                        <a:latin typeface="DejaVu Math TeX Gyre" panose="02000503000000000000" charset="0"/>
                        <a:cs typeface="DejaVu Math TeX Gyre" panose="02000503000000000000" charset="0"/>
                        <a:sym typeface="+mn-ea"/>
                      </a:rPr>
                      <m:t>)</m:t>
                    </m:r>
                  </m:oMath>
                </a14:m>
                <a:r>
                  <a:rPr lang="zh-CN" altLang="en-US" dirty="0">
                    <a:latin typeface="DejaVu Math TeX Gyre" panose="02000503000000000000" charset="0"/>
                    <a:cs typeface="DejaVu Math TeX Gyre" panose="02000503000000000000" charset="0"/>
                    <a:sym typeface="+mn-ea"/>
                  </a:rPr>
                  <a:t>，是应用于所有分量的时间延迟，作用类似于采样频偏和载波频偏的</a:t>
                </a:r>
                <a:r>
                  <a:rPr lang="zh-CN" altLang="en-US" dirty="0">
                    <a:latin typeface="DejaVu Math TeX Gyre" panose="02000503000000000000" charset="0"/>
                    <a:cs typeface="DejaVu Math TeX Gyre" panose="02000503000000000000" charset="0"/>
                    <a:sym typeface="+mn-ea"/>
                  </a:rPr>
                  <a:t>效应。</a:t>
                </a:r>
                <a:endParaRPr lang="zh-CN" altLang="en-US" dirty="0">
                  <a:latin typeface="DejaVu Math TeX Gyre" panose="02000503000000000000" charset="0"/>
                  <a:cs typeface="DejaVu Math TeX Gyre" panose="02000503000000000000" charset="0"/>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628015" y="3010535"/>
                <a:ext cx="6715125" cy="63436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文本框 1"/>
              <p:cNvSpPr txBox="1"/>
              <p:nvPr/>
            </p:nvSpPr>
            <p:spPr>
              <a:xfrm>
                <a:off x="2242185" y="4973955"/>
                <a:ext cx="3486785" cy="404495"/>
              </a:xfrm>
              <a:prstGeom prst="rect">
                <a:avLst/>
              </a:prstGeom>
              <a:noFill/>
            </p:spPr>
            <p:txBody>
              <a:bodyPr wrap="square" rtlCol="0">
                <a:noAutofit/>
              </a:bodyPr>
              <a:p>
                <a14:m>
                  <m:oMathPara xmlns:m="http://schemas.openxmlformats.org/officeDocument/2006/math">
                    <m:oMathParaPr>
                      <m:jc m:val="centerGroup"/>
                    </m:oMathParaPr>
                    <m:oMath xmlns:m="http://schemas.openxmlformats.org/officeDocument/2006/math">
                      <m:d>
                        <m:dPr>
                          <m:begChr m:val="|"/>
                          <m:endChr m:val="|"/>
                          <m:ctrlPr>
                            <a:rPr lang="en-US" altLang="zh-CN" i="1">
                              <a:latin typeface="DejaVu Math TeX Gyre" panose="02000503000000000000" charset="0"/>
                              <a:cs typeface="DejaVu Math TeX Gyre" panose="02000503000000000000" charset="0"/>
                            </a:rPr>
                          </m:ctrlPr>
                        </m:dPr>
                        <m:e>
                          <m:sSub>
                            <m:sSubPr>
                              <m:ctrlPr>
                                <a:rPr lang="en-US" altLang="zh-CN" i="1" dirty="0">
                                  <a:latin typeface="DejaVu Math TeX Gyre" panose="02000503000000000000" charset="0"/>
                                  <a:cs typeface="DejaVu Math TeX Gyre" panose="02000503000000000000" charset="0"/>
                                  <a:sym typeface="+mn-ea"/>
                                </a:rPr>
                              </m:ctrlPr>
                            </m:sSubPr>
                            <m:e>
                              <m:sSub>
                                <m:sSubPr>
                                  <m:ctrlPr>
                                    <a:rPr lang="en-US" altLang="zh-CN" i="1" dirty="0">
                                      <a:latin typeface="DejaVu Math TeX Gyre" panose="02000503000000000000" charset="0"/>
                                      <a:cs typeface="DejaVu Math TeX Gyre" panose="02000503000000000000" charset="0"/>
                                      <a:sym typeface="+mn-ea"/>
                                    </a:rPr>
                                  </m:ctrlPr>
                                </m:sSubPr>
                                <m:e>
                                  <m:r>
                                    <a:rPr lang="en-US" altLang="zh-CN" i="1" dirty="0">
                                      <a:latin typeface="DejaVu Math TeX Gyre" panose="02000503000000000000" charset="0"/>
                                      <a:cs typeface="DejaVu Math TeX Gyre" panose="02000503000000000000" charset="0"/>
                                      <a:sym typeface="+mn-ea"/>
                                    </a:rPr>
                                    <m:t>𝜏</m:t>
                                  </m:r>
                                  <m:r>
                                    <a:rPr lang="en-US" altLang="zh-CN" i="1" dirty="0">
                                      <a:latin typeface="DejaVu Math TeX Gyre" panose="02000503000000000000" charset="0"/>
                                      <a:cs typeface="DejaVu Math TeX Gyre" panose="02000503000000000000" charset="0"/>
                                      <a:sym typeface="+mn-ea"/>
                                    </a:rPr>
                                    <m:t>’</m:t>
                                  </m:r>
                                </m:e>
                                <m:sub>
                                  <m:r>
                                    <a:rPr lang="en-US" altLang="zh-CN" i="1" dirty="0">
                                      <a:latin typeface="DejaVu Math TeX Gyre" panose="02000503000000000000" charset="0"/>
                                      <a:cs typeface="DejaVu Math TeX Gyre" panose="02000503000000000000" charset="0"/>
                                      <a:sym typeface="+mn-ea"/>
                                    </a:rPr>
                                    <m:t>𝑖</m:t>
                                  </m:r>
                                </m:sub>
                              </m:sSub>
                              <m:r>
                                <a:rPr lang="en-US" altLang="zh-CN" i="1" dirty="0">
                                  <a:latin typeface="DejaVu Math TeX Gyre" panose="02000503000000000000" charset="0"/>
                                  <a:cs typeface="DejaVu Math TeX Gyre" panose="02000503000000000000" charset="0"/>
                                  <a:sym typeface="+mn-ea"/>
                                </a:rPr>
                                <m:t>(</m:t>
                              </m:r>
                              <m:r>
                                <a:rPr lang="en-US" altLang="zh-CN" i="1" dirty="0">
                                  <a:latin typeface="DejaVu Math TeX Gyre" panose="02000503000000000000" charset="0"/>
                                  <a:cs typeface="DejaVu Math TeX Gyre" panose="02000503000000000000" charset="0"/>
                                  <a:sym typeface="+mn-ea"/>
                                </a:rPr>
                                <m:t>𝑡</m:t>
                              </m:r>
                              <m:r>
                                <a:rPr lang="en-US" altLang="zh-CN" i="1" dirty="0">
                                  <a:latin typeface="DejaVu Math TeX Gyre" panose="02000503000000000000" charset="0"/>
                                  <a:cs typeface="DejaVu Math TeX Gyre" panose="02000503000000000000" charset="0"/>
                                  <a:sym typeface="+mn-ea"/>
                                </a:rPr>
                                <m:t>)</m:t>
                              </m:r>
                              <m:r>
                                <a:rPr lang="en-US" altLang="zh-CN" i="1" dirty="0">
                                  <a:latin typeface="DejaVu Math TeX Gyre" panose="02000503000000000000" charset="0"/>
                                  <a:cs typeface="DejaVu Math TeX Gyre" panose="02000503000000000000" charset="0"/>
                                  <a:sym typeface="+mn-ea"/>
                                </a:rPr>
                                <m:t>−</m:t>
                              </m:r>
                              <m:r>
                                <a:rPr lang="en-US" altLang="zh-CN" i="1" dirty="0">
                                  <a:latin typeface="DejaVu Math TeX Gyre" panose="02000503000000000000" charset="0"/>
                                  <a:cs typeface="DejaVu Math TeX Gyre" panose="02000503000000000000" charset="0"/>
                                  <a:sym typeface="+mn-ea"/>
                                </a:rPr>
                                <m:t>𝜏</m:t>
                              </m:r>
                            </m:e>
                            <m:sub>
                              <m:r>
                                <a:rPr lang="en-US" altLang="zh-CN" i="1" dirty="0">
                                  <a:latin typeface="DejaVu Math TeX Gyre" panose="02000503000000000000" charset="0"/>
                                  <a:cs typeface="DejaVu Math TeX Gyre" panose="02000503000000000000" charset="0"/>
                                  <a:sym typeface="+mn-ea"/>
                                </a:rPr>
                                <m:t>𝑖</m:t>
                              </m:r>
                            </m:sub>
                          </m:sSub>
                          <m:r>
                            <a:rPr lang="en-US" altLang="zh-CN" i="1" dirty="0">
                              <a:latin typeface="DejaVu Math TeX Gyre" panose="02000503000000000000" charset="0"/>
                              <a:cs typeface="DejaVu Math TeX Gyre" panose="02000503000000000000" charset="0"/>
                              <a:sym typeface="+mn-ea"/>
                            </a:rPr>
                            <m:t>(</m:t>
                          </m:r>
                          <m:r>
                            <a:rPr lang="en-US" altLang="zh-CN" i="1" dirty="0">
                              <a:latin typeface="DejaVu Math TeX Gyre" panose="02000503000000000000" charset="0"/>
                              <a:cs typeface="DejaVu Math TeX Gyre" panose="02000503000000000000" charset="0"/>
                              <a:sym typeface="+mn-ea"/>
                            </a:rPr>
                            <m:t>𝑡</m:t>
                          </m:r>
                          <m:r>
                            <a:rPr lang="en-US" altLang="zh-CN" i="1" dirty="0">
                              <a:latin typeface="DejaVu Math TeX Gyre" panose="02000503000000000000" charset="0"/>
                              <a:ea typeface="宋体" charset="0"/>
                              <a:cs typeface="DejaVu Math TeX Gyre" panose="02000503000000000000" charset="0"/>
                              <a:sym typeface="+mn-ea"/>
                            </a:rPr>
                            <m:t>)</m:t>
                          </m:r>
                        </m:e>
                      </m:d>
                      <m:r>
                        <a:rPr lang="en-US" altLang="zh-CN" i="1" dirty="0">
                          <a:latin typeface="DejaVu Math TeX Gyre" panose="02000503000000000000" charset="0"/>
                          <a:ea typeface="宋体" charset="0"/>
                          <a:cs typeface="DejaVu Math TeX Gyre" panose="02000503000000000000" charset="0"/>
                          <a:sym typeface="+mn-ea"/>
                        </a:rPr>
                        <m:t>=</m:t>
                      </m:r>
                      <m:r>
                        <a:rPr lang="en-US" altLang="zh-CN" i="1" dirty="0">
                          <a:latin typeface="DejaVu Math TeX Gyre" panose="02000503000000000000" charset="0"/>
                          <a:ea typeface="宋体" charset="0"/>
                          <a:cs typeface="DejaVu Math TeX Gyre" panose="02000503000000000000" charset="0"/>
                          <a:sym typeface="+mn-ea"/>
                        </a:rPr>
                        <m:t>𝐹</m:t>
                      </m:r>
                      <m:r>
                        <a:rPr lang="en-US" altLang="zh-CN" i="1" dirty="0">
                          <a:latin typeface="DejaVu Math TeX Gyre" panose="02000503000000000000" charset="0"/>
                          <a:ea typeface="宋体" charset="0"/>
                          <a:cs typeface="DejaVu Math TeX Gyre" panose="02000503000000000000" charset="0"/>
                          <a:sym typeface="+mn-ea"/>
                        </a:rPr>
                        <m:t> / (</m:t>
                      </m:r>
                      <m:r>
                        <a:rPr lang="en-US" altLang="zh-CN" i="1" dirty="0">
                          <a:latin typeface="DejaVu Math TeX Gyre" panose="02000503000000000000" charset="0"/>
                          <a:ea typeface="宋体" charset="0"/>
                          <a:cs typeface="DejaVu Math TeX Gyre" panose="02000503000000000000" charset="0"/>
                          <a:sym typeface="+mn-ea"/>
                        </a:rPr>
                        <m:t>800</m:t>
                      </m:r>
                      <m:sSub>
                        <m:sSubPr>
                          <m:ctrlPr>
                            <a:rPr lang="en-US" altLang="zh-CN" i="1" dirty="0">
                              <a:latin typeface="DejaVu Math TeX Gyre" panose="02000503000000000000" charset="0"/>
                              <a:ea typeface="宋体" charset="0"/>
                              <a:cs typeface="DejaVu Math TeX Gyre" panose="02000503000000000000" charset="0"/>
                              <a:sym typeface="+mn-ea"/>
                            </a:rPr>
                          </m:ctrlPr>
                        </m:sSubPr>
                        <m:e>
                          <m:r>
                            <a:rPr lang="en-US" altLang="zh-CN" i="1" dirty="0">
                              <a:latin typeface="DejaVu Math TeX Gyre" panose="02000503000000000000" charset="0"/>
                              <a:ea typeface="宋体" charset="0"/>
                              <a:cs typeface="DejaVu Math TeX Gyre" panose="02000503000000000000" charset="0"/>
                              <a:sym typeface="+mn-ea"/>
                            </a:rPr>
                            <m:t>𝑓</m:t>
                          </m:r>
                        </m:e>
                        <m:sub>
                          <m:r>
                            <a:rPr lang="en-US" altLang="zh-CN" i="1" dirty="0">
                              <a:latin typeface="DejaVu Math TeX Gyre" panose="02000503000000000000" charset="0"/>
                              <a:ea typeface="宋体" charset="0"/>
                              <a:cs typeface="DejaVu Math TeX Gyre" panose="02000503000000000000" charset="0"/>
                              <a:sym typeface="+mn-ea"/>
                            </a:rPr>
                            <m:t>0</m:t>
                          </m:r>
                        </m:sub>
                      </m:sSub>
                      <m:r>
                        <a:rPr lang="en-US" altLang="zh-CN" i="1" dirty="0">
                          <a:latin typeface="DejaVu Math TeX Gyre" panose="02000503000000000000" charset="0"/>
                          <a:ea typeface="宋体" charset="0"/>
                          <a:cs typeface="DejaVu Math TeX Gyre" panose="02000503000000000000" charset="0"/>
                          <a:sym typeface="+mn-ea"/>
                        </a:rPr>
                        <m:t>)</m:t>
                      </m:r>
                    </m:oMath>
                  </m:oMathPara>
                </a14:m>
                <a:endParaRPr lang="zh-CN" altLang="en-US"/>
              </a:p>
            </p:txBody>
          </p:sp>
        </mc:Choice>
        <mc:Fallback>
          <p:sp>
            <p:nvSpPr>
              <p:cNvPr id="2" name="文本框 1"/>
              <p:cNvSpPr txBox="1">
                <a:spLocks noRot="1" noChangeAspect="1" noMove="1" noResize="1" noEditPoints="1" noAdjustHandles="1" noChangeArrowheads="1" noChangeShapeType="1" noTextEdit="1"/>
              </p:cNvSpPr>
              <p:nvPr/>
            </p:nvSpPr>
            <p:spPr>
              <a:xfrm>
                <a:off x="2242185" y="4973955"/>
                <a:ext cx="3486785" cy="404495"/>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628650" y="5497830"/>
                <a:ext cx="6096000" cy="645795"/>
              </a:xfrm>
              <a:prstGeom prst="rect">
                <a:avLst/>
              </a:prstGeom>
              <a:noFill/>
            </p:spPr>
            <p:txBody>
              <a:bodyPr wrap="square" rtlCol="0" anchor="t">
                <a:spAutoFit/>
              </a:bodyPr>
              <a:p>
                <a:r>
                  <a:rPr lang="zh-CN" altLang="en-US" dirty="0">
                    <a:sym typeface="+mn-ea"/>
                  </a:rPr>
                  <a:t>其中的</a:t>
                </a:r>
                <a14:m>
                  <m:oMath xmlns:m="http://schemas.openxmlformats.org/officeDocument/2006/math">
                    <m:r>
                      <a:rPr lang="en-US" altLang="zh-CN" i="1" dirty="0">
                        <a:latin typeface="DejaVu Math TeX Gyre" panose="02000503000000000000" charset="0"/>
                        <a:ea typeface="宋体" charset="0"/>
                        <a:cs typeface="DejaVu Math TeX Gyre" panose="02000503000000000000" charset="0"/>
                        <a:sym typeface="+mn-ea"/>
                      </a:rPr>
                      <m:t>𝐹</m:t>
                    </m:r>
                  </m:oMath>
                </a14:m>
                <a:r>
                  <a:rPr lang="zh-CN" altLang="en-US" dirty="0">
                    <a:sym typeface="+mn-ea"/>
                  </a:rPr>
                  <a:t>是原信号在对应时刻拥有最大能量的频率值，</a:t>
                </a:r>
                <a:r>
                  <a:rPr lang="en-US" altLang="zh-CN" dirty="0">
                    <a:sym typeface="+mn-ea"/>
                  </a:rPr>
                  <a:t>800</a:t>
                </a:r>
                <a:r>
                  <a:rPr lang="zh-CN" altLang="en-US" dirty="0">
                    <a:sym typeface="+mn-ea"/>
                  </a:rPr>
                  <a:t>是采样率，</a:t>
                </a:r>
                <a14:m>
                  <m:oMath xmlns:m="http://schemas.openxmlformats.org/officeDocument/2006/math">
                    <m:sSub>
                      <m:sSubPr>
                        <m:ctrlPr>
                          <a:rPr lang="en-US" altLang="zh-CN" i="1" dirty="0">
                            <a:latin typeface="DejaVu Math TeX Gyre" panose="02000503000000000000" charset="0"/>
                            <a:ea typeface="宋体" charset="0"/>
                            <a:cs typeface="DejaVu Math TeX Gyre" panose="02000503000000000000" charset="0"/>
                            <a:sym typeface="+mn-ea"/>
                          </a:rPr>
                        </m:ctrlPr>
                      </m:sSubPr>
                      <m:e>
                        <m:r>
                          <a:rPr lang="en-US" altLang="zh-CN" i="1" dirty="0">
                            <a:latin typeface="DejaVu Math TeX Gyre" panose="02000503000000000000" charset="0"/>
                            <a:ea typeface="宋体" charset="0"/>
                            <a:cs typeface="DejaVu Math TeX Gyre" panose="02000503000000000000" charset="0"/>
                            <a:sym typeface="+mn-ea"/>
                          </a:rPr>
                          <m:t>𝑓</m:t>
                        </m:r>
                      </m:e>
                      <m:sub>
                        <m:r>
                          <a:rPr lang="en-US" altLang="zh-CN" i="1" dirty="0">
                            <a:latin typeface="DejaVu Math TeX Gyre" panose="02000503000000000000" charset="0"/>
                            <a:ea typeface="宋体" charset="0"/>
                            <a:cs typeface="DejaVu Math TeX Gyre" panose="02000503000000000000" charset="0"/>
                            <a:sym typeface="+mn-ea"/>
                          </a:rPr>
                          <m:t>0</m:t>
                        </m:r>
                      </m:sub>
                    </m:sSub>
                  </m:oMath>
                </a14:m>
                <a:r>
                  <a:rPr lang="zh-CN" altLang="en-US" dirty="0">
                    <a:sym typeface="+mn-ea"/>
                  </a:rPr>
                  <a:t>是载波频率。</a:t>
                </a:r>
                <a:endParaRPr lang="zh-CN" altLang="en-US" dirty="0">
                  <a:latin typeface="DejaVu Math TeX Gyre" panose="02000503000000000000" charset="0"/>
                  <a:ea typeface="宋体" charset="0"/>
                  <a:cs typeface="DejaVu Math TeX Gyre" panose="02000503000000000000" charset="0"/>
                  <a:sym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628650" y="5497830"/>
                <a:ext cx="6096000" cy="645795"/>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628650" y="3644900"/>
                <a:ext cx="6096000" cy="404495"/>
              </a:xfrm>
              <a:prstGeom prst="rect">
                <a:avLst/>
              </a:prstGeom>
              <a:noFill/>
            </p:spPr>
            <p:txBody>
              <a:bodyPr wrap="square" rtlCol="0" anchor="t">
                <a:noAutofit/>
              </a:bodyPr>
              <a:p>
                <a:pPr marL="285750" indent="-285750">
                  <a:buFont typeface="Arial" panose="020B0604020202090204" pitchFamily="34" charset="0"/>
                  <a:buChar char="•"/>
                </a:pPr>
                <a14:m>
                  <m:oMath xmlns:m="http://schemas.openxmlformats.org/officeDocument/2006/math">
                    <m:sSub>
                      <m:sSubPr>
                        <m:ctrlPr>
                          <a:rPr lang="en-US" altLang="zh-CN" i="1" dirty="0">
                            <a:latin typeface="DejaVu Math TeX Gyre" panose="02000503000000000000" charset="0"/>
                            <a:cs typeface="DejaVu Math TeX Gyre" panose="02000503000000000000" charset="0"/>
                            <a:sym typeface="+mn-ea"/>
                          </a:rPr>
                        </m:ctrlPr>
                      </m:sSubPr>
                      <m:e>
                        <m:r>
                          <a:rPr lang="en-US" altLang="zh-CN" i="1" dirty="0">
                            <a:latin typeface="DejaVu Math TeX Gyre" panose="02000503000000000000" charset="0"/>
                            <a:cs typeface="DejaVu Math TeX Gyre" panose="02000503000000000000" charset="0"/>
                            <a:sym typeface="+mn-ea"/>
                          </a:rPr>
                          <m:t>𝜏</m:t>
                        </m:r>
                      </m:e>
                      <m:sub>
                        <m:r>
                          <a:rPr lang="en-US" altLang="zh-CN" i="1" dirty="0">
                            <a:latin typeface="DejaVu Math TeX Gyre" panose="02000503000000000000" charset="0"/>
                            <a:cs typeface="DejaVu Math TeX Gyre" panose="02000503000000000000" charset="0"/>
                            <a:sym typeface="+mn-ea"/>
                          </a:rPr>
                          <m:t>𝑖</m:t>
                        </m:r>
                      </m:sub>
                    </m:sSub>
                    <m:r>
                      <a:rPr lang="en-US" altLang="zh-CN" i="1" dirty="0">
                        <a:latin typeface="DejaVu Math TeX Gyre" panose="02000503000000000000" charset="0"/>
                        <a:cs typeface="DejaVu Math TeX Gyre" panose="02000503000000000000" charset="0"/>
                        <a:sym typeface="+mn-ea"/>
                      </a:rPr>
                      <m:t>(</m:t>
                    </m:r>
                    <m:r>
                      <a:rPr lang="en-US" altLang="zh-CN" i="1" dirty="0">
                        <a:latin typeface="DejaVu Math TeX Gyre" panose="02000503000000000000" charset="0"/>
                        <a:cs typeface="DejaVu Math TeX Gyre" panose="02000503000000000000" charset="0"/>
                        <a:sym typeface="+mn-ea"/>
                      </a:rPr>
                      <m:t>𝑡</m:t>
                    </m:r>
                    <m:r>
                      <a:rPr lang="en-US" altLang="zh-CN" i="1" dirty="0">
                        <a:latin typeface="DejaVu Math TeX Gyre" panose="02000503000000000000" charset="0"/>
                        <a:cs typeface="DejaVu Math TeX Gyre" panose="02000503000000000000" charset="0"/>
                        <a:sym typeface="+mn-ea"/>
                      </a:rPr>
                      <m:t>)</m:t>
                    </m:r>
                  </m:oMath>
                </a14:m>
                <a:r>
                  <a:rPr lang="zh-CN" altLang="en-US" dirty="0">
                    <a:latin typeface="DejaVu Math TeX Gyre" panose="02000503000000000000" charset="0"/>
                    <a:cs typeface="DejaVu Math TeX Gyre" panose="02000503000000000000" charset="0"/>
                    <a:sym typeface="+mn-ea"/>
                  </a:rPr>
                  <a:t>，模拟动态反射路径相对于直达路径的时延。</a:t>
                </a:r>
                <a:endParaRPr lang="zh-CN" altLang="en-US" dirty="0">
                  <a:latin typeface="DejaVu Math TeX Gyre" panose="02000503000000000000" charset="0"/>
                  <a:cs typeface="DejaVu Math TeX Gyre" panose="02000503000000000000" charset="0"/>
                  <a:sym typeface="+mn-ea"/>
                </a:endParaRPr>
              </a:p>
              <a:p>
                <a:endParaRPr lang="zh-CN" altLang="en-US" dirty="0">
                  <a:sym typeface="+mn-ea"/>
                </a:endParaRPr>
              </a:p>
              <a:p>
                <a:endParaRPr lang="zh-CN" altLang="en-US" dirty="0">
                  <a:sym typeface="+mn-ea"/>
                </a:endParaRPr>
              </a:p>
              <a:p>
                <a:endParaRPr lang="zh-CN" altLang="en-US" dirty="0">
                  <a:sym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628650" y="3644900"/>
                <a:ext cx="6096000" cy="404495"/>
              </a:xfrm>
              <a:prstGeom prst="rect">
                <a:avLst/>
              </a:prstGeom>
              <a:blipFill rotWithShape="1">
                <a:blip r:embed="rId7"/>
                <a:stretch>
                  <a:fillRect b="-18257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628650" y="4050665"/>
                <a:ext cx="6096000" cy="922020"/>
              </a:xfrm>
              <a:prstGeom prst="rect">
                <a:avLst/>
              </a:prstGeom>
              <a:noFill/>
            </p:spPr>
            <p:txBody>
              <a:bodyPr wrap="square" rtlCol="0" anchor="t">
                <a:spAutoFit/>
              </a:bodyPr>
              <a:p>
                <a:r>
                  <a:rPr lang="zh-CN" altLang="en-US" dirty="0">
                    <a:sym typeface="+mn-ea"/>
                  </a:rPr>
                  <a:t>因为我们关注的是动态传播路径的长度变化规律，而不是长度本身，所以我们根据原信号的主要频率来计算</a:t>
                </a:r>
                <a:r>
                  <a:rPr lang="en-US" altLang="zh-CN" dirty="0">
                    <a:sym typeface="+mn-ea"/>
                  </a:rPr>
                  <a:t> </a:t>
                </a:r>
                <a14:m>
                  <m:oMath xmlns:m="http://schemas.openxmlformats.org/officeDocument/2006/math">
                    <m:sSub>
                      <m:sSubPr>
                        <m:ctrlPr>
                          <a:rPr lang="en-US" altLang="zh-CN" i="1" dirty="0">
                            <a:latin typeface="DejaVu Math TeX Gyre" panose="02000503000000000000" charset="0"/>
                            <a:cs typeface="DejaVu Math TeX Gyre" panose="02000503000000000000" charset="0"/>
                            <a:sym typeface="+mn-ea"/>
                          </a:rPr>
                        </m:ctrlPr>
                      </m:sSubPr>
                      <m:e>
                        <m:r>
                          <a:rPr lang="en-US" altLang="zh-CN" i="1" dirty="0">
                            <a:latin typeface="DejaVu Math TeX Gyre" panose="02000503000000000000" charset="0"/>
                            <a:cs typeface="DejaVu Math TeX Gyre" panose="02000503000000000000" charset="0"/>
                            <a:sym typeface="+mn-ea"/>
                          </a:rPr>
                          <m:t>𝜏</m:t>
                        </m:r>
                      </m:e>
                      <m:sub>
                        <m:r>
                          <a:rPr lang="en-US" altLang="zh-CN" i="1" dirty="0">
                            <a:latin typeface="DejaVu Math TeX Gyre" panose="02000503000000000000" charset="0"/>
                            <a:cs typeface="DejaVu Math TeX Gyre" panose="02000503000000000000" charset="0"/>
                            <a:sym typeface="+mn-ea"/>
                          </a:rPr>
                          <m:t>𝑖</m:t>
                        </m:r>
                      </m:sub>
                    </m:sSub>
                    <m:r>
                      <a:rPr lang="en-US" altLang="zh-CN" i="1" dirty="0">
                        <a:latin typeface="DejaVu Math TeX Gyre" panose="02000503000000000000" charset="0"/>
                        <a:cs typeface="DejaVu Math TeX Gyre" panose="02000503000000000000" charset="0"/>
                        <a:sym typeface="+mn-ea"/>
                      </a:rPr>
                      <m:t>(</m:t>
                    </m:r>
                    <m:r>
                      <a:rPr lang="en-US" altLang="zh-CN" i="1" dirty="0">
                        <a:latin typeface="DejaVu Math TeX Gyre" panose="02000503000000000000" charset="0"/>
                        <a:cs typeface="DejaVu Math TeX Gyre" panose="02000503000000000000" charset="0"/>
                        <a:sym typeface="+mn-ea"/>
                      </a:rPr>
                      <m:t>𝑡</m:t>
                    </m:r>
                    <m:r>
                      <a:rPr lang="en-US" altLang="zh-CN" i="1" dirty="0">
                        <a:latin typeface="DejaVu Math TeX Gyre" panose="02000503000000000000" charset="0"/>
                        <a:cs typeface="DejaVu Math TeX Gyre" panose="02000503000000000000" charset="0"/>
                        <a:sym typeface="+mn-ea"/>
                      </a:rPr>
                      <m:t>)</m:t>
                    </m:r>
                  </m:oMath>
                </a14:m>
                <a:r>
                  <a:rPr lang="en-US" altLang="zh-CN" dirty="0">
                    <a:sym typeface="+mn-ea"/>
                  </a:rPr>
                  <a:t> </a:t>
                </a:r>
                <a:r>
                  <a:rPr lang="zh-CN" altLang="en-US" dirty="0">
                    <a:sym typeface="+mn-ea"/>
                  </a:rPr>
                  <a:t>的前后差值。</a:t>
                </a:r>
                <a:endParaRPr lang="zh-CN" altLang="en-US" dirty="0">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628650" y="4050665"/>
                <a:ext cx="6096000" cy="922020"/>
              </a:xfrm>
              <a:prstGeom prst="rect">
                <a:avLst/>
              </a:prstGeom>
              <a:blipFill rotWithShape="1">
                <a:blip r:embed="rId8"/>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97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4" grpId="0"/>
      <p:bldP spid="4" grpId="1"/>
      <p:bldP spid="5" grpId="0"/>
      <p:bldP spid="2" grpId="0"/>
      <p:bldP spid="3" grpId="0"/>
      <p:bldP spid="5" grpId="1"/>
      <p:bldP spid="2" grpId="1"/>
      <p:bldP spid="3"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04" name=""/>
        <p:cNvGrpSpPr/>
        <p:nvPr/>
      </p:nvGrpSpPr>
      <p:grpSpPr>
        <a:xfrm>
          <a:off x="0" y="0"/>
          <a:ext cx="0" cy="0"/>
          <a:chOff x="0" y="0"/>
          <a:chExt cx="0" cy="0"/>
        </a:xfrm>
      </p:grpSpPr>
      <p:sp>
        <p:nvSpPr>
          <p:cNvPr id="1048841" name="文本占位符 1"/>
          <p:cNvSpPr>
            <a:spLocks noGrp="1"/>
          </p:cNvSpPr>
          <p:nvPr>
            <p:ph type="body" sz="quarter" idx="12"/>
          </p:nvPr>
        </p:nvSpPr>
        <p:spPr>
          <a:xfrm>
            <a:off x="218105" y="76294"/>
            <a:ext cx="410545" cy="401955"/>
          </a:xfrm>
        </p:spPr>
        <p:txBody>
          <a:bodyPr/>
          <a:p>
            <a:r>
              <a:rPr lang="en-US" altLang="zh-CN" dirty="0"/>
              <a:t>2</a:t>
            </a:r>
            <a:endParaRPr lang="zh-CN" altLang="en-US" dirty="0"/>
          </a:p>
        </p:txBody>
      </p:sp>
      <p:sp>
        <p:nvSpPr>
          <p:cNvPr id="1048842" name="文本占位符 2"/>
          <p:cNvSpPr>
            <a:spLocks noGrp="1"/>
          </p:cNvSpPr>
          <p:nvPr>
            <p:ph type="body" sz="quarter" idx="13"/>
          </p:nvPr>
        </p:nvSpPr>
        <p:spPr/>
        <p:txBody>
          <a:bodyPr/>
          <a:p>
            <a:r>
              <a:rPr lang="zh-CN" altLang="en-US" kern="0" dirty="0">
                <a:ea typeface="楷体" panose="02010609060101010101" pitchFamily="49" charset="-122"/>
                <a:sym typeface="DengXian" panose="02010600030101010101" pitchFamily="2" charset="-122"/>
              </a:rPr>
              <a:t>内</a:t>
            </a:r>
            <a:r>
              <a:rPr lang="zh-CN" altLang="en-US" kern="0" dirty="0" smtClean="0">
                <a:ea typeface="楷体" panose="02010609060101010101" pitchFamily="49" charset="-122"/>
                <a:sym typeface="DengXian" panose="02010600030101010101" pitchFamily="2" charset="-122"/>
              </a:rPr>
              <a:t>建信道加扰方案</a:t>
            </a:r>
            <a:endParaRPr lang="zh-CN" altLang="en-US" kern="0" dirty="0">
              <a:ea typeface="楷体" panose="02010609060101010101" pitchFamily="49" charset="-122"/>
              <a:sym typeface="DengXian" panose="02010600030101010101" pitchFamily="2" charset="-122"/>
            </a:endParaRPr>
          </a:p>
        </p:txBody>
      </p:sp>
      <p:sp>
        <p:nvSpPr>
          <p:cNvPr id="1048843" name="文本框 6"/>
          <p:cNvSpPr txBox="1"/>
          <p:nvPr/>
        </p:nvSpPr>
        <p:spPr>
          <a:xfrm>
            <a:off x="218105" y="585772"/>
            <a:ext cx="11064429" cy="726440"/>
          </a:xfrm>
          <a:prstGeom prst="rect">
            <a:avLst/>
          </a:prstGeom>
          <a:noFill/>
        </p:spPr>
        <p:txBody>
          <a:bodyPr wrap="square" rtlCol="0">
            <a:spAutoFit/>
          </a:bodyPr>
          <a:p>
            <a:pPr marL="0" lvl="1">
              <a:lnSpc>
                <a:spcPct val="150000"/>
              </a:lnSpc>
            </a:pPr>
            <a:r>
              <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合法感知</a:t>
            </a: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机制</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sp>
        <p:nvSpPr>
          <p:cNvPr id="1048845" name="文本框 8"/>
          <p:cNvSpPr txBox="1">
            <a:spLocks noRot="1" noChangeAspect="1" noMove="1" noResize="1" noEditPoints="1" noAdjustHandles="1" noChangeArrowheads="1" noChangeShapeType="1" noTextEdit="1"/>
          </p:cNvSpPr>
          <p:nvPr/>
        </p:nvSpPr>
        <p:spPr>
          <a:xfrm>
            <a:off x="217637" y="7172748"/>
            <a:ext cx="11294490" cy="646331"/>
          </a:xfrm>
          <a:prstGeom prst="rect">
            <a:avLst/>
          </a:prstGeom>
          <a:blipFill>
            <a:blip r:embed="rId1"/>
            <a:stretch>
              <a:fillRect l="-432" t="-5660" r="-162" b="-13208"/>
            </a:stretch>
          </a:blipFill>
        </p:spPr>
        <p:txBody>
          <a:bodyPr/>
          <a:p>
            <a:r>
              <a:rPr lang="zh-CN" altLang="en-US">
                <a:noFill/>
              </a:rPr>
              <a:t> </a:t>
            </a:r>
            <a:endParaRPr lang="zh-CN" altLang="en-US">
              <a:noFill/>
            </a:endParaRPr>
          </a:p>
        </p:txBody>
      </p:sp>
      <p:pic>
        <p:nvPicPr>
          <p:cNvPr id="2097187" name="图片 9"/>
          <p:cNvPicPr>
            <a:picLocks noChangeAspect="1"/>
          </p:cNvPicPr>
          <p:nvPr/>
        </p:nvPicPr>
        <p:blipFill>
          <a:blip r:embed="rId2"/>
          <a:stretch>
            <a:fillRect/>
          </a:stretch>
        </p:blipFill>
        <p:spPr>
          <a:xfrm>
            <a:off x="6606273" y="2370666"/>
            <a:ext cx="5585727" cy="3595133"/>
          </a:xfrm>
          <a:prstGeom prst="rect">
            <a:avLst/>
          </a:prstGeom>
        </p:spPr>
      </p:pic>
      <p:sp>
        <p:nvSpPr>
          <p:cNvPr id="1048846" name="文本框 10"/>
          <p:cNvSpPr txBox="1"/>
          <p:nvPr/>
        </p:nvSpPr>
        <p:spPr>
          <a:xfrm>
            <a:off x="366861" y="4403139"/>
            <a:ext cx="10212621" cy="1478280"/>
          </a:xfrm>
          <a:prstGeom prst="rect">
            <a:avLst/>
          </a:prstGeom>
          <a:noFill/>
        </p:spPr>
        <p:txBody>
          <a:bodyPr wrap="square" rtlCol="0">
            <a:spAutoFit/>
          </a:bodyPr>
          <a:p>
            <a:pPr marL="0" lvl="1"/>
            <a:r>
              <a:rPr lang="zh-CN" altLang="en-US" sz="2000" dirty="0" smtClean="0">
                <a:solidFill>
                  <a:srgbClr val="A81F98"/>
                </a:solidFill>
                <a:latin typeface="思源黑体 CN Bold" panose="020B0800000000000000" pitchFamily="34" charset="-122"/>
                <a:ea typeface="思源黑体 CN Bold" panose="020B0800000000000000"/>
              </a:rPr>
              <a:t>时间同步</a:t>
            </a:r>
            <a:endParaRPr lang="en-US" altLang="zh-CN" sz="2000" dirty="0" smtClean="0">
              <a:solidFill>
                <a:srgbClr val="A81F98"/>
              </a:solidFill>
              <a:latin typeface="思源黑体 CN Bold" panose="020B0800000000000000" pitchFamily="34" charset="-122"/>
              <a:ea typeface="思源黑体 CN Bold" panose="020B0800000000000000"/>
            </a:endParaRPr>
          </a:p>
          <a:p>
            <a:pPr marL="285750" lvl="1" indent="-285750">
              <a:lnSpc>
                <a:spcPct val="130000"/>
              </a:lnSpc>
              <a:buFont typeface="Arial" panose="020B0604020202090204" pitchFamily="34" charset="0"/>
              <a:buChar char="•"/>
            </a:pPr>
            <a:r>
              <a:rPr lang="en-US" altLang="zh-CN" dirty="0" smtClean="0">
                <a:latin typeface="Times New Roman" panose="02020503050405090304" pitchFamily="18" charset="0"/>
                <a:ea typeface="思源黑体 CN Bold" panose="020B0800000000000000"/>
                <a:cs typeface="Times New Roman" panose="02020503050405090304" pitchFamily="18" charset="0"/>
              </a:rPr>
              <a:t>TSF(</a:t>
            </a:r>
            <a:r>
              <a:rPr lang="zh-CN" altLang="en-US" dirty="0" smtClean="0">
                <a:latin typeface="Times New Roman" panose="02020503050405090304" pitchFamily="18" charset="0"/>
                <a:ea typeface="思源黑体 CN Bold" panose="020B0800000000000000"/>
                <a:cs typeface="Times New Roman" panose="02020503050405090304" pitchFamily="18" charset="0"/>
              </a:rPr>
              <a:t>时间同步功能</a:t>
            </a:r>
            <a:r>
              <a:rPr lang="en-US" altLang="zh-CN" dirty="0" smtClean="0">
                <a:latin typeface="Times New Roman" panose="02020503050405090304" pitchFamily="18" charset="0"/>
                <a:ea typeface="思源黑体 CN Bold" panose="020B0800000000000000"/>
                <a:cs typeface="Times New Roman" panose="02020503050405090304" pitchFamily="18" charset="0"/>
              </a:rPr>
              <a:t>)</a:t>
            </a:r>
            <a:r>
              <a:rPr lang="zh-CN" altLang="en-US" dirty="0" smtClean="0">
                <a:latin typeface="思源黑体 CN Bold" panose="020B0800000000000000" pitchFamily="34" charset="-122"/>
                <a:ea typeface="思源黑体 CN Bold" panose="020B0800000000000000"/>
              </a:rPr>
              <a:t>，是集成在</a:t>
            </a:r>
            <a:r>
              <a:rPr lang="en-US" altLang="zh-CN" dirty="0" smtClean="0">
                <a:latin typeface="思源黑体 CN Bold" panose="020B0800000000000000" pitchFamily="34" charset="-122"/>
                <a:ea typeface="思源黑体 CN Bold" panose="020B0800000000000000"/>
              </a:rPr>
              <a:t>Wi-Fi</a:t>
            </a:r>
            <a:r>
              <a:rPr lang="zh-CN" altLang="en-US" dirty="0" smtClean="0">
                <a:latin typeface="思源黑体 CN Bold" panose="020B0800000000000000" pitchFamily="34" charset="-122"/>
                <a:ea typeface="思源黑体 CN Bold" panose="020B0800000000000000"/>
              </a:rPr>
              <a:t>硬件内</a:t>
            </a:r>
            <a:r>
              <a:rPr lang="zh-CN" altLang="en-US" dirty="0">
                <a:latin typeface="思源黑体 CN Bold" panose="020B0800000000000000" pitchFamily="34" charset="-122"/>
                <a:ea typeface="思源黑体 CN Bold" panose="020B0800000000000000"/>
              </a:rPr>
              <a:t>的时钟，</a:t>
            </a:r>
            <a:endParaRPr lang="zh-CN" altLang="en-US" dirty="0">
              <a:latin typeface="思源黑体 CN Bold" panose="020B0800000000000000" pitchFamily="34" charset="-122"/>
              <a:ea typeface="思源黑体 CN Bold" panose="020B0800000000000000"/>
            </a:endParaRPr>
          </a:p>
          <a:p>
            <a:pPr marL="0" lvl="1" indent="0">
              <a:lnSpc>
                <a:spcPct val="130000"/>
              </a:lnSpc>
              <a:buFont typeface="Arial" panose="020B0604020202090204" pitchFamily="34" charset="0"/>
              <a:buNone/>
            </a:pPr>
            <a:r>
              <a:rPr lang="en-US" altLang="zh-CN" dirty="0">
                <a:latin typeface="思源黑体 CN Bold" panose="020B0800000000000000" pitchFamily="34" charset="-122"/>
                <a:ea typeface="思源黑体 CN Bold" panose="020B0800000000000000"/>
              </a:rPr>
              <a:t>     </a:t>
            </a:r>
            <a:r>
              <a:rPr lang="zh-CN" altLang="en-US" dirty="0">
                <a:latin typeface="思源黑体 CN Bold" panose="020B0800000000000000" pitchFamily="34" charset="-122"/>
                <a:ea typeface="思源黑体 CN Bold" panose="020B0800000000000000"/>
              </a:rPr>
              <a:t>能够</a:t>
            </a:r>
            <a:r>
              <a:rPr lang="zh-CN" altLang="en-US" dirty="0" smtClean="0">
                <a:latin typeface="思源黑体 CN Bold" panose="020B0800000000000000" pitchFamily="34" charset="-122"/>
                <a:ea typeface="思源黑体 CN Bold" panose="020B0800000000000000"/>
              </a:rPr>
              <a:t>提供</a:t>
            </a:r>
            <a:r>
              <a:rPr lang="zh-CN" altLang="en-US" dirty="0" smtClean="0">
                <a:solidFill>
                  <a:srgbClr val="FF0000"/>
                </a:solidFill>
                <a:latin typeface="思源黑体 CN Bold" panose="020B0800000000000000" pitchFamily="34" charset="-122"/>
                <a:ea typeface="思源黑体 CN Bold" panose="020B0800000000000000"/>
              </a:rPr>
              <a:t>微秒（</a:t>
            </a:r>
            <a:r>
              <a:rPr lang="en-US" altLang="zh-CN" dirty="0" smtClean="0">
                <a:solidFill>
                  <a:srgbClr val="FF0000"/>
                </a:solidFill>
                <a:latin typeface="思源黑体 CN Bold" panose="020B0800000000000000" pitchFamily="34" charset="-122"/>
                <a:ea typeface="思源黑体 CN Bold" panose="020B0800000000000000"/>
              </a:rPr>
              <a:t>10</a:t>
            </a:r>
            <a:r>
              <a:rPr lang="en-US" altLang="zh-CN" baseline="30000" dirty="0" smtClean="0">
                <a:solidFill>
                  <a:srgbClr val="FF0000"/>
                </a:solidFill>
                <a:latin typeface="思源黑体 CN Bold" panose="020B0800000000000000" pitchFamily="34" charset="-122"/>
                <a:ea typeface="思源黑体 CN Bold" panose="020B0800000000000000"/>
              </a:rPr>
              <a:t>-6</a:t>
            </a:r>
            <a:r>
              <a:rPr lang="zh-CN" altLang="en-US" dirty="0" smtClean="0">
                <a:solidFill>
                  <a:srgbClr val="FF0000"/>
                </a:solidFill>
                <a:latin typeface="思源黑体 CN Bold" panose="020B0800000000000000" pitchFamily="34" charset="-122"/>
                <a:ea typeface="思源黑体 CN Bold" panose="020B0800000000000000"/>
              </a:rPr>
              <a:t>秒</a:t>
            </a:r>
            <a:r>
              <a:rPr lang="zh-CN" altLang="en-US" dirty="0" smtClean="0">
                <a:solidFill>
                  <a:srgbClr val="FF0000"/>
                </a:solidFill>
                <a:latin typeface="思源黑体 CN Bold" panose="020B0800000000000000" pitchFamily="34" charset="-122"/>
                <a:ea typeface="思源黑体 CN Bold" panose="020B0800000000000000"/>
              </a:rPr>
              <a:t>）</a:t>
            </a:r>
            <a:r>
              <a:rPr lang="zh-CN" altLang="en-US" dirty="0" smtClean="0">
                <a:latin typeface="思源黑体 CN Bold" panose="020B0800000000000000" pitchFamily="34" charset="-122"/>
                <a:ea typeface="思源黑体 CN Bold" panose="020B0800000000000000"/>
              </a:rPr>
              <a:t>级</a:t>
            </a:r>
            <a:r>
              <a:rPr lang="zh-CN" altLang="en-US" dirty="0">
                <a:latin typeface="思源黑体 CN Bold" panose="020B0800000000000000" pitchFamily="34" charset="-122"/>
                <a:ea typeface="思源黑体 CN Bold" panose="020B0800000000000000"/>
              </a:rPr>
              <a:t>精度的时钟</a:t>
            </a:r>
            <a:r>
              <a:rPr lang="zh-CN" altLang="en-US" dirty="0" smtClean="0">
                <a:latin typeface="思源黑体 CN Bold" panose="020B0800000000000000" pitchFamily="34" charset="-122"/>
                <a:ea typeface="思源黑体 CN Bold" panose="020B0800000000000000"/>
              </a:rPr>
              <a:t>同步</a:t>
            </a:r>
            <a:endParaRPr lang="en-US" altLang="zh-CN" dirty="0">
              <a:latin typeface="思源黑体 CN Bold" panose="020B0800000000000000" pitchFamily="34" charset="-122"/>
              <a:ea typeface="思源黑体 CN Bold" panose="020B0800000000000000"/>
            </a:endParaRPr>
          </a:p>
          <a:p>
            <a:pPr marL="285750" lvl="1" indent="-285750">
              <a:lnSpc>
                <a:spcPct val="130000"/>
              </a:lnSpc>
              <a:buFont typeface="Arial" panose="020B0604020202090204" pitchFamily="34" charset="0"/>
              <a:buChar char="•"/>
            </a:pPr>
            <a:r>
              <a:rPr lang="zh-CN" altLang="en-US" dirty="0" smtClean="0">
                <a:latin typeface="思源黑体 CN Bold" panose="020B0800000000000000" pitchFamily="34" charset="-122"/>
                <a:ea typeface="思源黑体 CN Bold" panose="020B0800000000000000"/>
              </a:rPr>
              <a:t>将时间戳附在数据包的载荷中</a:t>
            </a:r>
            <a:endParaRPr lang="en-US" altLang="zh-CN" dirty="0">
              <a:latin typeface="思源黑体 CN Bold" panose="020B0800000000000000" pitchFamily="34" charset="-122"/>
              <a:ea typeface="思源黑体 CN Bold" panose="020B0800000000000000"/>
            </a:endParaRPr>
          </a:p>
        </p:txBody>
      </p:sp>
      <p:sp>
        <p:nvSpPr>
          <p:cNvPr id="1048847" name="文本占位符 3"/>
          <p:cNvSpPr txBox="1"/>
          <p:nvPr/>
        </p:nvSpPr>
        <p:spPr>
          <a:xfrm>
            <a:off x="5750560" y="6453505"/>
            <a:ext cx="1045845" cy="40449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13/23</a:t>
            </a:r>
            <a:endParaRPr lang="en-US" altLang="zh-CN" sz="2000" dirty="0"/>
          </a:p>
        </p:txBody>
      </p:sp>
      <p:sp>
        <p:nvSpPr>
          <p:cNvPr id="1048848" name="矩形 4"/>
          <p:cNvSpPr>
            <a:spLocks noRot="1" noChangeAspect="1" noMove="1" noResize="1" noEditPoints="1" noAdjustHandles="1" noChangeArrowheads="1" noChangeShapeType="1" noTextEdit="1"/>
          </p:cNvSpPr>
          <p:nvPr/>
        </p:nvSpPr>
        <p:spPr>
          <a:xfrm>
            <a:off x="2061449" y="3338814"/>
            <a:ext cx="2891304" cy="680699"/>
          </a:xfrm>
          <a:prstGeom prst="rect">
            <a:avLst/>
          </a:prstGeom>
          <a:blipFill>
            <a:blip r:embed="rId3"/>
            <a:stretch>
              <a:fillRect b="-2703"/>
            </a:stretch>
          </a:blipFill>
        </p:spPr>
        <p:txBody>
          <a:bodyPr/>
          <a:p>
            <a:r>
              <a:rPr lang="zh-CN" altLang="en-US">
                <a:noFill/>
              </a:rPr>
              <a:t> </a:t>
            </a:r>
            <a:endParaRPr lang="zh-CN" altLang="en-US">
              <a:noFill/>
            </a:endParaRPr>
          </a:p>
        </p:txBody>
      </p:sp>
      <p:grpSp>
        <p:nvGrpSpPr>
          <p:cNvPr id="105" name="组合 12"/>
          <p:cNvGrpSpPr/>
          <p:nvPr/>
        </p:nvGrpSpPr>
        <p:grpSpPr>
          <a:xfrm>
            <a:off x="4323644" y="65006"/>
            <a:ext cx="6383020" cy="716915"/>
            <a:chOff x="3330222" y="76294"/>
            <a:chExt cx="6383020" cy="716915"/>
          </a:xfrm>
        </p:grpSpPr>
        <p:sp>
          <p:nvSpPr>
            <p:cNvPr id="1048849" name="文本框 13"/>
            <p:cNvSpPr txBox="1"/>
            <p:nvPr/>
          </p:nvSpPr>
          <p:spPr>
            <a:xfrm>
              <a:off x="3330222" y="76294"/>
              <a:ext cx="1637665"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8850" name="文本框 14"/>
            <p:cNvSpPr txBox="1"/>
            <p:nvPr/>
          </p:nvSpPr>
          <p:spPr>
            <a:xfrm>
              <a:off x="4968484" y="76294"/>
              <a:ext cx="1354667" cy="396240"/>
            </a:xfrm>
            <a:prstGeom prst="rect">
              <a:avLst/>
            </a:prstGeom>
            <a:noFill/>
          </p:spPr>
          <p:txBody>
            <a:bodyPr wrap="square" rtlCol="0">
              <a:spAutoFit/>
            </a:bodyPr>
            <a:p>
              <a:r>
                <a:rPr lang="en-US" altLang="zh-CN" dirty="0" smtClean="0">
                  <a:solidFill>
                    <a:schemeClr val="bg1"/>
                  </a:solidFill>
                  <a:ea typeface="思源黑体 CN Bold" panose="020B0800000000000000"/>
                </a:rPr>
                <a:t>2.</a:t>
              </a:r>
              <a:r>
                <a:rPr lang="zh-CN" altLang="en-US" dirty="0" smtClean="0">
                  <a:solidFill>
                    <a:schemeClr val="bg1"/>
                  </a:solidFill>
                  <a:ea typeface="思源黑体 CN Bold" panose="020B0800000000000000"/>
                </a:rPr>
                <a:t>信道加扰</a:t>
              </a:r>
              <a:endParaRPr lang="zh-CN" altLang="en-US" dirty="0">
                <a:solidFill>
                  <a:schemeClr val="bg1"/>
                </a:solidFill>
                <a:ea typeface="思源黑体 CN Bold" panose="020B0800000000000000"/>
              </a:endParaRPr>
            </a:p>
          </p:txBody>
        </p:sp>
        <p:sp>
          <p:nvSpPr>
            <p:cNvPr id="1048851" name="文本框 15"/>
            <p:cNvSpPr txBox="1"/>
            <p:nvPr/>
          </p:nvSpPr>
          <p:spPr>
            <a:xfrm>
              <a:off x="6349012" y="76294"/>
              <a:ext cx="1638300" cy="716915"/>
            </a:xfrm>
            <a:prstGeom prst="rect">
              <a:avLst/>
            </a:prstGeom>
            <a:noFill/>
          </p:spPr>
          <p:txBody>
            <a:bodyPr wrap="square" rtlCol="0">
              <a:no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8852" name="文本框 16"/>
            <p:cNvSpPr txBox="1"/>
            <p:nvPr/>
          </p:nvSpPr>
          <p:spPr>
            <a:xfrm>
              <a:off x="8024142" y="92804"/>
              <a:ext cx="1689100" cy="680720"/>
            </a:xfrm>
            <a:prstGeom prst="rect">
              <a:avLst/>
            </a:prstGeom>
            <a:noFill/>
          </p:spPr>
          <p:txBody>
            <a:bodyPr wrap="square" rtlCol="0">
              <a:noAutofit/>
            </a:bodyPr>
            <a:p>
              <a:r>
                <a:rPr lang="en-US" altLang="zh-CN" dirty="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p:sp>
        <p:nvSpPr>
          <p:cNvPr id="3" name="文本框 2"/>
          <p:cNvSpPr txBox="1"/>
          <p:nvPr/>
        </p:nvSpPr>
        <p:spPr>
          <a:xfrm>
            <a:off x="530225" y="1388745"/>
            <a:ext cx="10322560" cy="1039495"/>
          </a:xfrm>
          <a:prstGeom prst="rect">
            <a:avLst/>
          </a:prstGeom>
          <a:noFill/>
        </p:spPr>
        <p:txBody>
          <a:bodyPr wrap="square" rtlCol="0">
            <a:noAutofit/>
          </a:bodyPr>
          <a:p>
            <a:r>
              <a:rPr lang="en-US" altLang="zh-CN"/>
              <a:t>CSS</a:t>
            </a:r>
            <a:r>
              <a:rPr lang="zh-CN" altLang="en-US"/>
              <a:t>在发射器上产生加扰向量的伪随机过程在给定的密钥</a:t>
            </a:r>
            <a:r>
              <a:rPr lang="en-US" altLang="zh-CN"/>
              <a:t>K</a:t>
            </a:r>
            <a:r>
              <a:rPr lang="zh-CN" altLang="en-US"/>
              <a:t>下是确定的，所以拥有相同密钥的合法接受器可以产生完全相同的加扰向量序列。</a:t>
            </a:r>
            <a:endParaRPr lang="zh-CN" altLang="en-US"/>
          </a:p>
        </p:txBody>
      </p:sp>
      <p:sp>
        <p:nvSpPr>
          <p:cNvPr id="2" name="文本框 1"/>
          <p:cNvSpPr txBox="1"/>
          <p:nvPr/>
        </p:nvSpPr>
        <p:spPr>
          <a:xfrm>
            <a:off x="569595" y="2230120"/>
            <a:ext cx="5810250" cy="1198880"/>
          </a:xfrm>
          <a:prstGeom prst="rect">
            <a:avLst/>
          </a:prstGeom>
          <a:noFill/>
        </p:spPr>
        <p:txBody>
          <a:bodyPr wrap="square" rtlCol="0">
            <a:spAutoFit/>
          </a:bodyPr>
          <a:p>
            <a:r>
              <a:rPr lang="zh-CN" altLang="en-US">
                <a:sym typeface="+mn-ea"/>
              </a:rPr>
              <a:t>接收器根据数据帧的接收时间找到对应的加扰向量，</a:t>
            </a:r>
            <a:endParaRPr lang="zh-CN" altLang="en-US"/>
          </a:p>
          <a:p>
            <a:r>
              <a:rPr lang="zh-CN" altLang="en-US">
                <a:sym typeface="+mn-ea"/>
              </a:rPr>
              <a:t>用测量得到的信道状态除以加扰向量得到真实的信道状态，用于感知任务。</a:t>
            </a:r>
            <a:endParaRPr lang="zh-CN" altLang="en-US"/>
          </a:p>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488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488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46" grpId="0"/>
      <p:bldP spid="1048846" grpId="1"/>
      <p:bldP spid="2" grpId="0"/>
      <p:bldP spid="1048848" grpId="0" animBg="1"/>
      <p:bldP spid="2" grpId="1"/>
      <p:bldP spid="1048848"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855" name="文本占位符 1"/>
          <p:cNvSpPr>
            <a:spLocks noGrp="1"/>
          </p:cNvSpPr>
          <p:nvPr>
            <p:ph type="body" sz="quarter" idx="12"/>
          </p:nvPr>
        </p:nvSpPr>
        <p:spPr>
          <a:xfrm>
            <a:off x="218105" y="76294"/>
            <a:ext cx="410545" cy="401955"/>
          </a:xfrm>
        </p:spPr>
        <p:txBody>
          <a:bodyPr/>
          <a:p>
            <a:r>
              <a:rPr lang="en-US" altLang="zh-CN" dirty="0"/>
              <a:t>2</a:t>
            </a:r>
            <a:endParaRPr lang="zh-CN" altLang="en-US" dirty="0"/>
          </a:p>
        </p:txBody>
      </p:sp>
      <p:sp>
        <p:nvSpPr>
          <p:cNvPr id="1048856" name="文本占位符 2"/>
          <p:cNvSpPr>
            <a:spLocks noGrp="1"/>
          </p:cNvSpPr>
          <p:nvPr>
            <p:ph type="body" sz="quarter" idx="13"/>
          </p:nvPr>
        </p:nvSpPr>
        <p:spPr/>
        <p:txBody>
          <a:bodyPr/>
          <a:p>
            <a:r>
              <a:rPr lang="zh-CN" altLang="en-US" kern="0" dirty="0">
                <a:ea typeface="楷体" panose="02010609060101010101" pitchFamily="49" charset="-122"/>
                <a:sym typeface="DengXian" panose="02010600030101010101" pitchFamily="2" charset="-122"/>
              </a:rPr>
              <a:t>内</a:t>
            </a:r>
            <a:r>
              <a:rPr lang="zh-CN" altLang="en-US" kern="0" dirty="0" smtClean="0">
                <a:ea typeface="楷体" panose="02010609060101010101" pitchFamily="49" charset="-122"/>
                <a:sym typeface="DengXian" panose="02010600030101010101" pitchFamily="2" charset="-122"/>
              </a:rPr>
              <a:t>建信道加扰方案</a:t>
            </a:r>
            <a:endParaRPr lang="zh-CN" altLang="en-US" kern="0" dirty="0">
              <a:ea typeface="楷体" panose="02010609060101010101" pitchFamily="49" charset="-122"/>
              <a:sym typeface="DengXian" panose="02010600030101010101" pitchFamily="2" charset="-122"/>
            </a:endParaRPr>
          </a:p>
        </p:txBody>
      </p:sp>
      <p:sp>
        <p:nvSpPr>
          <p:cNvPr id="1048857" name="文本框 6"/>
          <p:cNvSpPr txBox="1"/>
          <p:nvPr/>
        </p:nvSpPr>
        <p:spPr>
          <a:xfrm>
            <a:off x="218105" y="574483"/>
            <a:ext cx="11064429" cy="726439"/>
          </a:xfrm>
          <a:prstGeom prst="rect">
            <a:avLst/>
          </a:prstGeom>
          <a:noFill/>
        </p:spPr>
        <p:txBody>
          <a:bodyPr wrap="square" rtlCol="0">
            <a:spAutoFit/>
          </a:bodyPr>
          <a:p>
            <a:pPr marL="0" lvl="1">
              <a:lnSpc>
                <a:spcPct val="150000"/>
              </a:lnSpc>
            </a:pP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加</a:t>
            </a: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扰</a:t>
            </a:r>
            <a:r>
              <a:rPr lang="en-US" altLang="zh-CN"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a:t>
            </a: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解扰效果</a:t>
            </a: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展示</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sp>
        <p:nvSpPr>
          <p:cNvPr id="1048858" name="文本占位符 3"/>
          <p:cNvSpPr txBox="1"/>
          <p:nvPr/>
        </p:nvSpPr>
        <p:spPr>
          <a:xfrm>
            <a:off x="5750560" y="6453505"/>
            <a:ext cx="1096645" cy="43180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14/23</a:t>
            </a:r>
            <a:endParaRPr lang="en-US" altLang="zh-CN" sz="2000" dirty="0"/>
          </a:p>
        </p:txBody>
      </p:sp>
      <p:pic>
        <p:nvPicPr>
          <p:cNvPr id="2097188" name="图片 4"/>
          <p:cNvPicPr>
            <a:picLocks noChangeAspect="1"/>
          </p:cNvPicPr>
          <p:nvPr/>
        </p:nvPicPr>
        <p:blipFill>
          <a:blip r:embed="rId1" cstate="print"/>
          <a:stretch>
            <a:fillRect/>
          </a:stretch>
        </p:blipFill>
        <p:spPr>
          <a:xfrm>
            <a:off x="1903195" y="1291786"/>
            <a:ext cx="3921519" cy="2595057"/>
          </a:xfrm>
          <a:prstGeom prst="rect">
            <a:avLst/>
          </a:prstGeom>
        </p:spPr>
      </p:pic>
      <p:pic>
        <p:nvPicPr>
          <p:cNvPr id="2097189" name="图片 19"/>
          <p:cNvPicPr>
            <a:picLocks noChangeAspect="1"/>
          </p:cNvPicPr>
          <p:nvPr/>
        </p:nvPicPr>
        <p:blipFill>
          <a:blip r:embed="rId2"/>
          <a:stretch>
            <a:fillRect/>
          </a:stretch>
        </p:blipFill>
        <p:spPr>
          <a:xfrm>
            <a:off x="6131840" y="1367220"/>
            <a:ext cx="3937643" cy="2519623"/>
          </a:xfrm>
          <a:prstGeom prst="rect">
            <a:avLst/>
          </a:prstGeom>
        </p:spPr>
      </p:pic>
      <p:pic>
        <p:nvPicPr>
          <p:cNvPr id="2097190" name="图片 20"/>
          <p:cNvPicPr>
            <a:picLocks noChangeAspect="1"/>
          </p:cNvPicPr>
          <p:nvPr/>
        </p:nvPicPr>
        <p:blipFill>
          <a:blip r:embed="rId3" cstate="print"/>
          <a:stretch>
            <a:fillRect/>
          </a:stretch>
        </p:blipFill>
        <p:spPr>
          <a:xfrm>
            <a:off x="1979302" y="4086388"/>
            <a:ext cx="3769303" cy="2367178"/>
          </a:xfrm>
          <a:prstGeom prst="rect">
            <a:avLst/>
          </a:prstGeom>
        </p:spPr>
      </p:pic>
      <p:sp>
        <p:nvSpPr>
          <p:cNvPr id="1048859" name="文本框 21"/>
          <p:cNvSpPr txBox="1"/>
          <p:nvPr/>
        </p:nvSpPr>
        <p:spPr>
          <a:xfrm>
            <a:off x="305268" y="1984700"/>
            <a:ext cx="1097280" cy="396239"/>
          </a:xfrm>
          <a:prstGeom prst="rect">
            <a:avLst/>
          </a:prstGeom>
          <a:noFill/>
        </p:spPr>
        <p:txBody>
          <a:bodyPr wrap="none" rtlCol="0">
            <a:spAutoFit/>
          </a:bodyPr>
          <a:p>
            <a:r>
              <a:rPr lang="zh-CN" altLang="en-US" dirty="0" smtClean="0"/>
              <a:t>环境静止</a:t>
            </a:r>
            <a:endParaRPr lang="zh-CN" altLang="en-US" dirty="0"/>
          </a:p>
        </p:txBody>
      </p:sp>
      <p:sp>
        <p:nvSpPr>
          <p:cNvPr id="1048860" name="文本框 23"/>
          <p:cNvSpPr txBox="1"/>
          <p:nvPr/>
        </p:nvSpPr>
        <p:spPr>
          <a:xfrm>
            <a:off x="211455" y="4627646"/>
            <a:ext cx="1554480" cy="922020"/>
          </a:xfrm>
          <a:prstGeom prst="rect">
            <a:avLst/>
          </a:prstGeom>
          <a:noFill/>
        </p:spPr>
        <p:txBody>
          <a:bodyPr wrap="none" rtlCol="0">
            <a:spAutoFit/>
          </a:bodyPr>
          <a:p>
            <a:pPr algn="ctr"/>
            <a:r>
              <a:rPr lang="zh-CN" altLang="en-US" dirty="0" smtClean="0"/>
              <a:t>用走路信号</a:t>
            </a:r>
            <a:r>
              <a:rPr lang="zh-CN" altLang="en-US" dirty="0" smtClean="0"/>
              <a:t>对</a:t>
            </a:r>
            <a:endParaRPr lang="zh-CN" altLang="en-US" dirty="0" smtClean="0"/>
          </a:p>
          <a:p>
            <a:pPr algn="ctr"/>
            <a:r>
              <a:rPr lang="zh-CN" altLang="en-US" dirty="0" smtClean="0"/>
              <a:t>坐下起立活动</a:t>
            </a:r>
            <a:endParaRPr lang="zh-CN" altLang="en-US" dirty="0" smtClean="0"/>
          </a:p>
          <a:p>
            <a:pPr algn="ctr"/>
            <a:r>
              <a:rPr lang="zh-CN" altLang="en-US" dirty="0"/>
              <a:t>加扰</a:t>
            </a:r>
            <a:endParaRPr lang="zh-CN" altLang="en-US" dirty="0"/>
          </a:p>
        </p:txBody>
      </p:sp>
      <p:sp>
        <p:nvSpPr>
          <p:cNvPr id="1048861" name="文本框 24"/>
          <p:cNvSpPr txBox="1"/>
          <p:nvPr/>
        </p:nvSpPr>
        <p:spPr>
          <a:xfrm>
            <a:off x="10293068" y="1984700"/>
            <a:ext cx="1097280" cy="396239"/>
          </a:xfrm>
          <a:prstGeom prst="rect">
            <a:avLst/>
          </a:prstGeom>
          <a:noFill/>
        </p:spPr>
        <p:txBody>
          <a:bodyPr wrap="none" rtlCol="0">
            <a:spAutoFit/>
          </a:bodyPr>
          <a:p>
            <a:r>
              <a:rPr lang="zh-CN" altLang="en-US" dirty="0" smtClean="0"/>
              <a:t>坐下起立</a:t>
            </a:r>
            <a:endParaRPr lang="zh-CN" altLang="en-US" dirty="0"/>
          </a:p>
        </p:txBody>
      </p:sp>
      <p:grpSp>
        <p:nvGrpSpPr>
          <p:cNvPr id="109" name="组合 13"/>
          <p:cNvGrpSpPr/>
          <p:nvPr/>
        </p:nvGrpSpPr>
        <p:grpSpPr>
          <a:xfrm>
            <a:off x="4323644" y="65006"/>
            <a:ext cx="6369050" cy="716915"/>
            <a:chOff x="3330222" y="76294"/>
            <a:chExt cx="6369050" cy="716915"/>
          </a:xfrm>
        </p:grpSpPr>
        <p:sp>
          <p:nvSpPr>
            <p:cNvPr id="1048862" name="文本框 14"/>
            <p:cNvSpPr txBox="1"/>
            <p:nvPr/>
          </p:nvSpPr>
          <p:spPr>
            <a:xfrm>
              <a:off x="3330222" y="76294"/>
              <a:ext cx="1637665"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8863" name="文本框 15"/>
            <p:cNvSpPr txBox="1"/>
            <p:nvPr/>
          </p:nvSpPr>
          <p:spPr>
            <a:xfrm>
              <a:off x="4968484" y="76294"/>
              <a:ext cx="1354667" cy="396240"/>
            </a:xfrm>
            <a:prstGeom prst="rect">
              <a:avLst/>
            </a:prstGeom>
            <a:noFill/>
          </p:spPr>
          <p:txBody>
            <a:bodyPr wrap="square" rtlCol="0">
              <a:spAutoFit/>
            </a:bodyPr>
            <a:p>
              <a:r>
                <a:rPr lang="en-US" altLang="zh-CN" dirty="0" smtClean="0">
                  <a:solidFill>
                    <a:schemeClr val="bg1"/>
                  </a:solidFill>
                  <a:ea typeface="思源黑体 CN Bold" panose="020B0800000000000000"/>
                </a:rPr>
                <a:t>2.</a:t>
              </a:r>
              <a:r>
                <a:rPr lang="zh-CN" altLang="en-US" dirty="0" smtClean="0">
                  <a:solidFill>
                    <a:schemeClr val="bg1"/>
                  </a:solidFill>
                  <a:ea typeface="思源黑体 CN Bold" panose="020B0800000000000000"/>
                </a:rPr>
                <a:t>信道加扰</a:t>
              </a:r>
              <a:endParaRPr lang="zh-CN" altLang="en-US" dirty="0">
                <a:solidFill>
                  <a:schemeClr val="bg1"/>
                </a:solidFill>
                <a:ea typeface="思源黑体 CN Bold" panose="020B0800000000000000"/>
              </a:endParaRPr>
            </a:p>
          </p:txBody>
        </p:sp>
        <p:sp>
          <p:nvSpPr>
            <p:cNvPr id="1048864" name="文本框 16"/>
            <p:cNvSpPr txBox="1"/>
            <p:nvPr/>
          </p:nvSpPr>
          <p:spPr>
            <a:xfrm>
              <a:off x="6349012" y="76294"/>
              <a:ext cx="1638300" cy="716915"/>
            </a:xfrm>
            <a:prstGeom prst="rect">
              <a:avLst/>
            </a:prstGeom>
            <a:noFill/>
          </p:spPr>
          <p:txBody>
            <a:bodyPr wrap="square" rtlCol="0">
              <a:no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8865" name="文本框 17"/>
            <p:cNvSpPr txBox="1"/>
            <p:nvPr/>
          </p:nvSpPr>
          <p:spPr>
            <a:xfrm>
              <a:off x="8024142" y="92804"/>
              <a:ext cx="1675130" cy="368300"/>
            </a:xfrm>
            <a:prstGeom prst="rect">
              <a:avLst/>
            </a:prstGeom>
            <a:noFill/>
          </p:spPr>
          <p:txBody>
            <a:bodyPr wrap="square" rtlCol="0">
              <a:spAutoFit/>
            </a:bodyPr>
            <a:p>
              <a:r>
                <a:rPr lang="en-US" altLang="zh-CN" dirty="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p:pic>
        <p:nvPicPr>
          <p:cNvPr id="2097191" name="图片 25"/>
          <p:cNvPicPr>
            <a:picLocks noChangeAspect="1"/>
          </p:cNvPicPr>
          <p:nvPr/>
        </p:nvPicPr>
        <p:blipFill>
          <a:blip r:embed="rId4"/>
          <a:stretch>
            <a:fillRect/>
          </a:stretch>
        </p:blipFill>
        <p:spPr>
          <a:xfrm>
            <a:off x="5961906" y="3886843"/>
            <a:ext cx="4107577" cy="2566723"/>
          </a:xfrm>
          <a:prstGeom prst="rect">
            <a:avLst/>
          </a:prstGeom>
        </p:spPr>
      </p:pic>
      <p:sp>
        <p:nvSpPr>
          <p:cNvPr id="1048866" name="文本框 26"/>
          <p:cNvSpPr txBox="1"/>
          <p:nvPr/>
        </p:nvSpPr>
        <p:spPr>
          <a:xfrm>
            <a:off x="10293068" y="4800872"/>
            <a:ext cx="1097280" cy="396239"/>
          </a:xfrm>
          <a:prstGeom prst="rect">
            <a:avLst/>
          </a:prstGeom>
          <a:noFill/>
        </p:spPr>
        <p:txBody>
          <a:bodyPr wrap="none" rtlCol="0">
            <a:spAutoFit/>
          </a:bodyPr>
          <a:p>
            <a:r>
              <a:rPr lang="zh-CN" altLang="en-US" dirty="0"/>
              <a:t>解</a:t>
            </a:r>
            <a:r>
              <a:rPr lang="zh-CN" altLang="en-US" dirty="0" smtClean="0"/>
              <a:t>扰效果</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9718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4885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9718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488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9719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4886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9719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488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59" grpId="0"/>
      <p:bldP spid="1048859" grpId="1"/>
      <p:bldP spid="1048861" grpId="0"/>
      <p:bldP spid="1048861" grpId="1"/>
      <p:bldP spid="1048860" grpId="0"/>
      <p:bldP spid="1048860" grpId="1"/>
      <p:bldP spid="1048866" grpId="0"/>
      <p:bldP spid="1048866"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12" name=""/>
        <p:cNvGrpSpPr/>
        <p:nvPr/>
      </p:nvGrpSpPr>
      <p:grpSpPr>
        <a:xfrm>
          <a:off x="0" y="0"/>
          <a:ext cx="0" cy="0"/>
          <a:chOff x="0" y="0"/>
          <a:chExt cx="0" cy="0"/>
        </a:xfrm>
      </p:grpSpPr>
      <p:sp>
        <p:nvSpPr>
          <p:cNvPr id="1048870" name="文本占位符 1"/>
          <p:cNvSpPr>
            <a:spLocks noGrp="1"/>
          </p:cNvSpPr>
          <p:nvPr>
            <p:ph type="body" sz="quarter" idx="12"/>
          </p:nvPr>
        </p:nvSpPr>
        <p:spPr>
          <a:xfrm>
            <a:off x="218105" y="76294"/>
            <a:ext cx="410545" cy="401955"/>
          </a:xfrm>
        </p:spPr>
        <p:txBody>
          <a:bodyPr/>
          <a:p>
            <a:r>
              <a:rPr lang="en-US" altLang="zh-CN" dirty="0"/>
              <a:t>2</a:t>
            </a:r>
            <a:endParaRPr lang="zh-CN" altLang="en-US" dirty="0"/>
          </a:p>
        </p:txBody>
      </p:sp>
      <p:sp>
        <p:nvSpPr>
          <p:cNvPr id="1048871" name="文本占位符 2"/>
          <p:cNvSpPr>
            <a:spLocks noGrp="1"/>
          </p:cNvSpPr>
          <p:nvPr>
            <p:ph type="body" sz="quarter" idx="13"/>
          </p:nvPr>
        </p:nvSpPr>
        <p:spPr/>
        <p:txBody>
          <a:bodyPr/>
          <a:p>
            <a:r>
              <a:rPr lang="zh-CN" altLang="en-US" kern="0" dirty="0">
                <a:ea typeface="楷体" panose="02010609060101010101" pitchFamily="49" charset="-122"/>
                <a:sym typeface="DengXian" panose="02010600030101010101" pitchFamily="2" charset="-122"/>
              </a:rPr>
              <a:t>内</a:t>
            </a:r>
            <a:r>
              <a:rPr lang="zh-CN" altLang="en-US" kern="0" dirty="0" smtClean="0">
                <a:ea typeface="楷体" panose="02010609060101010101" pitchFamily="49" charset="-122"/>
                <a:sym typeface="DengXian" panose="02010600030101010101" pitchFamily="2" charset="-122"/>
              </a:rPr>
              <a:t>建信道加扰方案</a:t>
            </a:r>
            <a:endParaRPr lang="zh-CN" altLang="en-US" kern="0" dirty="0">
              <a:ea typeface="楷体" panose="02010609060101010101" pitchFamily="49" charset="-122"/>
              <a:sym typeface="DengXian" panose="02010600030101010101" pitchFamily="2" charset="-122"/>
            </a:endParaRPr>
          </a:p>
        </p:txBody>
      </p:sp>
      <p:sp>
        <p:nvSpPr>
          <p:cNvPr id="1048872" name="文本框 6"/>
          <p:cNvSpPr txBox="1"/>
          <p:nvPr/>
        </p:nvSpPr>
        <p:spPr>
          <a:xfrm>
            <a:off x="217920" y="465475"/>
            <a:ext cx="11064429" cy="726439"/>
          </a:xfrm>
          <a:prstGeom prst="rect">
            <a:avLst/>
          </a:prstGeom>
          <a:noFill/>
        </p:spPr>
        <p:txBody>
          <a:bodyPr wrap="square" rtlCol="0">
            <a:spAutoFit/>
          </a:bodyPr>
          <a:p>
            <a:pPr marL="0" lvl="1">
              <a:lnSpc>
                <a:spcPct val="150000"/>
              </a:lnSpc>
            </a:pPr>
            <a:r>
              <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系统实现</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pic>
        <p:nvPicPr>
          <p:cNvPr id="2097192" name="图片 3"/>
          <p:cNvPicPr>
            <a:picLocks noChangeAspect="1"/>
          </p:cNvPicPr>
          <p:nvPr/>
        </p:nvPicPr>
        <p:blipFill>
          <a:blip r:embed="rId1"/>
          <a:stretch>
            <a:fillRect/>
          </a:stretch>
        </p:blipFill>
        <p:spPr>
          <a:xfrm>
            <a:off x="559435" y="1069975"/>
            <a:ext cx="9509125" cy="3733800"/>
          </a:xfrm>
          <a:prstGeom prst="rect">
            <a:avLst/>
          </a:prstGeom>
        </p:spPr>
      </p:pic>
      <p:sp>
        <p:nvSpPr>
          <p:cNvPr id="1048873" name="文本占位符 3"/>
          <p:cNvSpPr txBox="1"/>
          <p:nvPr/>
        </p:nvSpPr>
        <p:spPr>
          <a:xfrm>
            <a:off x="5648960" y="6453505"/>
            <a:ext cx="1130935" cy="40449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15/23</a:t>
            </a:r>
            <a:endParaRPr lang="en-US" altLang="zh-CN" sz="2000" dirty="0"/>
          </a:p>
        </p:txBody>
      </p:sp>
      <p:grpSp>
        <p:nvGrpSpPr>
          <p:cNvPr id="113" name="组合 7"/>
          <p:cNvGrpSpPr/>
          <p:nvPr/>
        </p:nvGrpSpPr>
        <p:grpSpPr>
          <a:xfrm>
            <a:off x="4323644" y="65006"/>
            <a:ext cx="6347460" cy="742315"/>
            <a:chOff x="3330222" y="76294"/>
            <a:chExt cx="6347460" cy="742315"/>
          </a:xfrm>
        </p:grpSpPr>
        <p:sp>
          <p:nvSpPr>
            <p:cNvPr id="1048874" name="文本框 9"/>
            <p:cNvSpPr txBox="1"/>
            <p:nvPr/>
          </p:nvSpPr>
          <p:spPr>
            <a:xfrm>
              <a:off x="3330222" y="76294"/>
              <a:ext cx="1612265"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8875" name="文本框 10"/>
            <p:cNvSpPr txBox="1"/>
            <p:nvPr/>
          </p:nvSpPr>
          <p:spPr>
            <a:xfrm>
              <a:off x="4968484" y="76294"/>
              <a:ext cx="1354667" cy="3962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2.</a:t>
              </a:r>
              <a:r>
                <a:rPr lang="zh-CN" altLang="en-US" dirty="0" smtClean="0">
                  <a:solidFill>
                    <a:schemeClr val="bg1">
                      <a:lumMod val="65000"/>
                    </a:schemeClr>
                  </a:solidFill>
                  <a:ea typeface="思源黑体 CN Bold" panose="020B0800000000000000"/>
                </a:rPr>
                <a:t>信道加扰</a:t>
              </a:r>
              <a:endParaRPr lang="zh-CN" altLang="en-US" dirty="0">
                <a:solidFill>
                  <a:schemeClr val="bg1">
                    <a:lumMod val="65000"/>
                  </a:schemeClr>
                </a:solidFill>
                <a:ea typeface="思源黑体 CN Bold" panose="020B0800000000000000"/>
              </a:endParaRPr>
            </a:p>
          </p:txBody>
        </p:sp>
        <p:sp>
          <p:nvSpPr>
            <p:cNvPr id="1048876" name="文本框 11"/>
            <p:cNvSpPr txBox="1"/>
            <p:nvPr/>
          </p:nvSpPr>
          <p:spPr>
            <a:xfrm>
              <a:off x="6349012" y="76294"/>
              <a:ext cx="1653540" cy="368300"/>
            </a:xfrm>
            <a:prstGeom prst="rect">
              <a:avLst/>
            </a:prstGeom>
            <a:noFill/>
          </p:spPr>
          <p:txBody>
            <a:bodyPr wrap="square" rtlCol="0">
              <a:spAutoFit/>
            </a:bodyPr>
            <a:p>
              <a:r>
                <a:rPr lang="en-US" altLang="zh-CN" dirty="0" smtClean="0">
                  <a:solidFill>
                    <a:schemeClr val="bg1"/>
                  </a:solidFill>
                  <a:ea typeface="思源黑体 CN Bold" panose="020B0800000000000000"/>
                </a:rPr>
                <a:t>3.</a:t>
              </a:r>
              <a:r>
                <a:rPr lang="zh-CN" altLang="en-US" dirty="0" smtClean="0">
                  <a:solidFill>
                    <a:schemeClr val="bg1"/>
                  </a:solidFill>
                  <a:ea typeface="思源黑体 CN Bold" panose="020B0800000000000000"/>
                </a:rPr>
                <a:t>实现与实验</a:t>
              </a:r>
              <a:endParaRPr lang="zh-CN" altLang="en-US" dirty="0">
                <a:solidFill>
                  <a:schemeClr val="bg1"/>
                </a:solidFill>
                <a:ea typeface="思源黑体 CN Bold" panose="020B0800000000000000"/>
              </a:endParaRPr>
            </a:p>
          </p:txBody>
        </p:sp>
        <p:sp>
          <p:nvSpPr>
            <p:cNvPr id="1048877" name="文本框 12"/>
            <p:cNvSpPr txBox="1"/>
            <p:nvPr/>
          </p:nvSpPr>
          <p:spPr>
            <a:xfrm>
              <a:off x="8024142" y="92804"/>
              <a:ext cx="1653540" cy="725805"/>
            </a:xfrm>
            <a:prstGeom prst="rect">
              <a:avLst/>
            </a:prstGeom>
            <a:noFill/>
          </p:spPr>
          <p:txBody>
            <a:bodyPr wrap="square" rtlCol="0">
              <a:noAutofit/>
            </a:bodyPr>
            <a:p>
              <a:r>
                <a:rPr lang="en-US" altLang="zh-CN" dirty="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p:sp>
        <p:nvSpPr>
          <p:cNvPr id="2" name="文本框 1"/>
          <p:cNvSpPr txBox="1"/>
          <p:nvPr/>
        </p:nvSpPr>
        <p:spPr>
          <a:xfrm>
            <a:off x="744220" y="4803775"/>
            <a:ext cx="10878820" cy="1478915"/>
          </a:xfrm>
          <a:prstGeom prst="rect">
            <a:avLst/>
          </a:prstGeom>
          <a:noFill/>
        </p:spPr>
        <p:txBody>
          <a:bodyPr wrap="square" rtlCol="0">
            <a:noAutofit/>
          </a:bodyPr>
          <a:p>
            <a:pPr marL="342900" marR="0" indent="-342900" algn="l" defTabSz="914400" rtl="0" fontAlgn="auto">
              <a:lnSpc>
                <a:spcPct val="125000"/>
              </a:lnSpc>
              <a:spcBef>
                <a:spcPts val="0"/>
              </a:spcBef>
              <a:spcAft>
                <a:spcPts val="0"/>
              </a:spcAft>
              <a:buClrTx/>
              <a:buSzTx/>
              <a:buFontTx/>
              <a:buAutoNum type="arabicPeriod"/>
            </a:pPr>
            <a:r>
              <a:rPr lang="zh-CN" altLang="en-US" dirty="0" smtClean="0">
                <a:sym typeface="+mn-ea"/>
              </a:rPr>
              <a:t>在</a:t>
            </a:r>
            <a:r>
              <a:rPr lang="en-US" altLang="zh-CN" dirty="0" smtClean="0">
                <a:sym typeface="+mn-ea"/>
              </a:rPr>
              <a:t>OS</a:t>
            </a:r>
            <a:r>
              <a:rPr lang="zh-CN" altLang="en-US" dirty="0" smtClean="0">
                <a:sym typeface="+mn-ea"/>
              </a:rPr>
              <a:t>的用户空间中产生加扰向量，并存入位于驱动中的缓存区</a:t>
            </a:r>
            <a:endParaRPr lang="zh-CN" altLang="en-US" dirty="0" smtClean="0"/>
          </a:p>
          <a:p>
            <a:pPr marL="342900" indent="-342900" fontAlgn="auto">
              <a:lnSpc>
                <a:spcPct val="125000"/>
              </a:lnSpc>
              <a:buAutoNum type="arabicPeriod"/>
            </a:pPr>
            <a:r>
              <a:rPr lang="zh-CN" altLang="en-US" dirty="0" smtClean="0">
                <a:effectLst/>
                <a:sym typeface="+mn-ea"/>
              </a:rPr>
              <a:t>网卡驱动根据发送时刻为每个数据帧选择加扰向量，通过</a:t>
            </a:r>
            <a:r>
              <a:rPr lang="en-US" altLang="zh-CN" dirty="0" smtClean="0">
                <a:effectLst/>
                <a:sym typeface="+mn-ea"/>
              </a:rPr>
              <a:t>DMA</a:t>
            </a:r>
            <a:r>
              <a:rPr lang="zh-CN" altLang="en-US" dirty="0" smtClean="0">
                <a:effectLst/>
                <a:sym typeface="+mn-ea"/>
              </a:rPr>
              <a:t>传输到物理层</a:t>
            </a:r>
            <a:endParaRPr lang="en-US" altLang="zh-CN" b="0" i="0" kern="1200" dirty="0" smtClean="0">
              <a:solidFill>
                <a:schemeClr val="tx1"/>
              </a:solidFill>
              <a:effectLst/>
              <a:latin typeface="+mn-lt"/>
              <a:ea typeface="+mn-ea"/>
              <a:cs typeface="+mn-cs"/>
            </a:endParaRPr>
          </a:p>
          <a:p>
            <a:pPr marL="342900" indent="-342900" fontAlgn="auto">
              <a:lnSpc>
                <a:spcPct val="125000"/>
              </a:lnSpc>
              <a:buAutoNum type="arabicPeriod"/>
            </a:pPr>
            <a:r>
              <a:rPr lang="zh-CN" altLang="en-US" dirty="0" smtClean="0">
                <a:effectLst/>
                <a:sym typeface="+mn-ea"/>
              </a:rPr>
              <a:t>在物理层的基带信号处理过程中将每个</a:t>
            </a:r>
            <a:r>
              <a:rPr lang="en-US" altLang="zh-CN" dirty="0" smtClean="0">
                <a:effectLst/>
                <a:sym typeface="+mn-ea"/>
              </a:rPr>
              <a:t>OFDM</a:t>
            </a:r>
            <a:r>
              <a:rPr lang="zh-CN" altLang="en-US" dirty="0" smtClean="0">
                <a:effectLst/>
                <a:sym typeface="+mn-ea"/>
              </a:rPr>
              <a:t>符号乘以所选的加扰向量，完成信道加扰</a:t>
            </a:r>
            <a:endParaRPr lang="en-US" altLang="zh-CN" b="0" i="0" kern="1200" dirty="0" smtClean="0">
              <a:solidFill>
                <a:schemeClr val="tx1"/>
              </a:solidFill>
              <a:effectLst/>
              <a:latin typeface="+mn-lt"/>
              <a:ea typeface="+mn-ea"/>
              <a:cs typeface="+mn-cs"/>
            </a:endParaRPr>
          </a:p>
          <a:p>
            <a:pPr marL="342900" indent="-342900" fontAlgn="auto">
              <a:lnSpc>
                <a:spcPct val="125000"/>
              </a:lnSpc>
              <a:buAutoNum type="arabicPeriod"/>
            </a:pPr>
            <a:r>
              <a:rPr lang="zh-CN" altLang="en-US" dirty="0" smtClean="0">
                <a:sym typeface="+mn-ea"/>
              </a:rPr>
              <a:t>合法感知器根据共享的密钥</a:t>
            </a:r>
            <a:r>
              <a:rPr lang="en-US" altLang="zh-CN" dirty="0" smtClean="0">
                <a:sym typeface="+mn-ea"/>
              </a:rPr>
              <a:t>K</a:t>
            </a:r>
            <a:r>
              <a:rPr lang="zh-CN" altLang="en-US" dirty="0" smtClean="0">
                <a:sym typeface="+mn-ea"/>
              </a:rPr>
              <a:t>生成加扰向量序列，然后根据接收时刻找到对应的加扰向量完成解扰</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16" name=""/>
        <p:cNvGrpSpPr/>
        <p:nvPr/>
      </p:nvGrpSpPr>
      <p:grpSpPr>
        <a:xfrm>
          <a:off x="0" y="0"/>
          <a:ext cx="0" cy="0"/>
          <a:chOff x="0" y="0"/>
          <a:chExt cx="0" cy="0"/>
        </a:xfrm>
      </p:grpSpPr>
      <p:sp>
        <p:nvSpPr>
          <p:cNvPr id="1048881" name="文本占位符 1"/>
          <p:cNvSpPr>
            <a:spLocks noGrp="1"/>
          </p:cNvSpPr>
          <p:nvPr>
            <p:ph type="body" sz="quarter" idx="12"/>
          </p:nvPr>
        </p:nvSpPr>
        <p:spPr>
          <a:xfrm>
            <a:off x="218105" y="76294"/>
            <a:ext cx="410545" cy="401955"/>
          </a:xfrm>
        </p:spPr>
        <p:txBody>
          <a:bodyPr/>
          <a:p>
            <a:r>
              <a:rPr lang="en-US" altLang="zh-CN" dirty="0" smtClean="0"/>
              <a:t>3</a:t>
            </a:r>
            <a:endParaRPr lang="zh-CN" altLang="en-US" dirty="0"/>
          </a:p>
        </p:txBody>
      </p:sp>
      <p:sp>
        <p:nvSpPr>
          <p:cNvPr id="1048882" name="文本占位符 2"/>
          <p:cNvSpPr>
            <a:spLocks noGrp="1"/>
          </p:cNvSpPr>
          <p:nvPr>
            <p:ph type="body" sz="quarter" idx="13"/>
          </p:nvPr>
        </p:nvSpPr>
        <p:spPr/>
        <p:txBody>
          <a:bodyPr/>
          <a:p>
            <a:r>
              <a:rPr lang="zh-CN" altLang="en-US" kern="0" dirty="0" smtClean="0">
                <a:ea typeface="楷体" panose="02010609060101010101" pitchFamily="49" charset="-122"/>
                <a:sym typeface="DengXian" panose="02010600030101010101" pitchFamily="2" charset="-122"/>
              </a:rPr>
              <a:t>实验分析</a:t>
            </a:r>
            <a:endParaRPr lang="zh-CN" altLang="en-US" kern="0" dirty="0">
              <a:ea typeface="楷体" panose="02010609060101010101" pitchFamily="49" charset="-122"/>
              <a:sym typeface="DengXian" panose="02010600030101010101" pitchFamily="2" charset="-122"/>
            </a:endParaRPr>
          </a:p>
        </p:txBody>
      </p:sp>
      <p:sp>
        <p:nvSpPr>
          <p:cNvPr id="1048883" name="文本框 6"/>
          <p:cNvSpPr txBox="1"/>
          <p:nvPr/>
        </p:nvSpPr>
        <p:spPr>
          <a:xfrm>
            <a:off x="218105" y="478249"/>
            <a:ext cx="11064429" cy="726440"/>
          </a:xfrm>
          <a:prstGeom prst="rect">
            <a:avLst/>
          </a:prstGeom>
          <a:noFill/>
        </p:spPr>
        <p:txBody>
          <a:bodyPr wrap="square" rtlCol="0">
            <a:spAutoFit/>
          </a:bodyPr>
          <a:p>
            <a:pPr marL="0" lvl="1">
              <a:lnSpc>
                <a:spcPct val="150000"/>
              </a:lnSpc>
            </a:pPr>
            <a:r>
              <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实验设备和实验环境</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pic>
        <p:nvPicPr>
          <p:cNvPr id="2097193" name="图片 3"/>
          <p:cNvPicPr>
            <a:picLocks noChangeAspect="1"/>
          </p:cNvPicPr>
          <p:nvPr/>
        </p:nvPicPr>
        <p:blipFill>
          <a:blip r:embed="rId1" cstate="hqprint"/>
          <a:stretch>
            <a:fillRect/>
          </a:stretch>
        </p:blipFill>
        <p:spPr>
          <a:xfrm>
            <a:off x="218105" y="1325851"/>
            <a:ext cx="4344919" cy="3258296"/>
          </a:xfrm>
          <a:prstGeom prst="rect">
            <a:avLst/>
          </a:prstGeom>
        </p:spPr>
      </p:pic>
      <p:pic>
        <p:nvPicPr>
          <p:cNvPr id="2097194" name="图片 5"/>
          <p:cNvPicPr>
            <a:picLocks noChangeAspect="1"/>
          </p:cNvPicPr>
          <p:nvPr/>
        </p:nvPicPr>
        <p:blipFill>
          <a:blip r:embed="rId2" cstate="hqprint"/>
          <a:stretch>
            <a:fillRect/>
          </a:stretch>
        </p:blipFill>
        <p:spPr>
          <a:xfrm>
            <a:off x="4868218" y="1325851"/>
            <a:ext cx="4344395" cy="3258296"/>
          </a:xfrm>
          <a:prstGeom prst="rect">
            <a:avLst/>
          </a:prstGeom>
        </p:spPr>
      </p:pic>
      <p:pic>
        <p:nvPicPr>
          <p:cNvPr id="2097195" name="图片 8"/>
          <p:cNvPicPr>
            <a:picLocks noChangeAspect="1"/>
          </p:cNvPicPr>
          <p:nvPr/>
        </p:nvPicPr>
        <p:blipFill>
          <a:blip r:embed="rId3" cstate="hqprint"/>
          <a:stretch>
            <a:fillRect/>
          </a:stretch>
        </p:blipFill>
        <p:spPr>
          <a:xfrm>
            <a:off x="9410793" y="3422114"/>
            <a:ext cx="2657428" cy="1565187"/>
          </a:xfrm>
          <a:prstGeom prst="rect">
            <a:avLst/>
          </a:prstGeom>
        </p:spPr>
      </p:pic>
      <p:pic>
        <p:nvPicPr>
          <p:cNvPr id="2097196" name="图片 9"/>
          <p:cNvPicPr>
            <a:picLocks noChangeAspect="1"/>
          </p:cNvPicPr>
          <p:nvPr/>
        </p:nvPicPr>
        <p:blipFill>
          <a:blip r:embed="rId4" cstate="hqprint"/>
          <a:stretch>
            <a:fillRect/>
          </a:stretch>
        </p:blipFill>
        <p:spPr>
          <a:xfrm>
            <a:off x="9517808" y="1122451"/>
            <a:ext cx="2443398" cy="1832548"/>
          </a:xfrm>
          <a:prstGeom prst="rect">
            <a:avLst/>
          </a:prstGeom>
        </p:spPr>
      </p:pic>
      <p:sp>
        <p:nvSpPr>
          <p:cNvPr id="1048884" name="文本占位符 3"/>
          <p:cNvSpPr txBox="1"/>
          <p:nvPr/>
        </p:nvSpPr>
        <p:spPr>
          <a:xfrm>
            <a:off x="5750560" y="6453505"/>
            <a:ext cx="1191895" cy="40513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16/23</a:t>
            </a:r>
            <a:endParaRPr lang="en-US" altLang="zh-CN" sz="2000" dirty="0"/>
          </a:p>
        </p:txBody>
      </p:sp>
      <p:sp>
        <p:nvSpPr>
          <p:cNvPr id="1048885" name="文本框 11"/>
          <p:cNvSpPr txBox="1"/>
          <p:nvPr/>
        </p:nvSpPr>
        <p:spPr>
          <a:xfrm>
            <a:off x="1636890" y="4802065"/>
            <a:ext cx="1569155" cy="396240"/>
          </a:xfrm>
          <a:prstGeom prst="rect">
            <a:avLst/>
          </a:prstGeom>
          <a:noFill/>
        </p:spPr>
        <p:txBody>
          <a:bodyPr wrap="square" rtlCol="0">
            <a:spAutoFit/>
          </a:bodyPr>
          <a:p>
            <a:r>
              <a:rPr lang="zh-CN" altLang="en-US" dirty="0" smtClean="0"/>
              <a:t>通信实验环境</a:t>
            </a:r>
            <a:endParaRPr lang="zh-CN" altLang="en-US" dirty="0"/>
          </a:p>
        </p:txBody>
      </p:sp>
      <p:sp>
        <p:nvSpPr>
          <p:cNvPr id="1048886" name="文本框 12"/>
          <p:cNvSpPr txBox="1"/>
          <p:nvPr/>
        </p:nvSpPr>
        <p:spPr>
          <a:xfrm>
            <a:off x="6255837" y="4802064"/>
            <a:ext cx="1569155" cy="396239"/>
          </a:xfrm>
          <a:prstGeom prst="rect">
            <a:avLst/>
          </a:prstGeom>
          <a:noFill/>
        </p:spPr>
        <p:txBody>
          <a:bodyPr wrap="square" rtlCol="0">
            <a:spAutoFit/>
          </a:bodyPr>
          <a:p>
            <a:r>
              <a:rPr lang="zh-CN" altLang="en-US" dirty="0"/>
              <a:t>感知</a:t>
            </a:r>
            <a:r>
              <a:rPr lang="zh-CN" altLang="en-US" dirty="0" smtClean="0"/>
              <a:t>实验环境</a:t>
            </a:r>
            <a:endParaRPr lang="zh-CN" altLang="en-US" dirty="0"/>
          </a:p>
        </p:txBody>
      </p:sp>
      <p:sp>
        <p:nvSpPr>
          <p:cNvPr id="1048887" name="文本框 11"/>
          <p:cNvSpPr txBox="1"/>
          <p:nvPr/>
        </p:nvSpPr>
        <p:spPr>
          <a:xfrm>
            <a:off x="10278620" y="5171396"/>
            <a:ext cx="1192328" cy="3962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smtClean="0"/>
              <a:t>实验设备</a:t>
            </a:r>
            <a:endParaRPr lang="zh-CN" altLang="en-US" dirty="0"/>
          </a:p>
        </p:txBody>
      </p:sp>
      <p:grpSp>
        <p:nvGrpSpPr>
          <p:cNvPr id="117" name="组合 14"/>
          <p:cNvGrpSpPr/>
          <p:nvPr/>
        </p:nvGrpSpPr>
        <p:grpSpPr>
          <a:xfrm>
            <a:off x="4323644" y="65006"/>
            <a:ext cx="6417945" cy="716915"/>
            <a:chOff x="3330222" y="76294"/>
            <a:chExt cx="6417945" cy="716915"/>
          </a:xfrm>
        </p:grpSpPr>
        <p:sp>
          <p:nvSpPr>
            <p:cNvPr id="1048888" name="文本框 15"/>
            <p:cNvSpPr txBox="1"/>
            <p:nvPr/>
          </p:nvSpPr>
          <p:spPr>
            <a:xfrm>
              <a:off x="3330222" y="76294"/>
              <a:ext cx="1612265"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8889" name="文本框 16"/>
            <p:cNvSpPr txBox="1"/>
            <p:nvPr/>
          </p:nvSpPr>
          <p:spPr>
            <a:xfrm>
              <a:off x="4968484" y="76294"/>
              <a:ext cx="1354667" cy="3962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2.</a:t>
              </a:r>
              <a:r>
                <a:rPr lang="zh-CN" altLang="en-US" dirty="0" smtClean="0">
                  <a:solidFill>
                    <a:schemeClr val="bg1">
                      <a:lumMod val="65000"/>
                    </a:schemeClr>
                  </a:solidFill>
                  <a:ea typeface="思源黑体 CN Bold" panose="020B0800000000000000"/>
                </a:rPr>
                <a:t>信道加扰</a:t>
              </a:r>
              <a:endParaRPr lang="zh-CN" altLang="en-US" dirty="0">
                <a:solidFill>
                  <a:schemeClr val="bg1">
                    <a:lumMod val="65000"/>
                  </a:schemeClr>
                </a:solidFill>
                <a:ea typeface="思源黑体 CN Bold" panose="020B0800000000000000"/>
              </a:endParaRPr>
            </a:p>
          </p:txBody>
        </p:sp>
        <p:sp>
          <p:nvSpPr>
            <p:cNvPr id="1048890" name="文本框 17"/>
            <p:cNvSpPr txBox="1"/>
            <p:nvPr/>
          </p:nvSpPr>
          <p:spPr>
            <a:xfrm>
              <a:off x="6349012" y="76294"/>
              <a:ext cx="1645285" cy="716915"/>
            </a:xfrm>
            <a:prstGeom prst="rect">
              <a:avLst/>
            </a:prstGeom>
            <a:noFill/>
          </p:spPr>
          <p:txBody>
            <a:bodyPr wrap="square" rtlCol="0">
              <a:noAutofit/>
            </a:bodyPr>
            <a:p>
              <a:r>
                <a:rPr lang="en-US" altLang="zh-CN" dirty="0" smtClean="0">
                  <a:solidFill>
                    <a:schemeClr val="bg1"/>
                  </a:solidFill>
                  <a:ea typeface="思源黑体 CN Bold" panose="020B0800000000000000"/>
                </a:rPr>
                <a:t>3.</a:t>
              </a:r>
              <a:r>
                <a:rPr lang="zh-CN" altLang="en-US" dirty="0" smtClean="0">
                  <a:solidFill>
                    <a:schemeClr val="bg1"/>
                  </a:solidFill>
                  <a:ea typeface="思源黑体 CN Bold" panose="020B0800000000000000"/>
                </a:rPr>
                <a:t>实现与实验</a:t>
              </a:r>
              <a:endParaRPr lang="zh-CN" altLang="en-US" dirty="0">
                <a:solidFill>
                  <a:schemeClr val="bg1"/>
                </a:solidFill>
                <a:ea typeface="思源黑体 CN Bold" panose="020B0800000000000000"/>
              </a:endParaRPr>
            </a:p>
          </p:txBody>
        </p:sp>
        <p:sp>
          <p:nvSpPr>
            <p:cNvPr id="1048891" name="文本框 18"/>
            <p:cNvSpPr txBox="1"/>
            <p:nvPr/>
          </p:nvSpPr>
          <p:spPr>
            <a:xfrm>
              <a:off x="8024142" y="92804"/>
              <a:ext cx="1724025" cy="368300"/>
            </a:xfrm>
            <a:prstGeom prst="rect">
              <a:avLst/>
            </a:prstGeom>
            <a:noFill/>
          </p:spPr>
          <p:txBody>
            <a:bodyPr wrap="square" rtlCol="0">
              <a:spAutoFit/>
            </a:bodyPr>
            <a:p>
              <a:r>
                <a:rPr lang="en-US" altLang="zh-CN" dirty="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p:sp>
        <p:nvSpPr>
          <p:cNvPr id="2" name="文本框 1"/>
          <p:cNvSpPr txBox="1"/>
          <p:nvPr/>
        </p:nvSpPr>
        <p:spPr>
          <a:xfrm>
            <a:off x="355600" y="5448935"/>
            <a:ext cx="5606415" cy="565785"/>
          </a:xfrm>
          <a:prstGeom prst="rect">
            <a:avLst/>
          </a:prstGeom>
          <a:noFill/>
        </p:spPr>
        <p:txBody>
          <a:bodyPr wrap="square" rtlCol="0">
            <a:noAutofit/>
          </a:bodyPr>
          <a:p>
            <a:pPr marL="342900" indent="-342900">
              <a:buFont typeface="Arial" panose="020B0604020202090204" pitchFamily="34" charset="0"/>
              <a:buChar char="•"/>
            </a:pPr>
            <a:r>
              <a:rPr lang="zh-CN" altLang="en-US" sz="2000"/>
              <a:t>评估</a:t>
            </a:r>
            <a:r>
              <a:rPr lang="en-US" altLang="zh-CN" sz="2000"/>
              <a:t>CSS</a:t>
            </a:r>
            <a:r>
              <a:rPr lang="zh-CN" altLang="en-US" sz="2000"/>
              <a:t>系统的通信性能、加扰和解扰能力</a:t>
            </a:r>
            <a:endParaRPr lang="zh-CN" altLang="en-US" sz="200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20" name=""/>
        <p:cNvGrpSpPr/>
        <p:nvPr/>
      </p:nvGrpSpPr>
      <p:grpSpPr>
        <a:xfrm>
          <a:off x="0" y="0"/>
          <a:ext cx="0" cy="0"/>
          <a:chOff x="0" y="0"/>
          <a:chExt cx="0" cy="0"/>
        </a:xfrm>
      </p:grpSpPr>
      <p:sp>
        <p:nvSpPr>
          <p:cNvPr id="1048895" name="文本占位符 1"/>
          <p:cNvSpPr>
            <a:spLocks noGrp="1"/>
          </p:cNvSpPr>
          <p:nvPr>
            <p:ph type="body" sz="quarter" idx="12"/>
          </p:nvPr>
        </p:nvSpPr>
        <p:spPr>
          <a:xfrm>
            <a:off x="218105" y="76294"/>
            <a:ext cx="410545" cy="401955"/>
          </a:xfrm>
        </p:spPr>
        <p:txBody>
          <a:bodyPr/>
          <a:p>
            <a:r>
              <a:rPr lang="en-US" altLang="zh-CN" dirty="0" smtClean="0"/>
              <a:t>3</a:t>
            </a:r>
            <a:endParaRPr lang="zh-CN" altLang="en-US" dirty="0"/>
          </a:p>
        </p:txBody>
      </p:sp>
      <p:sp>
        <p:nvSpPr>
          <p:cNvPr id="1048896" name="文本占位符 2"/>
          <p:cNvSpPr>
            <a:spLocks noGrp="1"/>
          </p:cNvSpPr>
          <p:nvPr>
            <p:ph type="body" sz="quarter" idx="13"/>
          </p:nvPr>
        </p:nvSpPr>
        <p:spPr/>
        <p:txBody>
          <a:bodyPr/>
          <a:p>
            <a:r>
              <a:rPr lang="zh-CN" altLang="en-US" kern="0" dirty="0" smtClean="0">
                <a:ea typeface="楷体" panose="02010609060101010101" pitchFamily="49" charset="-122"/>
                <a:sym typeface="DengXian" panose="02010600030101010101" pitchFamily="2" charset="-122"/>
              </a:rPr>
              <a:t>实验分析</a:t>
            </a:r>
            <a:endParaRPr lang="zh-CN" altLang="en-US" kern="0" dirty="0">
              <a:ea typeface="楷体" panose="02010609060101010101" pitchFamily="49" charset="-122"/>
              <a:sym typeface="DengXian" panose="02010600030101010101" pitchFamily="2" charset="-122"/>
            </a:endParaRPr>
          </a:p>
        </p:txBody>
      </p:sp>
      <p:sp>
        <p:nvSpPr>
          <p:cNvPr id="1048897" name="文本框 6"/>
          <p:cNvSpPr txBox="1"/>
          <p:nvPr/>
        </p:nvSpPr>
        <p:spPr>
          <a:xfrm>
            <a:off x="218105" y="597060"/>
            <a:ext cx="11064429" cy="726439"/>
          </a:xfrm>
          <a:prstGeom prst="rect">
            <a:avLst/>
          </a:prstGeom>
          <a:noFill/>
        </p:spPr>
        <p:txBody>
          <a:bodyPr wrap="square" rtlCol="0">
            <a:spAutoFit/>
          </a:bodyPr>
          <a:p>
            <a:pPr marL="0" lvl="1">
              <a:lnSpc>
                <a:spcPct val="150000"/>
              </a:lnSpc>
            </a:pPr>
            <a:r>
              <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数据通信性能</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sp>
        <p:nvSpPr>
          <p:cNvPr id="1048898" name="文本框 9"/>
          <p:cNvSpPr txBox="1"/>
          <p:nvPr/>
        </p:nvSpPr>
        <p:spPr>
          <a:xfrm>
            <a:off x="562942" y="1249265"/>
            <a:ext cx="10698251" cy="1476375"/>
          </a:xfrm>
          <a:prstGeom prst="rect">
            <a:avLst/>
          </a:prstGeom>
          <a:noFill/>
        </p:spPr>
        <p:txBody>
          <a:bodyPr wrap="square" rtlCol="0">
            <a:spAutoFit/>
          </a:bodyPr>
          <a:p>
            <a:r>
              <a:rPr lang="zh-CN" altLang="en-US" dirty="0" smtClean="0">
                <a:ea typeface="思源黑体 CN Bold" panose="020B0800000000000000"/>
              </a:rPr>
              <a:t>我们用</a:t>
            </a:r>
            <a:r>
              <a:rPr lang="en-US" altLang="zh-CN" dirty="0" smtClean="0">
                <a:ea typeface="思源黑体 CN Bold" panose="020B0800000000000000"/>
              </a:rPr>
              <a:t>iperf</a:t>
            </a:r>
            <a:r>
              <a:rPr lang="zh-CN" altLang="en-US" dirty="0" smtClean="0">
                <a:ea typeface="思源黑体 CN Bold" panose="020B0800000000000000"/>
              </a:rPr>
              <a:t>工具测量端</a:t>
            </a:r>
            <a:r>
              <a:rPr lang="zh-CN" altLang="en-US" dirty="0">
                <a:ea typeface="思源黑体 CN Bold" panose="020B0800000000000000"/>
              </a:rPr>
              <a:t>到端的</a:t>
            </a:r>
            <a:r>
              <a:rPr lang="zh-CN" altLang="en-US" dirty="0">
                <a:solidFill>
                  <a:srgbClr val="FF0000"/>
                </a:solidFill>
                <a:ea typeface="思源黑体 CN Bold" panose="020B0800000000000000"/>
              </a:rPr>
              <a:t>数据吞吐量</a:t>
            </a:r>
            <a:r>
              <a:rPr lang="zh-CN" altLang="en-US" dirty="0">
                <a:ea typeface="思源黑体 CN Bold" panose="020B0800000000000000"/>
              </a:rPr>
              <a:t>和</a:t>
            </a:r>
            <a:r>
              <a:rPr lang="zh-CN" altLang="en-US" dirty="0">
                <a:solidFill>
                  <a:srgbClr val="FF0000"/>
                </a:solidFill>
                <a:ea typeface="思源黑体 CN Bold" panose="020B0800000000000000"/>
              </a:rPr>
              <a:t>丢包</a:t>
            </a:r>
            <a:r>
              <a:rPr lang="zh-CN" altLang="en-US" dirty="0" smtClean="0">
                <a:solidFill>
                  <a:srgbClr val="FF0000"/>
                </a:solidFill>
                <a:ea typeface="思源黑体 CN Bold" panose="020B0800000000000000"/>
              </a:rPr>
              <a:t>率</a:t>
            </a:r>
            <a:r>
              <a:rPr lang="zh-CN" altLang="en-US" dirty="0" smtClean="0">
                <a:ea typeface="思源黑体 CN Bold" panose="020B0800000000000000"/>
              </a:rPr>
              <a:t>作为系统通</a:t>
            </a:r>
            <a:r>
              <a:rPr lang="zh-CN" altLang="en-US" dirty="0">
                <a:ea typeface="思源黑体 CN Bold" panose="020B0800000000000000"/>
              </a:rPr>
              <a:t>信性能的评估指标</a:t>
            </a:r>
            <a:r>
              <a:rPr lang="zh-CN" altLang="en-US" dirty="0" smtClean="0">
                <a:ea typeface="思源黑体 CN Bold" panose="020B0800000000000000"/>
              </a:rPr>
              <a:t>。</a:t>
            </a:r>
            <a:endParaRPr lang="en-US" altLang="zh-CN" dirty="0" smtClean="0">
              <a:ea typeface="思源黑体 CN Bold" panose="020B0800000000000000"/>
            </a:endParaRPr>
          </a:p>
          <a:p>
            <a:endParaRPr lang="en-US" altLang="zh-CN" dirty="0">
              <a:ea typeface="思源黑体 CN Bold" panose="020B0800000000000000"/>
            </a:endParaRPr>
          </a:p>
          <a:p>
            <a:r>
              <a:rPr lang="zh-CN" altLang="en-US" dirty="0" smtClean="0">
                <a:ea typeface="思源黑体 CN Bold" panose="020B0800000000000000"/>
              </a:rPr>
              <a:t>结论：实现</a:t>
            </a:r>
            <a:r>
              <a:rPr lang="zh-CN" altLang="en-US" dirty="0">
                <a:ea typeface="思源黑体 CN Bold" panose="020B0800000000000000"/>
              </a:rPr>
              <a:t>了 </a:t>
            </a:r>
            <a:r>
              <a:rPr lang="en-US" altLang="zh-CN" dirty="0">
                <a:ea typeface="思源黑体 CN Bold" panose="020B0800000000000000"/>
              </a:rPr>
              <a:t>CSS </a:t>
            </a:r>
            <a:r>
              <a:rPr lang="zh-CN" altLang="en-US" dirty="0">
                <a:ea typeface="思源黑体 CN Bold" panose="020B0800000000000000"/>
              </a:rPr>
              <a:t>的 </a:t>
            </a:r>
            <a:r>
              <a:rPr lang="en-US" altLang="zh-CN" dirty="0">
                <a:ea typeface="思源黑体 CN Bold" panose="020B0800000000000000"/>
              </a:rPr>
              <a:t>OpenWiFi </a:t>
            </a:r>
            <a:r>
              <a:rPr lang="zh-CN" altLang="en-US" dirty="0" smtClean="0">
                <a:ea typeface="思源黑体 CN Bold" panose="020B0800000000000000"/>
              </a:rPr>
              <a:t>和</a:t>
            </a:r>
            <a:r>
              <a:rPr lang="zh-CN" altLang="en-US" dirty="0">
                <a:ea typeface="思源黑体 CN Bold" panose="020B0800000000000000"/>
              </a:rPr>
              <a:t>原始的 </a:t>
            </a:r>
            <a:r>
              <a:rPr lang="en-US" altLang="zh-CN" dirty="0">
                <a:ea typeface="思源黑体 CN Bold" panose="020B0800000000000000"/>
              </a:rPr>
              <a:t>OpenWiFi </a:t>
            </a:r>
            <a:r>
              <a:rPr lang="zh-CN" altLang="en-US" dirty="0">
                <a:ea typeface="思源黑体 CN Bold" panose="020B0800000000000000"/>
              </a:rPr>
              <a:t>相比</a:t>
            </a:r>
            <a:r>
              <a:rPr lang="zh-CN" altLang="en-US" dirty="0" smtClean="0">
                <a:ea typeface="思源黑体 CN Bold" panose="020B0800000000000000"/>
              </a:rPr>
              <a:t>，通信性能在</a:t>
            </a:r>
            <a:r>
              <a:rPr lang="zh-CN" altLang="en-US" dirty="0" smtClean="0">
                <a:ea typeface="思源黑体 CN Bold" panose="020B0800000000000000"/>
              </a:rPr>
              <a:t>除了 </a:t>
            </a:r>
            <a:r>
              <a:rPr lang="en-US" altLang="zh-CN" dirty="0">
                <a:ea typeface="思源黑体 CN Bold" panose="020B0800000000000000"/>
              </a:rPr>
              <a:t>64QAM </a:t>
            </a:r>
            <a:r>
              <a:rPr lang="zh-CN" altLang="en-US" dirty="0" smtClean="0">
                <a:ea typeface="思源黑体 CN Bold" panose="020B0800000000000000"/>
              </a:rPr>
              <a:t>的其他所有调制</a:t>
            </a:r>
            <a:r>
              <a:rPr lang="zh-CN" altLang="en-US" dirty="0">
                <a:ea typeface="思源黑体 CN Bold" panose="020B0800000000000000"/>
              </a:rPr>
              <a:t>模式</a:t>
            </a:r>
            <a:r>
              <a:rPr lang="zh-CN" altLang="en-US" dirty="0" smtClean="0">
                <a:ea typeface="思源黑体 CN Bold" panose="020B0800000000000000"/>
              </a:rPr>
              <a:t>下，都</a:t>
            </a:r>
            <a:r>
              <a:rPr lang="zh-CN" altLang="en-US" dirty="0">
                <a:ea typeface="思源黑体 CN Bold" panose="020B0800000000000000"/>
              </a:rPr>
              <a:t>能保持在和原始 </a:t>
            </a:r>
            <a:r>
              <a:rPr lang="en-US" altLang="zh-CN" dirty="0">
                <a:ea typeface="思源黑体 CN Bold" panose="020B0800000000000000"/>
              </a:rPr>
              <a:t>OpenWiFi </a:t>
            </a:r>
            <a:r>
              <a:rPr lang="zh-CN" altLang="en-US" dirty="0">
                <a:ea typeface="思源黑体 CN Bold" panose="020B0800000000000000"/>
              </a:rPr>
              <a:t>相同</a:t>
            </a:r>
            <a:r>
              <a:rPr lang="zh-CN" altLang="en-US" dirty="0" smtClean="0">
                <a:ea typeface="思源黑体 CN Bold" panose="020B0800000000000000"/>
              </a:rPr>
              <a:t>的水平</a:t>
            </a:r>
            <a:r>
              <a:rPr lang="zh-CN" altLang="en-US" dirty="0">
                <a:ea typeface="思源黑体 CN Bold" panose="020B0800000000000000"/>
              </a:rPr>
              <a:t>。 </a:t>
            </a:r>
            <a:br>
              <a:rPr lang="zh-CN" altLang="en-US" dirty="0">
                <a:ea typeface="思源黑体 CN Bold" panose="020B0800000000000000"/>
              </a:rPr>
            </a:br>
            <a:endParaRPr lang="zh-CN" altLang="en-US" dirty="0">
              <a:ea typeface="思源黑体 CN Bold" panose="020B0800000000000000"/>
            </a:endParaRPr>
          </a:p>
        </p:txBody>
      </p:sp>
      <p:pic>
        <p:nvPicPr>
          <p:cNvPr id="2097197" name="图片 10"/>
          <p:cNvPicPr>
            <a:picLocks noChangeAspect="1"/>
          </p:cNvPicPr>
          <p:nvPr/>
        </p:nvPicPr>
        <p:blipFill>
          <a:blip r:embed="rId1"/>
          <a:stretch>
            <a:fillRect/>
          </a:stretch>
        </p:blipFill>
        <p:spPr>
          <a:xfrm>
            <a:off x="6174646" y="3106023"/>
            <a:ext cx="5912069" cy="2198395"/>
          </a:xfrm>
          <a:prstGeom prst="rect">
            <a:avLst/>
          </a:prstGeom>
        </p:spPr>
      </p:pic>
      <p:pic>
        <p:nvPicPr>
          <p:cNvPr id="2097198" name="图片 11"/>
          <p:cNvPicPr>
            <a:picLocks noChangeAspect="1"/>
          </p:cNvPicPr>
          <p:nvPr/>
        </p:nvPicPr>
        <p:blipFill>
          <a:blip r:embed="rId2"/>
          <a:stretch>
            <a:fillRect/>
          </a:stretch>
        </p:blipFill>
        <p:spPr>
          <a:xfrm>
            <a:off x="0" y="3072645"/>
            <a:ext cx="6002444" cy="2265153"/>
          </a:xfrm>
          <a:prstGeom prst="rect">
            <a:avLst/>
          </a:prstGeom>
        </p:spPr>
      </p:pic>
      <p:sp>
        <p:nvSpPr>
          <p:cNvPr id="1048899" name="文本占位符 3"/>
          <p:cNvSpPr txBox="1"/>
          <p:nvPr/>
        </p:nvSpPr>
        <p:spPr>
          <a:xfrm>
            <a:off x="5750560" y="6453505"/>
            <a:ext cx="1060450" cy="40449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17/23</a:t>
            </a:r>
            <a:endParaRPr lang="en-US" altLang="zh-CN" sz="2000" dirty="0"/>
          </a:p>
        </p:txBody>
      </p:sp>
      <p:grpSp>
        <p:nvGrpSpPr>
          <p:cNvPr id="121" name="组合 8"/>
          <p:cNvGrpSpPr/>
          <p:nvPr/>
        </p:nvGrpSpPr>
        <p:grpSpPr>
          <a:xfrm>
            <a:off x="4323644" y="65006"/>
            <a:ext cx="6347460" cy="396240"/>
            <a:chOff x="3330222" y="76294"/>
            <a:chExt cx="6347460" cy="396240"/>
          </a:xfrm>
        </p:grpSpPr>
        <p:sp>
          <p:nvSpPr>
            <p:cNvPr id="1048900" name="文本框 13"/>
            <p:cNvSpPr txBox="1"/>
            <p:nvPr/>
          </p:nvSpPr>
          <p:spPr>
            <a:xfrm>
              <a:off x="3330222" y="76294"/>
              <a:ext cx="1612265"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8901" name="文本框 14"/>
            <p:cNvSpPr txBox="1"/>
            <p:nvPr/>
          </p:nvSpPr>
          <p:spPr>
            <a:xfrm>
              <a:off x="4968484" y="76294"/>
              <a:ext cx="1354667" cy="3962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2.</a:t>
              </a:r>
              <a:r>
                <a:rPr lang="zh-CN" altLang="en-US" dirty="0" smtClean="0">
                  <a:solidFill>
                    <a:schemeClr val="bg1">
                      <a:lumMod val="65000"/>
                    </a:schemeClr>
                  </a:solidFill>
                  <a:ea typeface="思源黑体 CN Bold" panose="020B0800000000000000"/>
                </a:rPr>
                <a:t>信道加扰</a:t>
              </a:r>
              <a:endParaRPr lang="zh-CN" altLang="en-US" dirty="0">
                <a:solidFill>
                  <a:schemeClr val="bg1">
                    <a:lumMod val="65000"/>
                  </a:schemeClr>
                </a:solidFill>
                <a:ea typeface="思源黑体 CN Bold" panose="020B0800000000000000"/>
              </a:endParaRPr>
            </a:p>
          </p:txBody>
        </p:sp>
        <p:sp>
          <p:nvSpPr>
            <p:cNvPr id="1048902" name="文本框 15"/>
            <p:cNvSpPr txBox="1"/>
            <p:nvPr/>
          </p:nvSpPr>
          <p:spPr>
            <a:xfrm>
              <a:off x="6349012" y="76294"/>
              <a:ext cx="1653540" cy="368300"/>
            </a:xfrm>
            <a:prstGeom prst="rect">
              <a:avLst/>
            </a:prstGeom>
            <a:noFill/>
          </p:spPr>
          <p:txBody>
            <a:bodyPr wrap="square" rtlCol="0">
              <a:spAutoFit/>
            </a:bodyPr>
            <a:p>
              <a:r>
                <a:rPr lang="en-US" altLang="zh-CN" dirty="0" smtClean="0">
                  <a:solidFill>
                    <a:schemeClr val="bg1"/>
                  </a:solidFill>
                  <a:ea typeface="思源黑体 CN Bold" panose="020B0800000000000000"/>
                </a:rPr>
                <a:t>3.</a:t>
              </a:r>
              <a:r>
                <a:rPr lang="zh-CN" altLang="en-US" dirty="0" smtClean="0">
                  <a:solidFill>
                    <a:schemeClr val="bg1"/>
                  </a:solidFill>
                  <a:ea typeface="思源黑体 CN Bold" panose="020B0800000000000000"/>
                </a:rPr>
                <a:t>实现与实验</a:t>
              </a:r>
              <a:endParaRPr lang="zh-CN" altLang="en-US" dirty="0">
                <a:solidFill>
                  <a:schemeClr val="bg1"/>
                </a:solidFill>
                <a:ea typeface="思源黑体 CN Bold" panose="020B0800000000000000"/>
              </a:endParaRPr>
            </a:p>
          </p:txBody>
        </p:sp>
        <p:sp>
          <p:nvSpPr>
            <p:cNvPr id="1048903" name="文本框 16"/>
            <p:cNvSpPr txBox="1"/>
            <p:nvPr/>
          </p:nvSpPr>
          <p:spPr>
            <a:xfrm>
              <a:off x="8024142" y="92804"/>
              <a:ext cx="1653540" cy="368300"/>
            </a:xfrm>
            <a:prstGeom prst="rect">
              <a:avLst/>
            </a:prstGeom>
            <a:noFill/>
          </p:spPr>
          <p:txBody>
            <a:bodyPr wrap="square" rtlCol="0">
              <a:spAutoFit/>
            </a:bodyPr>
            <a:p>
              <a:r>
                <a:rPr lang="en-US" altLang="zh-CN" dirty="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24" name=""/>
        <p:cNvGrpSpPr/>
        <p:nvPr/>
      </p:nvGrpSpPr>
      <p:grpSpPr>
        <a:xfrm>
          <a:off x="0" y="0"/>
          <a:ext cx="0" cy="0"/>
          <a:chOff x="0" y="0"/>
          <a:chExt cx="0" cy="0"/>
        </a:xfrm>
      </p:grpSpPr>
      <p:sp>
        <p:nvSpPr>
          <p:cNvPr id="1048907" name="文本占位符 1"/>
          <p:cNvSpPr>
            <a:spLocks noGrp="1"/>
          </p:cNvSpPr>
          <p:nvPr>
            <p:ph type="body" sz="quarter" idx="12"/>
          </p:nvPr>
        </p:nvSpPr>
        <p:spPr>
          <a:xfrm>
            <a:off x="218105" y="76294"/>
            <a:ext cx="410545" cy="401955"/>
          </a:xfrm>
        </p:spPr>
        <p:txBody>
          <a:bodyPr/>
          <a:p>
            <a:r>
              <a:rPr lang="en-US" altLang="zh-CN" dirty="0" smtClean="0"/>
              <a:t>3</a:t>
            </a:r>
            <a:endParaRPr lang="zh-CN" altLang="en-US" dirty="0"/>
          </a:p>
        </p:txBody>
      </p:sp>
      <p:sp>
        <p:nvSpPr>
          <p:cNvPr id="1048908" name="文本占位符 2"/>
          <p:cNvSpPr>
            <a:spLocks noGrp="1"/>
          </p:cNvSpPr>
          <p:nvPr>
            <p:ph type="body" sz="quarter" idx="13"/>
          </p:nvPr>
        </p:nvSpPr>
        <p:spPr/>
        <p:txBody>
          <a:bodyPr/>
          <a:p>
            <a:r>
              <a:rPr lang="zh-CN" altLang="en-US" kern="0" dirty="0" smtClean="0">
                <a:ea typeface="楷体" panose="02010609060101010101" pitchFamily="49" charset="-122"/>
                <a:sym typeface="DengXian" panose="02010600030101010101" pitchFamily="2" charset="-122"/>
              </a:rPr>
              <a:t>实验分析</a:t>
            </a:r>
            <a:endParaRPr lang="zh-CN" altLang="en-US" kern="0" dirty="0">
              <a:ea typeface="楷体" panose="02010609060101010101" pitchFamily="49" charset="-122"/>
              <a:sym typeface="DengXian" panose="02010600030101010101" pitchFamily="2" charset="-122"/>
            </a:endParaRPr>
          </a:p>
        </p:txBody>
      </p:sp>
      <p:sp>
        <p:nvSpPr>
          <p:cNvPr id="1048909" name="文本框 6"/>
          <p:cNvSpPr txBox="1"/>
          <p:nvPr/>
        </p:nvSpPr>
        <p:spPr>
          <a:xfrm>
            <a:off x="218105" y="597060"/>
            <a:ext cx="11064429" cy="726439"/>
          </a:xfrm>
          <a:prstGeom prst="rect">
            <a:avLst/>
          </a:prstGeom>
          <a:noFill/>
        </p:spPr>
        <p:txBody>
          <a:bodyPr wrap="square" rtlCol="0">
            <a:spAutoFit/>
          </a:bodyPr>
          <a:p>
            <a:pPr marL="0" lvl="1">
              <a:lnSpc>
                <a:spcPct val="150000"/>
              </a:lnSpc>
            </a:pPr>
            <a:r>
              <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数据通信性能</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pic>
        <p:nvPicPr>
          <p:cNvPr id="2097199" name="图片 5"/>
          <p:cNvPicPr>
            <a:picLocks noChangeAspect="1"/>
          </p:cNvPicPr>
          <p:nvPr/>
        </p:nvPicPr>
        <p:blipFill>
          <a:blip r:embed="rId1"/>
          <a:stretch>
            <a:fillRect/>
          </a:stretch>
        </p:blipFill>
        <p:spPr>
          <a:xfrm>
            <a:off x="6174646" y="3568866"/>
            <a:ext cx="5974033" cy="2226113"/>
          </a:xfrm>
          <a:prstGeom prst="rect">
            <a:avLst/>
          </a:prstGeom>
        </p:spPr>
      </p:pic>
      <p:pic>
        <p:nvPicPr>
          <p:cNvPr id="2097200" name="图片 8"/>
          <p:cNvPicPr>
            <a:picLocks noChangeAspect="1"/>
          </p:cNvPicPr>
          <p:nvPr/>
        </p:nvPicPr>
        <p:blipFill>
          <a:blip r:embed="rId2"/>
          <a:stretch>
            <a:fillRect/>
          </a:stretch>
        </p:blipFill>
        <p:spPr>
          <a:xfrm>
            <a:off x="217804" y="3546641"/>
            <a:ext cx="5923422" cy="2248551"/>
          </a:xfrm>
          <a:prstGeom prst="rect">
            <a:avLst/>
          </a:prstGeom>
        </p:spPr>
      </p:pic>
      <p:sp>
        <p:nvSpPr>
          <p:cNvPr id="1048910" name="文本占位符 3"/>
          <p:cNvSpPr txBox="1"/>
          <p:nvPr/>
        </p:nvSpPr>
        <p:spPr>
          <a:xfrm>
            <a:off x="5750560" y="6453505"/>
            <a:ext cx="1187450" cy="40449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18/23</a:t>
            </a:r>
            <a:endParaRPr lang="en-US" altLang="zh-CN" sz="2000" dirty="0"/>
          </a:p>
        </p:txBody>
      </p:sp>
      <p:sp>
        <p:nvSpPr>
          <p:cNvPr id="1048911" name="文本框 10"/>
          <p:cNvSpPr txBox="1"/>
          <p:nvPr/>
        </p:nvSpPr>
        <p:spPr>
          <a:xfrm>
            <a:off x="574296" y="1481283"/>
            <a:ext cx="10838771" cy="2168525"/>
          </a:xfrm>
          <a:prstGeom prst="rect">
            <a:avLst/>
          </a:prstGeom>
          <a:noFill/>
        </p:spPr>
        <p:txBody>
          <a:bodyPr wrap="square" rtlCol="0">
            <a:spAutoFit/>
          </a:bodyPr>
          <a:p>
            <a:r>
              <a:rPr lang="zh-CN" altLang="en-US" dirty="0" smtClean="0">
                <a:ea typeface="思源黑体 CN Bold" panose="020B0800000000000000"/>
              </a:rPr>
              <a:t>进一步</a:t>
            </a:r>
            <a:r>
              <a:rPr lang="zh-CN" altLang="en-US" dirty="0" smtClean="0">
                <a:ea typeface="思源黑体 CN Bold" panose="020B0800000000000000"/>
              </a:rPr>
              <a:t>地，我们着重对比了在</a:t>
            </a:r>
            <a:r>
              <a:rPr lang="en-US" altLang="zh-CN" dirty="0" smtClean="0">
                <a:ea typeface="思源黑体 CN Bold" panose="020B0800000000000000"/>
              </a:rPr>
              <a:t>64QAM</a:t>
            </a:r>
            <a:r>
              <a:rPr lang="zh-CN" altLang="en-US" dirty="0" smtClean="0">
                <a:ea typeface="思源黑体 CN Bold" panose="020B0800000000000000"/>
              </a:rPr>
              <a:t>调制模式下，若干接收设备，在不同收发距离、不同加扰强度下的数据通信性能。</a:t>
            </a:r>
            <a:endParaRPr lang="en-US" altLang="zh-CN" dirty="0" smtClean="0">
              <a:ea typeface="思源黑体 CN Bold" panose="020B0800000000000000"/>
            </a:endParaRPr>
          </a:p>
          <a:p>
            <a:endParaRPr lang="en-US" altLang="zh-CN" dirty="0">
              <a:ea typeface="思源黑体 CN Bold" panose="020B0800000000000000"/>
            </a:endParaRPr>
          </a:p>
          <a:p>
            <a:pPr>
              <a:lnSpc>
                <a:spcPct val="150000"/>
              </a:lnSpc>
            </a:pPr>
            <a:r>
              <a:rPr lang="zh-CN" altLang="en-US" dirty="0" smtClean="0">
                <a:ea typeface="思源黑体 CN Bold" panose="020B0800000000000000"/>
              </a:rPr>
              <a:t>结论：</a:t>
            </a:r>
            <a:r>
              <a:rPr lang="zh-CN" altLang="en-US" dirty="0">
                <a:ea typeface="思源黑体 CN Bold" panose="020B0800000000000000"/>
              </a:rPr>
              <a:t>所有测试设备</a:t>
            </a:r>
            <a:r>
              <a:rPr lang="zh-CN" altLang="en-US" dirty="0" smtClean="0">
                <a:ea typeface="思源黑体 CN Bold" panose="020B0800000000000000"/>
              </a:rPr>
              <a:t>在 </a:t>
            </a:r>
            <a:r>
              <a:rPr lang="en-US" altLang="zh-CN" dirty="0">
                <a:ea typeface="思源黑体 CN Bold" panose="020B0800000000000000"/>
              </a:rPr>
              <a:t>64QAM </a:t>
            </a:r>
            <a:r>
              <a:rPr lang="zh-CN" altLang="en-US" dirty="0">
                <a:ea typeface="思源黑体 CN Bold" panose="020B0800000000000000"/>
              </a:rPr>
              <a:t>调制</a:t>
            </a:r>
            <a:r>
              <a:rPr lang="zh-CN" altLang="en-US" dirty="0" smtClean="0">
                <a:ea typeface="思源黑体 CN Bold" panose="020B0800000000000000"/>
              </a:rPr>
              <a:t>模式下，通信性能都没有出现质</a:t>
            </a:r>
            <a:r>
              <a:rPr lang="zh-CN" altLang="en-US" dirty="0">
                <a:ea typeface="思源黑体 CN Bold" panose="020B0800000000000000"/>
              </a:rPr>
              <a:t>的下降。 </a:t>
            </a:r>
            <a:endParaRPr lang="en-US" altLang="zh-CN" dirty="0" smtClean="0">
              <a:ea typeface="思源黑体 CN Bold" panose="020B0800000000000000"/>
            </a:endParaRPr>
          </a:p>
          <a:p>
            <a:pPr marL="742950" lvl="1" indent="-285750">
              <a:lnSpc>
                <a:spcPct val="150000"/>
              </a:lnSpc>
              <a:buFont typeface="Arial" panose="020B0604020202090204" pitchFamily="34" charset="0"/>
              <a:buChar char="•"/>
            </a:pPr>
            <a:r>
              <a:rPr lang="zh-CN" altLang="en-US" dirty="0" smtClean="0">
                <a:ea typeface="思源黑体 CN Bold" panose="020B0800000000000000"/>
              </a:rPr>
              <a:t>数据吞吐量比原始</a:t>
            </a:r>
            <a:r>
              <a:rPr lang="en-US" altLang="zh-CN" dirty="0" smtClean="0">
                <a:ea typeface="思源黑体 CN Bold" panose="020B0800000000000000"/>
              </a:rPr>
              <a:t>OpenWiFi</a:t>
            </a:r>
            <a:r>
              <a:rPr lang="zh-CN" altLang="en-US" dirty="0" smtClean="0">
                <a:ea typeface="思源黑体 CN Bold" panose="020B0800000000000000"/>
              </a:rPr>
              <a:t>下降约</a:t>
            </a:r>
            <a:r>
              <a:rPr lang="en-US" altLang="zh-CN" dirty="0" smtClean="0">
                <a:ea typeface="思源黑体 CN Bold" panose="020B0800000000000000"/>
              </a:rPr>
              <a:t>3%</a:t>
            </a:r>
            <a:endParaRPr lang="en-US" altLang="zh-CN" dirty="0" smtClean="0">
              <a:ea typeface="思源黑体 CN Bold" panose="020B0800000000000000"/>
            </a:endParaRPr>
          </a:p>
          <a:p>
            <a:pPr marL="742950" lvl="1" indent="-285750">
              <a:lnSpc>
                <a:spcPct val="150000"/>
              </a:lnSpc>
              <a:buFont typeface="Arial" panose="020B0604020202090204" pitchFamily="34" charset="0"/>
              <a:buChar char="•"/>
            </a:pPr>
            <a:r>
              <a:rPr lang="zh-CN" altLang="en-US" dirty="0">
                <a:ea typeface="思源黑体 CN Bold" panose="020B0800000000000000"/>
              </a:rPr>
              <a:t>丢包</a:t>
            </a:r>
            <a:r>
              <a:rPr lang="zh-CN" altLang="en-US" dirty="0" smtClean="0">
                <a:ea typeface="思源黑体 CN Bold" panose="020B0800000000000000"/>
              </a:rPr>
              <a:t>率小幅度上升，但仍呈现出一定随机性</a:t>
            </a:r>
            <a:endParaRPr lang="zh-CN" altLang="en-US" dirty="0">
              <a:ea typeface="思源黑体 CN Bold" panose="020B0800000000000000"/>
            </a:endParaRPr>
          </a:p>
        </p:txBody>
      </p:sp>
      <p:grpSp>
        <p:nvGrpSpPr>
          <p:cNvPr id="125" name="组合 11"/>
          <p:cNvGrpSpPr/>
          <p:nvPr/>
        </p:nvGrpSpPr>
        <p:grpSpPr>
          <a:xfrm>
            <a:off x="4323644" y="65006"/>
            <a:ext cx="6410960" cy="742315"/>
            <a:chOff x="3330222" y="76294"/>
            <a:chExt cx="6410960" cy="742315"/>
          </a:xfrm>
        </p:grpSpPr>
        <p:sp>
          <p:nvSpPr>
            <p:cNvPr id="1048912" name="文本框 12"/>
            <p:cNvSpPr txBox="1"/>
            <p:nvPr/>
          </p:nvSpPr>
          <p:spPr>
            <a:xfrm>
              <a:off x="3330222" y="76294"/>
              <a:ext cx="1612265"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8913" name="文本框 13"/>
            <p:cNvSpPr txBox="1"/>
            <p:nvPr/>
          </p:nvSpPr>
          <p:spPr>
            <a:xfrm>
              <a:off x="4968484" y="76294"/>
              <a:ext cx="1354667" cy="3962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2.</a:t>
              </a:r>
              <a:r>
                <a:rPr lang="zh-CN" altLang="en-US" dirty="0" smtClean="0">
                  <a:solidFill>
                    <a:schemeClr val="bg1">
                      <a:lumMod val="65000"/>
                    </a:schemeClr>
                  </a:solidFill>
                  <a:ea typeface="思源黑体 CN Bold" panose="020B0800000000000000"/>
                </a:rPr>
                <a:t>信道加扰</a:t>
              </a:r>
              <a:endParaRPr lang="zh-CN" altLang="en-US" dirty="0">
                <a:solidFill>
                  <a:schemeClr val="bg1">
                    <a:lumMod val="65000"/>
                  </a:schemeClr>
                </a:solidFill>
                <a:ea typeface="思源黑体 CN Bold" panose="020B0800000000000000"/>
              </a:endParaRPr>
            </a:p>
          </p:txBody>
        </p:sp>
        <p:sp>
          <p:nvSpPr>
            <p:cNvPr id="1048914" name="文本框 14"/>
            <p:cNvSpPr txBox="1"/>
            <p:nvPr/>
          </p:nvSpPr>
          <p:spPr>
            <a:xfrm>
              <a:off x="6349012" y="76294"/>
              <a:ext cx="1653540" cy="368300"/>
            </a:xfrm>
            <a:prstGeom prst="rect">
              <a:avLst/>
            </a:prstGeom>
            <a:noFill/>
          </p:spPr>
          <p:txBody>
            <a:bodyPr wrap="square" rtlCol="0">
              <a:spAutoFit/>
            </a:bodyPr>
            <a:p>
              <a:r>
                <a:rPr lang="en-US" altLang="zh-CN" dirty="0" smtClean="0">
                  <a:solidFill>
                    <a:schemeClr val="bg1"/>
                  </a:solidFill>
                  <a:ea typeface="思源黑体 CN Bold" panose="020B0800000000000000"/>
                </a:rPr>
                <a:t>3.</a:t>
              </a:r>
              <a:r>
                <a:rPr lang="zh-CN" altLang="en-US" dirty="0" smtClean="0">
                  <a:solidFill>
                    <a:schemeClr val="bg1"/>
                  </a:solidFill>
                  <a:ea typeface="思源黑体 CN Bold" panose="020B0800000000000000"/>
                </a:rPr>
                <a:t>实现与实验</a:t>
              </a:r>
              <a:endParaRPr lang="zh-CN" altLang="en-US" dirty="0">
                <a:solidFill>
                  <a:schemeClr val="bg1"/>
                </a:solidFill>
                <a:ea typeface="思源黑体 CN Bold" panose="020B0800000000000000"/>
              </a:endParaRPr>
            </a:p>
          </p:txBody>
        </p:sp>
        <p:sp>
          <p:nvSpPr>
            <p:cNvPr id="1048915" name="文本框 15"/>
            <p:cNvSpPr txBox="1"/>
            <p:nvPr/>
          </p:nvSpPr>
          <p:spPr>
            <a:xfrm>
              <a:off x="8024142" y="92804"/>
              <a:ext cx="1717040" cy="725805"/>
            </a:xfrm>
            <a:prstGeom prst="rect">
              <a:avLst/>
            </a:prstGeom>
            <a:noFill/>
          </p:spPr>
          <p:txBody>
            <a:bodyPr wrap="square" rtlCol="0">
              <a:noAutofit/>
            </a:bodyPr>
            <a:p>
              <a:r>
                <a:rPr lang="en-US" altLang="zh-CN" dirty="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28" name=""/>
        <p:cNvGrpSpPr/>
        <p:nvPr/>
      </p:nvGrpSpPr>
      <p:grpSpPr>
        <a:xfrm>
          <a:off x="0" y="0"/>
          <a:ext cx="0" cy="0"/>
          <a:chOff x="0" y="0"/>
          <a:chExt cx="0" cy="0"/>
        </a:xfrm>
      </p:grpSpPr>
      <p:sp>
        <p:nvSpPr>
          <p:cNvPr id="1048919" name="文本占位符 1"/>
          <p:cNvSpPr>
            <a:spLocks noGrp="1"/>
          </p:cNvSpPr>
          <p:nvPr>
            <p:ph type="body" sz="quarter" idx="12"/>
          </p:nvPr>
        </p:nvSpPr>
        <p:spPr>
          <a:xfrm>
            <a:off x="218105" y="76294"/>
            <a:ext cx="410545" cy="401955"/>
          </a:xfrm>
        </p:spPr>
        <p:txBody>
          <a:bodyPr/>
          <a:p>
            <a:r>
              <a:rPr lang="en-US" altLang="zh-CN" dirty="0" smtClean="0"/>
              <a:t>3</a:t>
            </a:r>
            <a:endParaRPr lang="zh-CN" altLang="en-US" dirty="0"/>
          </a:p>
        </p:txBody>
      </p:sp>
      <p:sp>
        <p:nvSpPr>
          <p:cNvPr id="1048920" name="文本占位符 2"/>
          <p:cNvSpPr>
            <a:spLocks noGrp="1"/>
          </p:cNvSpPr>
          <p:nvPr>
            <p:ph type="body" sz="quarter" idx="13"/>
          </p:nvPr>
        </p:nvSpPr>
        <p:spPr/>
        <p:txBody>
          <a:bodyPr/>
          <a:p>
            <a:r>
              <a:rPr lang="zh-CN" altLang="en-US" kern="0" dirty="0" smtClean="0">
                <a:ea typeface="楷体" panose="02010609060101010101" pitchFamily="49" charset="-122"/>
                <a:sym typeface="DengXian" panose="02010600030101010101" pitchFamily="2" charset="-122"/>
              </a:rPr>
              <a:t>实验结果</a:t>
            </a:r>
            <a:endParaRPr lang="zh-CN" altLang="en-US" kern="0" dirty="0">
              <a:ea typeface="楷体" panose="02010609060101010101" pitchFamily="49" charset="-122"/>
              <a:sym typeface="DengXian" panose="02010600030101010101" pitchFamily="2" charset="-122"/>
            </a:endParaRPr>
          </a:p>
        </p:txBody>
      </p:sp>
      <p:sp>
        <p:nvSpPr>
          <p:cNvPr id="1048921" name="文本框 6"/>
          <p:cNvSpPr txBox="1"/>
          <p:nvPr/>
        </p:nvSpPr>
        <p:spPr>
          <a:xfrm>
            <a:off x="-186222" y="563194"/>
            <a:ext cx="11064429" cy="726440"/>
          </a:xfrm>
          <a:prstGeom prst="rect">
            <a:avLst/>
          </a:prstGeom>
          <a:noFill/>
        </p:spPr>
        <p:txBody>
          <a:bodyPr wrap="square" rtlCol="0">
            <a:spAutoFit/>
          </a:bodyPr>
          <a:p>
            <a:pPr lvl="1">
              <a:lnSpc>
                <a:spcPct val="150000"/>
              </a:lnSpc>
            </a:pPr>
            <a:r>
              <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加扰</a:t>
            </a: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性能及合法感知性能</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sp>
        <p:nvSpPr>
          <p:cNvPr id="1048922" name="文本占位符 3"/>
          <p:cNvSpPr txBox="1"/>
          <p:nvPr/>
        </p:nvSpPr>
        <p:spPr>
          <a:xfrm>
            <a:off x="5912069" y="6368155"/>
            <a:ext cx="367862" cy="369332"/>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a:t>2</a:t>
            </a:r>
            <a:endParaRPr lang="en-US" altLang="zh-CN" sz="2000" dirty="0"/>
          </a:p>
        </p:txBody>
      </p:sp>
      <p:pic>
        <p:nvPicPr>
          <p:cNvPr id="2097201" name="图片 5"/>
          <p:cNvPicPr>
            <a:picLocks noChangeAspect="1"/>
          </p:cNvPicPr>
          <p:nvPr/>
        </p:nvPicPr>
        <p:blipFill>
          <a:blip r:embed="rId1" cstate="print"/>
          <a:stretch>
            <a:fillRect/>
          </a:stretch>
        </p:blipFill>
        <p:spPr>
          <a:xfrm>
            <a:off x="5647959" y="651171"/>
            <a:ext cx="3094100" cy="3002123"/>
          </a:xfrm>
          <a:prstGeom prst="rect">
            <a:avLst/>
          </a:prstGeom>
        </p:spPr>
      </p:pic>
      <p:pic>
        <p:nvPicPr>
          <p:cNvPr id="2097202" name="图片 8"/>
          <p:cNvPicPr>
            <a:picLocks noChangeAspect="1"/>
          </p:cNvPicPr>
          <p:nvPr/>
        </p:nvPicPr>
        <p:blipFill>
          <a:blip r:embed="rId2" cstate="print"/>
          <a:stretch>
            <a:fillRect/>
          </a:stretch>
        </p:blipFill>
        <p:spPr>
          <a:xfrm>
            <a:off x="8910720" y="637849"/>
            <a:ext cx="3116305" cy="3009101"/>
          </a:xfrm>
          <a:prstGeom prst="rect">
            <a:avLst/>
          </a:prstGeom>
        </p:spPr>
      </p:pic>
      <p:pic>
        <p:nvPicPr>
          <p:cNvPr id="2097203" name="图片 9"/>
          <p:cNvPicPr>
            <a:picLocks noChangeAspect="1"/>
          </p:cNvPicPr>
          <p:nvPr/>
        </p:nvPicPr>
        <p:blipFill>
          <a:blip r:embed="rId3"/>
          <a:stretch>
            <a:fillRect/>
          </a:stretch>
        </p:blipFill>
        <p:spPr>
          <a:xfrm>
            <a:off x="92111" y="3706907"/>
            <a:ext cx="3110855" cy="3009551"/>
          </a:xfrm>
          <a:prstGeom prst="rect">
            <a:avLst/>
          </a:prstGeom>
        </p:spPr>
      </p:pic>
      <p:pic>
        <p:nvPicPr>
          <p:cNvPr id="2097204" name="图片 10"/>
          <p:cNvPicPr>
            <a:picLocks noChangeAspect="1"/>
          </p:cNvPicPr>
          <p:nvPr/>
        </p:nvPicPr>
        <p:blipFill>
          <a:blip r:embed="rId4"/>
          <a:stretch>
            <a:fillRect/>
          </a:stretch>
        </p:blipFill>
        <p:spPr>
          <a:xfrm>
            <a:off x="3202624" y="3685878"/>
            <a:ext cx="3114880" cy="3030580"/>
          </a:xfrm>
          <a:prstGeom prst="rect">
            <a:avLst/>
          </a:prstGeom>
        </p:spPr>
      </p:pic>
      <p:sp>
        <p:nvSpPr>
          <p:cNvPr id="1048923" name="文本框 11"/>
          <p:cNvSpPr txBox="1"/>
          <p:nvPr/>
        </p:nvSpPr>
        <p:spPr>
          <a:xfrm>
            <a:off x="218105" y="1469945"/>
            <a:ext cx="5404485" cy="1753235"/>
          </a:xfrm>
          <a:prstGeom prst="rect">
            <a:avLst/>
          </a:prstGeom>
          <a:noFill/>
        </p:spPr>
        <p:txBody>
          <a:bodyPr wrap="none" rtlCol="0">
            <a:spAutoFit/>
          </a:bodyPr>
          <a:p>
            <a:pPr marL="285750" indent="-285750">
              <a:buFont typeface="Wingdings" panose="05000000000000000000" pitchFamily="2" charset="2"/>
              <a:buChar char="Ø"/>
            </a:pPr>
            <a:r>
              <a:rPr lang="zh-CN" altLang="en-US" dirty="0">
                <a:solidFill>
                  <a:srgbClr val="7030A0"/>
                </a:solidFill>
                <a:ea typeface="思源黑体 CN Bold" panose="020B0800000000000000"/>
              </a:rPr>
              <a:t>场景</a:t>
            </a:r>
            <a:r>
              <a:rPr lang="zh-CN" altLang="en-US" dirty="0" smtClean="0">
                <a:solidFill>
                  <a:srgbClr val="7030A0"/>
                </a:solidFill>
                <a:ea typeface="思源黑体 CN Bold" panose="020B0800000000000000"/>
              </a:rPr>
              <a:t>一</a:t>
            </a:r>
            <a:r>
              <a:rPr lang="en-US" altLang="zh-CN" dirty="0" smtClean="0">
                <a:solidFill>
                  <a:srgbClr val="7030A0"/>
                </a:solidFill>
                <a:ea typeface="思源黑体 CN Bold" panose="020B0800000000000000"/>
              </a:rPr>
              <a:t>: </a:t>
            </a:r>
            <a:r>
              <a:rPr lang="zh-CN" altLang="en-US" dirty="0" smtClean="0">
                <a:ea typeface="思源黑体 CN Bold" panose="020B0800000000000000"/>
              </a:rPr>
              <a:t>环境静止，</a:t>
            </a:r>
            <a:r>
              <a:rPr lang="en-US" altLang="zh-CN" dirty="0" smtClean="0">
                <a:ea typeface="思源黑体 CN Bold" panose="020B0800000000000000"/>
              </a:rPr>
              <a:t>CSS</a:t>
            </a:r>
            <a:r>
              <a:rPr lang="zh-CN" altLang="en-US" dirty="0" smtClean="0">
                <a:ea typeface="思源黑体 CN Bold" panose="020B0800000000000000"/>
              </a:rPr>
              <a:t>发送模拟信号欺骗窃听者</a:t>
            </a:r>
            <a:endParaRPr lang="en-US" altLang="zh-CN" dirty="0" smtClean="0">
              <a:ea typeface="思源黑体 CN Bold" panose="020B0800000000000000"/>
            </a:endParaRPr>
          </a:p>
          <a:p>
            <a:endParaRPr lang="en-US" altLang="zh-CN" dirty="0" smtClean="0">
              <a:solidFill>
                <a:srgbClr val="7030A0"/>
              </a:solidFill>
              <a:ea typeface="思源黑体 CN Bold" panose="020B0800000000000000"/>
            </a:endParaRPr>
          </a:p>
          <a:p>
            <a:pPr marL="742950" lvl="1" indent="-285750">
              <a:buFont typeface="Wingdings" panose="05000000000000000000" pitchFamily="2" charset="2"/>
              <a:buChar char="l"/>
            </a:pPr>
            <a:r>
              <a:rPr lang="zh-CN" altLang="en-US" dirty="0" smtClean="0">
                <a:ea typeface="思源黑体 CN Bold" panose="020B0800000000000000"/>
              </a:rPr>
              <a:t>欺骗成功率达到</a:t>
            </a:r>
            <a:r>
              <a:rPr lang="en-US" altLang="zh-CN" dirty="0" smtClean="0">
                <a:ea typeface="思源黑体 CN Bold" panose="020B0800000000000000"/>
              </a:rPr>
              <a:t>99%</a:t>
            </a:r>
            <a:endParaRPr lang="en-US" altLang="zh-CN" dirty="0" smtClean="0">
              <a:ea typeface="思源黑体 CN Bold" panose="020B0800000000000000"/>
            </a:endParaRPr>
          </a:p>
          <a:p>
            <a:pPr marL="742950" lvl="1" indent="-285750">
              <a:buFont typeface="Wingdings" panose="05000000000000000000" pitchFamily="2" charset="2"/>
              <a:buChar char="l"/>
            </a:pPr>
            <a:endParaRPr lang="en-US" altLang="zh-CN" dirty="0">
              <a:solidFill>
                <a:srgbClr val="7030A0"/>
              </a:solidFill>
              <a:ea typeface="思源黑体 CN Bold" panose="020B0800000000000000"/>
            </a:endParaRPr>
          </a:p>
          <a:p>
            <a:pPr marL="742950" lvl="1" indent="-285750">
              <a:buFont typeface="Wingdings" panose="05000000000000000000" pitchFamily="2" charset="2"/>
              <a:buChar char="l"/>
            </a:pPr>
            <a:r>
              <a:rPr lang="zh-CN" altLang="en-US" dirty="0" smtClean="0">
                <a:ea typeface="思源黑体 CN Bold" panose="020B0800000000000000"/>
              </a:rPr>
              <a:t>合法感知器解扰后，</a:t>
            </a:r>
            <a:r>
              <a:rPr lang="en-US" altLang="zh-CN" dirty="0" smtClean="0">
                <a:ea typeface="思源黑体 CN Bold" panose="020B0800000000000000"/>
              </a:rPr>
              <a:t>99%</a:t>
            </a:r>
            <a:r>
              <a:rPr lang="zh-CN" altLang="en-US" dirty="0" smtClean="0">
                <a:ea typeface="思源黑体 CN Bold" panose="020B0800000000000000"/>
              </a:rPr>
              <a:t>被</a:t>
            </a:r>
            <a:r>
              <a:rPr lang="zh-CN" altLang="en-US" dirty="0" smtClean="0">
                <a:ea typeface="思源黑体 CN Bold" panose="020B0800000000000000"/>
              </a:rPr>
              <a:t>正确识别为静止</a:t>
            </a:r>
            <a:endParaRPr lang="en-US" altLang="zh-CN" dirty="0" smtClean="0">
              <a:ea typeface="思源黑体 CN Bold" panose="020B0800000000000000"/>
            </a:endParaRPr>
          </a:p>
          <a:p>
            <a:pPr marL="742950" lvl="1" indent="-285750">
              <a:buFont typeface="Arial" panose="020B0604020202090204" pitchFamily="34" charset="0"/>
              <a:buChar char="•"/>
            </a:pPr>
            <a:endParaRPr lang="zh-CN" altLang="en-US" dirty="0">
              <a:solidFill>
                <a:srgbClr val="7030A0"/>
              </a:solidFill>
            </a:endParaRPr>
          </a:p>
        </p:txBody>
      </p:sp>
      <p:sp>
        <p:nvSpPr>
          <p:cNvPr id="1048924" name="文本框 12"/>
          <p:cNvSpPr txBox="1"/>
          <p:nvPr/>
        </p:nvSpPr>
        <p:spPr>
          <a:xfrm>
            <a:off x="6280039" y="4306052"/>
            <a:ext cx="5633085" cy="2306955"/>
          </a:xfrm>
          <a:prstGeom prst="rect">
            <a:avLst/>
          </a:prstGeom>
          <a:noFill/>
        </p:spPr>
        <p:txBody>
          <a:bodyPr wrap="none" rtlCol="0">
            <a:spAutoFit/>
          </a:bodyPr>
          <a:p>
            <a:pPr marL="285750" indent="-285750">
              <a:buFont typeface="Wingdings" panose="05000000000000000000" pitchFamily="2" charset="2"/>
              <a:buChar char="Ø"/>
            </a:pPr>
            <a:r>
              <a:rPr lang="zh-CN" altLang="en-US" dirty="0">
                <a:solidFill>
                  <a:srgbClr val="7030A0"/>
                </a:solidFill>
                <a:ea typeface="思源黑体 CN Bold" panose="020B0800000000000000"/>
              </a:rPr>
              <a:t>场景二</a:t>
            </a:r>
            <a:r>
              <a:rPr lang="en-US" altLang="zh-CN" dirty="0">
                <a:ea typeface="思源黑体 CN Bold" panose="020B0800000000000000"/>
              </a:rPr>
              <a:t>: CSS</a:t>
            </a:r>
            <a:r>
              <a:rPr lang="zh-CN" altLang="en-US" dirty="0" smtClean="0">
                <a:ea typeface="思源黑体 CN Bold" panose="020B0800000000000000"/>
              </a:rPr>
              <a:t>发送走路信号</a:t>
            </a:r>
            <a:r>
              <a:rPr lang="zh-CN" altLang="en-US" dirty="0">
                <a:ea typeface="思源黑体 CN Bold" panose="020B0800000000000000"/>
              </a:rPr>
              <a:t>去</a:t>
            </a:r>
            <a:r>
              <a:rPr lang="zh-CN" altLang="en-US" dirty="0">
                <a:ea typeface="思源黑体 CN Bold" panose="020B0800000000000000"/>
              </a:rPr>
              <a:t>加扰环境中的</a:t>
            </a:r>
            <a:r>
              <a:rPr lang="zh-CN" altLang="en-US" dirty="0" smtClean="0">
                <a:ea typeface="思源黑体 CN Bold" panose="020B0800000000000000"/>
              </a:rPr>
              <a:t>真实信息</a:t>
            </a:r>
            <a:endParaRPr lang="en-US" altLang="zh-CN" dirty="0">
              <a:ea typeface="思源黑体 CN Bold" panose="020B0800000000000000"/>
            </a:endParaRPr>
          </a:p>
          <a:p>
            <a:endParaRPr lang="en-US" altLang="zh-CN" dirty="0">
              <a:ea typeface="思源黑体 CN Bold" panose="020B0800000000000000"/>
            </a:endParaRPr>
          </a:p>
          <a:p>
            <a:pPr marL="742950" lvl="1" indent="-285750">
              <a:buFont typeface="Wingdings" panose="05000000000000000000" pitchFamily="2" charset="2"/>
              <a:buChar char="l"/>
            </a:pPr>
            <a:r>
              <a:rPr lang="zh-CN" altLang="en-US" dirty="0">
                <a:ea typeface="思源黑体 CN Bold" panose="020B0800000000000000"/>
              </a:rPr>
              <a:t>不论环境中的人在做什么动作，模型都倾向于</a:t>
            </a:r>
            <a:endParaRPr lang="en-US" altLang="zh-CN" dirty="0">
              <a:ea typeface="思源黑体 CN Bold" panose="020B0800000000000000"/>
            </a:endParaRPr>
          </a:p>
          <a:p>
            <a:pPr lvl="1"/>
            <a:r>
              <a:rPr lang="en-US" altLang="zh-CN" dirty="0">
                <a:ea typeface="思源黑体 CN Bold" panose="020B0800000000000000"/>
              </a:rPr>
              <a:t>     </a:t>
            </a:r>
            <a:r>
              <a:rPr lang="zh-CN" altLang="en-US" dirty="0">
                <a:ea typeface="思源黑体 CN Bold" panose="020B0800000000000000"/>
              </a:rPr>
              <a:t>认为环境</a:t>
            </a:r>
            <a:r>
              <a:rPr lang="zh-CN" altLang="en-US" dirty="0">
                <a:ea typeface="思源黑体 CN Bold" panose="020B0800000000000000"/>
              </a:rPr>
              <a:t>中有人在走路</a:t>
            </a:r>
            <a:endParaRPr lang="en-US" altLang="zh-CN" dirty="0">
              <a:ea typeface="思源黑体 CN Bold" panose="020B0800000000000000"/>
            </a:endParaRPr>
          </a:p>
          <a:p>
            <a:pPr lvl="1"/>
            <a:endParaRPr lang="en-US" altLang="zh-CN" dirty="0">
              <a:ea typeface="思源黑体 CN Bold" panose="020B0800000000000000"/>
            </a:endParaRPr>
          </a:p>
          <a:p>
            <a:pPr marL="742950" lvl="1" indent="-285750">
              <a:buFont typeface="Wingdings" panose="05000000000000000000" pitchFamily="2" charset="2"/>
              <a:buChar char="l"/>
            </a:pPr>
            <a:r>
              <a:rPr lang="zh-CN" altLang="en-US" dirty="0">
                <a:ea typeface="思源黑体 CN Bold" panose="020B0800000000000000"/>
              </a:rPr>
              <a:t>合法感知器解扰后，</a:t>
            </a:r>
            <a:r>
              <a:rPr lang="en-US" altLang="zh-CN" dirty="0">
                <a:ea typeface="思源黑体 CN Bold" panose="020B0800000000000000"/>
              </a:rPr>
              <a:t>99%</a:t>
            </a:r>
            <a:r>
              <a:rPr lang="zh-CN" altLang="en-US" dirty="0">
                <a:ea typeface="思源黑体 CN Bold" panose="020B0800000000000000"/>
              </a:rPr>
              <a:t>的</a:t>
            </a:r>
            <a:r>
              <a:rPr lang="zh-CN" altLang="en-US" dirty="0">
                <a:ea typeface="思源黑体 CN Bold" panose="020B0800000000000000"/>
              </a:rPr>
              <a:t>样本被</a:t>
            </a:r>
            <a:r>
              <a:rPr lang="zh-CN" altLang="en-US" dirty="0">
                <a:ea typeface="思源黑体 CN Bold" panose="020B0800000000000000"/>
              </a:rPr>
              <a:t>正确识别为</a:t>
            </a:r>
            <a:endParaRPr lang="zh-CN" altLang="en-US" dirty="0">
              <a:ea typeface="思源黑体 CN Bold" panose="020B0800000000000000"/>
            </a:endParaRPr>
          </a:p>
          <a:p>
            <a:pPr lvl="1" indent="0">
              <a:buFont typeface="Wingdings" panose="05000000000000000000" pitchFamily="2" charset="2"/>
              <a:buNone/>
            </a:pPr>
            <a:r>
              <a:rPr lang="en-US" altLang="zh-CN" dirty="0">
                <a:ea typeface="思源黑体 CN Bold" panose="020B0800000000000000"/>
              </a:rPr>
              <a:t>    </a:t>
            </a:r>
            <a:r>
              <a:rPr lang="zh-CN" altLang="en-US" dirty="0">
                <a:ea typeface="思源黑体 CN Bold" panose="020B0800000000000000"/>
              </a:rPr>
              <a:t>相应的真实活动</a:t>
            </a:r>
            <a:endParaRPr lang="en-US" altLang="zh-CN" dirty="0">
              <a:ea typeface="思源黑体 CN Bold" panose="020B0800000000000000"/>
            </a:endParaRPr>
          </a:p>
          <a:p>
            <a:pPr marL="742950" lvl="1" indent="-285750">
              <a:buFont typeface="Arial" panose="020B0604020202090204" pitchFamily="34" charset="0"/>
              <a:buChar char="•"/>
            </a:pPr>
            <a:endParaRPr lang="zh-CN" altLang="en-US" dirty="0">
              <a:ea typeface="思源黑体 CN Bold" panose="020B0800000000000000"/>
            </a:endParaRPr>
          </a:p>
        </p:txBody>
      </p:sp>
      <p:cxnSp>
        <p:nvCxnSpPr>
          <p:cNvPr id="3145747" name="直接连接符 4"/>
          <p:cNvCxnSpPr/>
          <p:nvPr/>
        </p:nvCxnSpPr>
        <p:spPr>
          <a:xfrm>
            <a:off x="4637371" y="3224272"/>
            <a:ext cx="3935392" cy="845356"/>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48" name="直接连接符 19"/>
          <p:cNvCxnSpPr/>
          <p:nvPr/>
        </p:nvCxnSpPr>
        <p:spPr>
          <a:xfrm>
            <a:off x="0" y="3224272"/>
            <a:ext cx="4637371" cy="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49" name="直接连接符 22"/>
          <p:cNvCxnSpPr/>
          <p:nvPr/>
        </p:nvCxnSpPr>
        <p:spPr>
          <a:xfrm>
            <a:off x="8572763" y="4069628"/>
            <a:ext cx="3542782" cy="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925" name="文本占位符 3"/>
          <p:cNvSpPr txBox="1"/>
          <p:nvPr/>
        </p:nvSpPr>
        <p:spPr>
          <a:xfrm>
            <a:off x="7342505" y="6530975"/>
            <a:ext cx="1172845" cy="39560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19/23</a:t>
            </a:r>
            <a:endParaRPr lang="en-US" altLang="zh-CN" sz="2000" dirty="0"/>
          </a:p>
        </p:txBody>
      </p:sp>
      <p:grpSp>
        <p:nvGrpSpPr>
          <p:cNvPr id="129" name="组合 15"/>
          <p:cNvGrpSpPr/>
          <p:nvPr/>
        </p:nvGrpSpPr>
        <p:grpSpPr>
          <a:xfrm>
            <a:off x="4323644" y="65006"/>
            <a:ext cx="6369685" cy="586105"/>
            <a:chOff x="3330222" y="76294"/>
            <a:chExt cx="6369685" cy="586105"/>
          </a:xfrm>
        </p:grpSpPr>
        <p:sp>
          <p:nvSpPr>
            <p:cNvPr id="1048926" name="文本框 16"/>
            <p:cNvSpPr txBox="1"/>
            <p:nvPr/>
          </p:nvSpPr>
          <p:spPr>
            <a:xfrm>
              <a:off x="3330222" y="76294"/>
              <a:ext cx="1588770"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8927" name="文本框 17"/>
            <p:cNvSpPr txBox="1"/>
            <p:nvPr/>
          </p:nvSpPr>
          <p:spPr>
            <a:xfrm>
              <a:off x="4968484" y="76294"/>
              <a:ext cx="1354667" cy="3962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2.</a:t>
              </a:r>
              <a:r>
                <a:rPr lang="zh-CN" altLang="en-US" dirty="0" smtClean="0">
                  <a:solidFill>
                    <a:schemeClr val="bg1">
                      <a:lumMod val="65000"/>
                    </a:schemeClr>
                  </a:solidFill>
                  <a:ea typeface="思源黑体 CN Bold" panose="020B0800000000000000"/>
                </a:rPr>
                <a:t>信道加扰</a:t>
              </a:r>
              <a:endParaRPr lang="zh-CN" altLang="en-US" dirty="0">
                <a:solidFill>
                  <a:schemeClr val="bg1">
                    <a:lumMod val="65000"/>
                  </a:schemeClr>
                </a:solidFill>
                <a:ea typeface="思源黑体 CN Bold" panose="020B0800000000000000"/>
              </a:endParaRPr>
            </a:p>
          </p:txBody>
        </p:sp>
        <p:sp>
          <p:nvSpPr>
            <p:cNvPr id="1048928" name="文本框 18"/>
            <p:cNvSpPr txBox="1"/>
            <p:nvPr/>
          </p:nvSpPr>
          <p:spPr>
            <a:xfrm>
              <a:off x="6349012" y="76294"/>
              <a:ext cx="1675130" cy="368300"/>
            </a:xfrm>
            <a:prstGeom prst="rect">
              <a:avLst/>
            </a:prstGeom>
            <a:noFill/>
          </p:spPr>
          <p:txBody>
            <a:bodyPr wrap="square" rtlCol="0">
              <a:spAutoFit/>
            </a:bodyPr>
            <a:p>
              <a:r>
                <a:rPr lang="en-US" altLang="zh-CN" dirty="0" smtClean="0">
                  <a:solidFill>
                    <a:schemeClr val="bg1"/>
                  </a:solidFill>
                  <a:ea typeface="思源黑体 CN Bold" panose="020B0800000000000000"/>
                </a:rPr>
                <a:t>3.</a:t>
              </a:r>
              <a:r>
                <a:rPr lang="zh-CN" altLang="en-US" dirty="0" smtClean="0">
                  <a:solidFill>
                    <a:schemeClr val="bg1"/>
                  </a:solidFill>
                  <a:ea typeface="思源黑体 CN Bold" panose="020B0800000000000000"/>
                </a:rPr>
                <a:t>实现与实验</a:t>
              </a:r>
              <a:endParaRPr lang="zh-CN" altLang="en-US" dirty="0">
                <a:solidFill>
                  <a:schemeClr val="bg1"/>
                </a:solidFill>
                <a:ea typeface="思源黑体 CN Bold" panose="020B0800000000000000"/>
              </a:endParaRPr>
            </a:p>
          </p:txBody>
        </p:sp>
        <p:sp>
          <p:nvSpPr>
            <p:cNvPr id="1048929" name="文本框 20"/>
            <p:cNvSpPr txBox="1"/>
            <p:nvPr/>
          </p:nvSpPr>
          <p:spPr>
            <a:xfrm>
              <a:off x="8024142" y="92804"/>
              <a:ext cx="1675765" cy="569595"/>
            </a:xfrm>
            <a:prstGeom prst="rect">
              <a:avLst/>
            </a:prstGeom>
            <a:noFill/>
          </p:spPr>
          <p:txBody>
            <a:bodyPr wrap="square" rtlCol="0">
              <a:noAutofit/>
            </a:bodyPr>
            <a:p>
              <a:r>
                <a:rPr lang="en-US" altLang="zh-CN" dirty="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9720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9720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489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4574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4574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457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24" grpId="0"/>
      <p:bldP spid="1048924"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36" name=""/>
        <p:cNvGrpSpPr/>
        <p:nvPr/>
      </p:nvGrpSpPr>
      <p:grpSpPr>
        <a:xfrm>
          <a:off x="0" y="0"/>
          <a:ext cx="0" cy="0"/>
          <a:chOff x="0" y="0"/>
          <a:chExt cx="0" cy="0"/>
        </a:xfrm>
      </p:grpSpPr>
      <p:sp>
        <p:nvSpPr>
          <p:cNvPr id="1048944" name="文本占位符 1"/>
          <p:cNvSpPr>
            <a:spLocks noGrp="1"/>
          </p:cNvSpPr>
          <p:nvPr>
            <p:ph type="body" sz="quarter" idx="12"/>
          </p:nvPr>
        </p:nvSpPr>
        <p:spPr>
          <a:xfrm>
            <a:off x="218106" y="81066"/>
            <a:ext cx="410545" cy="401955"/>
          </a:xfrm>
        </p:spPr>
        <p:txBody>
          <a:bodyPr/>
          <a:p>
            <a:r>
              <a:rPr lang="en-US" altLang="zh-CN" dirty="0"/>
              <a:t>4</a:t>
            </a:r>
            <a:endParaRPr lang="zh-CN" altLang="en-US" dirty="0"/>
          </a:p>
        </p:txBody>
      </p:sp>
      <p:sp>
        <p:nvSpPr>
          <p:cNvPr id="1048945" name="文本占位符 2"/>
          <p:cNvSpPr>
            <a:spLocks noGrp="1"/>
          </p:cNvSpPr>
          <p:nvPr>
            <p:ph type="body" sz="quarter" idx="13"/>
          </p:nvPr>
        </p:nvSpPr>
        <p:spPr>
          <a:xfrm>
            <a:off x="816623" y="76295"/>
            <a:ext cx="3797418" cy="401955"/>
          </a:xfrm>
        </p:spPr>
        <p:txBody>
          <a:bodyPr/>
          <a:p>
            <a:r>
              <a:rPr lang="zh-CN" altLang="en-US" kern="0" dirty="0" smtClean="0">
                <a:ea typeface="楷体" panose="02010609060101010101" pitchFamily="49" charset="-122"/>
                <a:sym typeface="DengXian" panose="02010600030101010101" pitchFamily="2" charset="-122"/>
              </a:rPr>
              <a:t>展望与总结</a:t>
            </a:r>
            <a:endParaRPr lang="zh-CN" altLang="en-US" kern="0" dirty="0">
              <a:ea typeface="楷体" panose="02010609060101010101" pitchFamily="49" charset="-122"/>
              <a:sym typeface="DengXian" panose="02010600030101010101" pitchFamily="2" charset="-122"/>
            </a:endParaRPr>
          </a:p>
        </p:txBody>
      </p:sp>
      <p:sp>
        <p:nvSpPr>
          <p:cNvPr id="1048946" name="文本框 6"/>
          <p:cNvSpPr txBox="1"/>
          <p:nvPr/>
        </p:nvSpPr>
        <p:spPr>
          <a:xfrm>
            <a:off x="423378" y="968726"/>
            <a:ext cx="11064429" cy="4384040"/>
          </a:xfrm>
          <a:prstGeom prst="rect">
            <a:avLst/>
          </a:prstGeom>
          <a:noFill/>
        </p:spPr>
        <p:txBody>
          <a:bodyPr wrap="square" rtlCol="0">
            <a:spAutoFit/>
          </a:bodyPr>
          <a:p>
            <a:pPr>
              <a:lnSpc>
                <a:spcPct val="150000"/>
              </a:lnSpc>
            </a:pPr>
            <a:r>
              <a:rPr lang="zh-CN" altLang="en-US" sz="2500" dirty="0">
                <a:solidFill>
                  <a:srgbClr val="9E008B"/>
                </a:solidFill>
                <a:latin typeface="DengXian" panose="02010600030101010101" pitchFamily="2" charset="-122"/>
                <a:ea typeface="思源黑体 CN Bold" panose="020B0800000000000000" pitchFamily="34" charset="-122"/>
                <a:sym typeface="DengXian" panose="02010600030101010101" pitchFamily="2" charset="-122"/>
              </a:rPr>
              <a:t>总结</a:t>
            </a:r>
            <a:endParaRPr lang="en-US" altLang="zh-CN" sz="100" dirty="0">
              <a:latin typeface="DengXian" panose="02010600030101010101" pitchFamily="2" charset="-122"/>
              <a:ea typeface="微软雅黑" panose="020B0503020204020204" pitchFamily="34" charset="-122"/>
              <a:sym typeface="DengXian" panose="02010600030101010101" pitchFamily="2" charset="-122"/>
            </a:endParaRPr>
          </a:p>
          <a:p>
            <a:pPr lvl="1">
              <a:lnSpc>
                <a:spcPct val="150000"/>
              </a:lnSpc>
            </a:pP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在研究生期间</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我</a:t>
            </a: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对</a:t>
            </a:r>
            <a:r>
              <a:rPr lang="en-US" altLang="zh-CN" dirty="0" smtClean="0">
                <a:solidFill>
                  <a:schemeClr val="tx1">
                    <a:lumMod val="85000"/>
                    <a:lumOff val="15000"/>
                  </a:schemeClr>
                </a:solidFill>
                <a:latin typeface="Times New Roman" panose="02020503050405090304" pitchFamily="18" charset="0"/>
                <a:ea typeface="思源黑体 CN Normal" panose="020B0400000000000000" pitchFamily="34" charset="-122"/>
                <a:cs typeface="Times New Roman" panose="02020503050405090304" pitchFamily="18" charset="0"/>
                <a:sym typeface="DengXian" panose="02010600030101010101" pitchFamily="2" charset="-122"/>
              </a:rPr>
              <a:t>Wi-Fi</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无线感知中信道状态导致的隐私泄露问题进行</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了</a:t>
            </a: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探索</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和研究，</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提出并在实际的</a:t>
            </a:r>
            <a:r>
              <a:rPr lang="en-US" altLang="zh-CN" dirty="0">
                <a:solidFill>
                  <a:schemeClr val="tx1">
                    <a:lumMod val="85000"/>
                    <a:lumOff val="15000"/>
                  </a:schemeClr>
                </a:solidFill>
                <a:latin typeface="Times New Roman" panose="02020503050405090304" pitchFamily="18" charset="0"/>
                <a:ea typeface="思源黑体 CN Normal" panose="020B0400000000000000" pitchFamily="34" charset="-122"/>
                <a:cs typeface="Times New Roman" panose="02020503050405090304" pitchFamily="18" charset="0"/>
                <a:sym typeface="DengXian" panose="02010600030101010101" pitchFamily="2" charset="-122"/>
              </a:rPr>
              <a:t>Wi-Fi</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系统中实现了内建</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于发射器</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的信道状态加扰方案，</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以干扰</a:t>
            </a: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窃听</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者的感知，而合法</a:t>
            </a: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感知器的性能却不受影响。</a:t>
            </a:r>
            <a:endParaRPr lang="en-US" altLang="zh-CN"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endParaRPr>
          </a:p>
          <a:p>
            <a:pPr lvl="1">
              <a:lnSpc>
                <a:spcPct val="150000"/>
              </a:lnSpc>
            </a:pPr>
            <a:endParaRPr lang="en-US" altLang="zh-CN"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endParaRPr>
          </a:p>
          <a:p>
            <a:pPr lvl="1">
              <a:lnSpc>
                <a:spcPct val="150000"/>
              </a:lnSpc>
            </a:pP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对无线</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信道状态信息</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保护的研究做出以下贡献</a:t>
            </a: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a:t>
            </a:r>
            <a:endParaRPr lang="en-US" altLang="zh-CN"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endParaRPr>
          </a:p>
          <a:p>
            <a:pPr marL="1200150" lvl="2" indent="-285750">
              <a:lnSpc>
                <a:spcPct val="150000"/>
              </a:lnSpc>
              <a:buFont typeface="Arial" panose="020B0604020202090204" pitchFamily="34" charset="0"/>
              <a:buChar char="•"/>
            </a:pP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提出使用线性预测算法</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生成</a:t>
            </a: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大量</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非</a:t>
            </a: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重复的模拟人体活动的信号</a:t>
            </a:r>
            <a:endParaRPr lang="en-US" altLang="zh-CN"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endParaRPr>
          </a:p>
          <a:p>
            <a:pPr marL="1200150" lvl="2" indent="-285750">
              <a:lnSpc>
                <a:spcPct val="150000"/>
              </a:lnSpc>
              <a:buFont typeface="Arial" panose="020B0604020202090204" pitchFamily="34" charset="0"/>
              <a:buChar char="•"/>
            </a:pP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提出</a:t>
            </a: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并实现了一个通用的 </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、不影响通信的</a:t>
            </a:r>
            <a:r>
              <a:rPr lang="en-US" altLang="zh-CN" dirty="0" smtClean="0">
                <a:solidFill>
                  <a:schemeClr val="tx1">
                    <a:lumMod val="85000"/>
                    <a:lumOff val="15000"/>
                  </a:schemeClr>
                </a:solidFill>
                <a:latin typeface="Times New Roman" panose="02020503050405090304" pitchFamily="18" charset="0"/>
                <a:ea typeface="思源黑体 CN Normal" panose="020B0400000000000000" pitchFamily="34" charset="-122"/>
                <a:cs typeface="Times New Roman" panose="02020503050405090304" pitchFamily="18" charset="0"/>
                <a:sym typeface="DengXian" panose="02010600030101010101" pitchFamily="2" charset="-122"/>
              </a:rPr>
              <a:t>Wi-Fi</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信道</a:t>
            </a:r>
            <a:r>
              <a:rPr lang="zh-CN" altLang="en-US"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状态加扰</a:t>
            </a: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框架</a:t>
            </a:r>
            <a:endParaRPr lang="en-US" altLang="zh-CN"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endParaRPr>
          </a:p>
          <a:p>
            <a:pPr marL="1200150" lvl="2" indent="-285750">
              <a:lnSpc>
                <a:spcPct val="150000"/>
              </a:lnSpc>
              <a:buFont typeface="Arial" panose="020B0604020202090204" pitchFamily="34" charset="0"/>
              <a:buChar char="•"/>
            </a:pP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为合法感知器设计并实现了一套信道状态解扰方案</a:t>
            </a:r>
            <a:endParaRPr lang="en-US" altLang="zh-CN"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endParaRPr>
          </a:p>
        </p:txBody>
      </p:sp>
      <p:sp>
        <p:nvSpPr>
          <p:cNvPr id="1048947" name="文本占位符 3"/>
          <p:cNvSpPr txBox="1"/>
          <p:nvPr/>
        </p:nvSpPr>
        <p:spPr>
          <a:xfrm>
            <a:off x="5750560" y="6453505"/>
            <a:ext cx="1116965" cy="40513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20/23</a:t>
            </a:r>
            <a:endParaRPr lang="en-US" altLang="zh-CN" sz="2000" dirty="0"/>
          </a:p>
        </p:txBody>
      </p:sp>
      <p:grpSp>
        <p:nvGrpSpPr>
          <p:cNvPr id="137" name="组合 7"/>
          <p:cNvGrpSpPr/>
          <p:nvPr/>
        </p:nvGrpSpPr>
        <p:grpSpPr>
          <a:xfrm>
            <a:off x="4323644" y="65006"/>
            <a:ext cx="6369685" cy="733425"/>
            <a:chOff x="3330222" y="76294"/>
            <a:chExt cx="6369685" cy="733425"/>
          </a:xfrm>
        </p:grpSpPr>
        <p:sp>
          <p:nvSpPr>
            <p:cNvPr id="1048948" name="文本框 8"/>
            <p:cNvSpPr txBox="1"/>
            <p:nvPr/>
          </p:nvSpPr>
          <p:spPr>
            <a:xfrm>
              <a:off x="3330222" y="76294"/>
              <a:ext cx="1612265"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8949" name="文本框 9"/>
            <p:cNvSpPr txBox="1"/>
            <p:nvPr/>
          </p:nvSpPr>
          <p:spPr>
            <a:xfrm>
              <a:off x="4968484" y="76294"/>
              <a:ext cx="1354667" cy="3962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2.</a:t>
              </a:r>
              <a:r>
                <a:rPr lang="zh-CN" altLang="en-US" dirty="0" smtClean="0">
                  <a:solidFill>
                    <a:schemeClr val="bg1">
                      <a:lumMod val="65000"/>
                    </a:schemeClr>
                  </a:solidFill>
                  <a:ea typeface="思源黑体 CN Bold" panose="020B0800000000000000"/>
                </a:rPr>
                <a:t>信道加扰</a:t>
              </a:r>
              <a:endParaRPr lang="zh-CN" altLang="en-US" dirty="0">
                <a:solidFill>
                  <a:schemeClr val="bg1">
                    <a:lumMod val="65000"/>
                  </a:schemeClr>
                </a:solidFill>
                <a:ea typeface="思源黑体 CN Bold" panose="020B0800000000000000"/>
              </a:endParaRPr>
            </a:p>
          </p:txBody>
        </p:sp>
        <p:sp>
          <p:nvSpPr>
            <p:cNvPr id="1048950" name="文本框 10"/>
            <p:cNvSpPr txBox="1"/>
            <p:nvPr/>
          </p:nvSpPr>
          <p:spPr>
            <a:xfrm>
              <a:off x="6349012" y="76294"/>
              <a:ext cx="1675765" cy="716915"/>
            </a:xfrm>
            <a:prstGeom prst="rect">
              <a:avLst/>
            </a:prstGeom>
            <a:noFill/>
          </p:spPr>
          <p:txBody>
            <a:bodyPr wrap="square" rtlCol="0">
              <a:no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8951" name="文本框 11"/>
            <p:cNvSpPr txBox="1"/>
            <p:nvPr/>
          </p:nvSpPr>
          <p:spPr>
            <a:xfrm>
              <a:off x="8024142" y="92804"/>
              <a:ext cx="1675765" cy="716915"/>
            </a:xfrm>
            <a:prstGeom prst="rect">
              <a:avLst/>
            </a:prstGeom>
            <a:noFill/>
          </p:spPr>
          <p:txBody>
            <a:bodyPr wrap="square" rtlCol="0">
              <a:noAutofit/>
            </a:bodyPr>
            <a:p>
              <a:r>
                <a:rPr lang="en-US" altLang="zh-CN" dirty="0">
                  <a:solidFill>
                    <a:schemeClr val="bg1"/>
                  </a:solidFill>
                  <a:ea typeface="思源黑体 CN Bold" panose="020B0800000000000000"/>
                </a:rPr>
                <a:t>4.</a:t>
              </a:r>
              <a:r>
                <a:rPr lang="zh-CN" altLang="en-US" dirty="0">
                  <a:solidFill>
                    <a:schemeClr val="bg1"/>
                  </a:solidFill>
                  <a:ea typeface="思源黑体 CN Bold" panose="020B0800000000000000"/>
                </a:rPr>
                <a:t>总结与</a:t>
              </a:r>
              <a:r>
                <a:rPr lang="zh-CN" altLang="en-US" dirty="0">
                  <a:solidFill>
                    <a:schemeClr val="bg1"/>
                  </a:solidFill>
                  <a:ea typeface="思源黑体 CN Bold" panose="020B0800000000000000"/>
                </a:rPr>
                <a:t>展望</a:t>
              </a:r>
              <a:endParaRPr lang="zh-CN" altLang="en-US" dirty="0">
                <a:solidFill>
                  <a:schemeClr val="bg1"/>
                </a:solidFill>
                <a:ea typeface="思源黑体 CN Bold" panose="020B0800000000000000"/>
              </a:endParaRPr>
            </a:p>
          </p:txBody>
        </p:sp>
      </p:gr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933" name="文本占位符 1"/>
          <p:cNvSpPr>
            <a:spLocks noGrp="1"/>
          </p:cNvSpPr>
          <p:nvPr>
            <p:ph type="body" sz="quarter" idx="12"/>
          </p:nvPr>
        </p:nvSpPr>
        <p:spPr>
          <a:xfrm>
            <a:off x="218106" y="81066"/>
            <a:ext cx="410545" cy="401955"/>
          </a:xfrm>
        </p:spPr>
        <p:txBody>
          <a:bodyPr/>
          <a:p>
            <a:r>
              <a:rPr lang="en-US" altLang="zh-CN" dirty="0"/>
              <a:t>4</a:t>
            </a:r>
            <a:endParaRPr lang="zh-CN" altLang="en-US" dirty="0"/>
          </a:p>
        </p:txBody>
      </p:sp>
      <p:sp>
        <p:nvSpPr>
          <p:cNvPr id="1048934" name="文本占位符 2"/>
          <p:cNvSpPr>
            <a:spLocks noGrp="1"/>
          </p:cNvSpPr>
          <p:nvPr>
            <p:ph type="body" sz="quarter" idx="13"/>
          </p:nvPr>
        </p:nvSpPr>
        <p:spPr>
          <a:xfrm>
            <a:off x="816623" y="76295"/>
            <a:ext cx="3797418" cy="401955"/>
          </a:xfrm>
        </p:spPr>
        <p:txBody>
          <a:bodyPr/>
          <a:p>
            <a:r>
              <a:rPr lang="zh-CN" altLang="en-US" kern="0" dirty="0" smtClean="0">
                <a:ea typeface="楷体" panose="02010609060101010101" pitchFamily="49" charset="-122"/>
                <a:sym typeface="DengXian" panose="02010600030101010101" pitchFamily="2" charset="-122"/>
              </a:rPr>
              <a:t>展望与总结</a:t>
            </a:r>
            <a:endParaRPr lang="zh-CN" altLang="en-US" kern="0" dirty="0">
              <a:ea typeface="楷体" panose="02010609060101010101" pitchFamily="49" charset="-122"/>
              <a:sym typeface="DengXian" panose="02010600030101010101" pitchFamily="2" charset="-122"/>
            </a:endParaRPr>
          </a:p>
        </p:txBody>
      </p:sp>
      <p:sp>
        <p:nvSpPr>
          <p:cNvPr id="1048935" name="文本框 6"/>
          <p:cNvSpPr txBox="1"/>
          <p:nvPr/>
        </p:nvSpPr>
        <p:spPr>
          <a:xfrm>
            <a:off x="423378" y="968726"/>
            <a:ext cx="11064429" cy="2330450"/>
          </a:xfrm>
          <a:prstGeom prst="rect">
            <a:avLst/>
          </a:prstGeom>
          <a:noFill/>
        </p:spPr>
        <p:txBody>
          <a:bodyPr wrap="square" rtlCol="0">
            <a:spAutoFit/>
          </a:bodyPr>
          <a:p>
            <a:pPr>
              <a:lnSpc>
                <a:spcPct val="150000"/>
              </a:lnSpc>
            </a:pPr>
            <a:r>
              <a:rPr lang="zh-CN" altLang="en-US" sz="2500" dirty="0" smtClean="0">
                <a:solidFill>
                  <a:srgbClr val="9E008B"/>
                </a:solidFill>
                <a:latin typeface="DengXian" panose="02010600030101010101" pitchFamily="2" charset="-122"/>
                <a:ea typeface="思源黑体 CN Bold" panose="020B0800000000000000" pitchFamily="34" charset="-122"/>
                <a:sym typeface="DengXian" panose="02010600030101010101" pitchFamily="2" charset="-122"/>
              </a:rPr>
              <a:t>研究展望</a:t>
            </a:r>
            <a:endParaRPr lang="en-US" altLang="zh-CN" sz="100" dirty="0">
              <a:latin typeface="DengXian" panose="02010600030101010101" pitchFamily="2" charset="-122"/>
              <a:ea typeface="微软雅黑" panose="020B0503020204020204" pitchFamily="34" charset="-122"/>
              <a:sym typeface="DengXian" panose="02010600030101010101" pitchFamily="2" charset="-122"/>
            </a:endParaRPr>
          </a:p>
          <a:p>
            <a:pPr lvl="2" indent="-285750" fontAlgn="auto">
              <a:lnSpc>
                <a:spcPct val="200000"/>
              </a:lnSpc>
              <a:buFont typeface="Arial" panose="020B0604020202090204" pitchFamily="34" charset="0"/>
              <a:buChar char="•"/>
            </a:pP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在多发射天线场景下实现我们的加扰方案，以更好地应对多天线窃听者</a:t>
            </a:r>
            <a:endPar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endParaRPr>
          </a:p>
          <a:p>
            <a:pPr lvl="2" indent="-285750" fontAlgn="auto">
              <a:lnSpc>
                <a:spcPct val="200000"/>
              </a:lnSpc>
              <a:buFont typeface="Arial" panose="020B0604020202090204" pitchFamily="34" charset="0"/>
              <a:buChar char="•"/>
            </a:pP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在物理层选择加扰向量，以提供更高的时间精度</a:t>
            </a:r>
            <a:endPar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endParaRPr>
          </a:p>
          <a:p>
            <a:pPr lvl="2" indent="-285750" fontAlgn="auto">
              <a:lnSpc>
                <a:spcPct val="200000"/>
              </a:lnSpc>
              <a:buFont typeface="Arial" panose="020B0604020202090204" pitchFamily="34" charset="0"/>
              <a:buChar char="•"/>
            </a:pPr>
            <a:r>
              <a:rPr lang="zh-CN" altLang="en-US"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rPr>
              <a:t>模拟更多场景的信道状态以应对更多的窃听场景</a:t>
            </a:r>
            <a:endParaRPr lang="en-US" altLang="zh-CN" dirty="0" smtClean="0">
              <a:solidFill>
                <a:schemeClr val="tx1">
                  <a:lumMod val="85000"/>
                  <a:lumOff val="15000"/>
                </a:schemeClr>
              </a:solidFill>
              <a:latin typeface="思源黑体 CN Normal" panose="020B0400000000000000" pitchFamily="34" charset="-122"/>
              <a:ea typeface="思源黑体 CN Normal" panose="020B0400000000000000" pitchFamily="34" charset="-122"/>
              <a:sym typeface="DengXian" panose="02010600030101010101" pitchFamily="2" charset="-122"/>
            </a:endParaRPr>
          </a:p>
        </p:txBody>
      </p:sp>
      <p:sp>
        <p:nvSpPr>
          <p:cNvPr id="1048936" name="文本占位符 3"/>
          <p:cNvSpPr txBox="1"/>
          <p:nvPr/>
        </p:nvSpPr>
        <p:spPr>
          <a:xfrm>
            <a:off x="5750560" y="6453505"/>
            <a:ext cx="1101725" cy="40513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21/23</a:t>
            </a:r>
            <a:endParaRPr lang="en-US" altLang="zh-CN" sz="2000" dirty="0"/>
          </a:p>
        </p:txBody>
      </p:sp>
      <p:grpSp>
        <p:nvGrpSpPr>
          <p:cNvPr id="133" name="组合 7"/>
          <p:cNvGrpSpPr/>
          <p:nvPr/>
        </p:nvGrpSpPr>
        <p:grpSpPr>
          <a:xfrm>
            <a:off x="4323644" y="65006"/>
            <a:ext cx="6412230" cy="733425"/>
            <a:chOff x="3330222" y="76294"/>
            <a:chExt cx="6412230" cy="733425"/>
          </a:xfrm>
        </p:grpSpPr>
        <p:sp>
          <p:nvSpPr>
            <p:cNvPr id="1048937" name="文本框 8"/>
            <p:cNvSpPr txBox="1"/>
            <p:nvPr/>
          </p:nvSpPr>
          <p:spPr>
            <a:xfrm>
              <a:off x="3330222" y="76294"/>
              <a:ext cx="1637665"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8938" name="文本框 9"/>
            <p:cNvSpPr txBox="1"/>
            <p:nvPr/>
          </p:nvSpPr>
          <p:spPr>
            <a:xfrm>
              <a:off x="4968484" y="76294"/>
              <a:ext cx="1354667" cy="3962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2.</a:t>
              </a:r>
              <a:r>
                <a:rPr lang="zh-CN" altLang="en-US" dirty="0" smtClean="0">
                  <a:solidFill>
                    <a:schemeClr val="bg1">
                      <a:lumMod val="65000"/>
                    </a:schemeClr>
                  </a:solidFill>
                  <a:ea typeface="思源黑体 CN Bold" panose="020B0800000000000000"/>
                </a:rPr>
                <a:t>信道加扰</a:t>
              </a:r>
              <a:endParaRPr lang="zh-CN" altLang="en-US" dirty="0">
                <a:solidFill>
                  <a:schemeClr val="bg1">
                    <a:lumMod val="65000"/>
                  </a:schemeClr>
                </a:solidFill>
                <a:ea typeface="思源黑体 CN Bold" panose="020B0800000000000000"/>
              </a:endParaRPr>
            </a:p>
          </p:txBody>
        </p:sp>
        <p:sp>
          <p:nvSpPr>
            <p:cNvPr id="1048939" name="文本框 10"/>
            <p:cNvSpPr txBox="1"/>
            <p:nvPr/>
          </p:nvSpPr>
          <p:spPr>
            <a:xfrm>
              <a:off x="6349012" y="76294"/>
              <a:ext cx="1653540" cy="716915"/>
            </a:xfrm>
            <a:prstGeom prst="rect">
              <a:avLst/>
            </a:prstGeom>
            <a:noFill/>
          </p:spPr>
          <p:txBody>
            <a:bodyPr wrap="square" rtlCol="0">
              <a:no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8940" name="文本框 11"/>
            <p:cNvSpPr txBox="1"/>
            <p:nvPr/>
          </p:nvSpPr>
          <p:spPr>
            <a:xfrm>
              <a:off x="8024142" y="92804"/>
              <a:ext cx="1718310" cy="716915"/>
            </a:xfrm>
            <a:prstGeom prst="rect">
              <a:avLst/>
            </a:prstGeom>
            <a:noFill/>
          </p:spPr>
          <p:txBody>
            <a:bodyPr wrap="square" rtlCol="0">
              <a:noAutofit/>
            </a:bodyPr>
            <a:p>
              <a:r>
                <a:rPr lang="en-US" altLang="zh-CN" dirty="0" smtClean="0">
                  <a:solidFill>
                    <a:schemeClr val="bg1"/>
                  </a:solidFill>
                  <a:ea typeface="思源黑体 CN Bold" panose="020B0800000000000000"/>
                </a:rPr>
                <a:t>4.</a:t>
              </a:r>
              <a:r>
                <a:rPr lang="zh-CN" altLang="en-US" dirty="0" smtClean="0">
                  <a:solidFill>
                    <a:schemeClr val="bg1"/>
                  </a:solidFill>
                  <a:ea typeface="思源黑体 CN Bold" panose="020B0800000000000000"/>
                </a:rPr>
                <a:t>总结与</a:t>
              </a:r>
              <a:r>
                <a:rPr lang="zh-CN" altLang="en-US" dirty="0" smtClean="0">
                  <a:solidFill>
                    <a:schemeClr val="bg1"/>
                  </a:solidFill>
                  <a:ea typeface="思源黑体 CN Bold" panose="020B0800000000000000"/>
                </a:rPr>
                <a:t>展望</a:t>
              </a:r>
              <a:endParaRPr lang="zh-CN" altLang="en-US" dirty="0" smtClean="0">
                <a:solidFill>
                  <a:schemeClr val="bg1"/>
                </a:solidFill>
                <a:ea typeface="思源黑体 CN Bold" panose="020B0800000000000000"/>
              </a:endParaRPr>
            </a:p>
          </p:txBody>
        </p:sp>
      </p:gr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40" name=""/>
        <p:cNvGrpSpPr/>
        <p:nvPr/>
      </p:nvGrpSpPr>
      <p:grpSpPr>
        <a:xfrm>
          <a:off x="0" y="0"/>
          <a:ext cx="0" cy="0"/>
          <a:chOff x="0" y="0"/>
          <a:chExt cx="0" cy="0"/>
        </a:xfrm>
      </p:grpSpPr>
      <p:sp>
        <p:nvSpPr>
          <p:cNvPr id="1048955" name="文本占位符 1"/>
          <p:cNvSpPr>
            <a:spLocks noGrp="1"/>
          </p:cNvSpPr>
          <p:nvPr>
            <p:ph type="body" sz="quarter" idx="12"/>
          </p:nvPr>
        </p:nvSpPr>
        <p:spPr/>
        <p:txBody>
          <a:bodyPr/>
          <a:p>
            <a:r>
              <a:rPr lang="en-US" altLang="zh-CN" dirty="0"/>
              <a:t>4</a:t>
            </a:r>
            <a:endParaRPr lang="zh-CN" altLang="en-US" dirty="0"/>
          </a:p>
        </p:txBody>
      </p:sp>
      <p:sp>
        <p:nvSpPr>
          <p:cNvPr id="1048956" name="文本占位符 2"/>
          <p:cNvSpPr>
            <a:spLocks noGrp="1"/>
          </p:cNvSpPr>
          <p:nvPr>
            <p:ph type="body" sz="quarter" idx="13"/>
          </p:nvPr>
        </p:nvSpPr>
        <p:spPr/>
        <p:txBody>
          <a:bodyPr/>
          <a:p>
            <a:r>
              <a:rPr lang="zh-CN" altLang="en-US" kern="0" dirty="0">
                <a:ea typeface="楷体" panose="02010609060101010101" pitchFamily="49" charset="-122"/>
                <a:sym typeface="DengXian" panose="02010600030101010101" pitchFamily="2" charset="-122"/>
              </a:rPr>
              <a:t>未来展望和结论</a:t>
            </a:r>
            <a:endParaRPr lang="zh-CN" altLang="en-US" kern="0" dirty="0">
              <a:ea typeface="楷体" panose="02010609060101010101" pitchFamily="49" charset="-122"/>
              <a:sym typeface="DengXian" panose="02010600030101010101" pitchFamily="2" charset="-122"/>
            </a:endParaRPr>
          </a:p>
        </p:txBody>
      </p:sp>
      <p:sp>
        <p:nvSpPr>
          <p:cNvPr id="1048957" name="文本框 4"/>
          <p:cNvSpPr txBox="1"/>
          <p:nvPr/>
        </p:nvSpPr>
        <p:spPr>
          <a:xfrm>
            <a:off x="423362" y="482690"/>
            <a:ext cx="11285147" cy="2098040"/>
          </a:xfrm>
          <a:prstGeom prst="rect">
            <a:avLst/>
          </a:prstGeom>
          <a:noFill/>
        </p:spPr>
        <p:txBody>
          <a:bodyPr wrap="square" rtlCol="0">
            <a:spAutoFit/>
          </a:bodyPr>
          <a:p>
            <a:pPr>
              <a:lnSpc>
                <a:spcPct val="150000"/>
              </a:lnSpc>
            </a:pPr>
            <a:r>
              <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研究生期间的科研成果</a:t>
            </a:r>
            <a:endPar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a:p>
            <a:pPr marL="742950" lvl="1" indent="-285750">
              <a:lnSpc>
                <a:spcPct val="150000"/>
              </a:lnSpc>
              <a:buFont typeface="Arial" panose="020B0604020202090204" pitchFamily="34" charset="0"/>
              <a:buChar char="•"/>
            </a:pPr>
            <a:r>
              <a:rPr lang="en-US" dirty="0" smtClean="0"/>
              <a:t>"</a:t>
            </a:r>
            <a:r>
              <a:rPr lang="en-US" dirty="0"/>
              <a:t>CSS: Built-in Channel State Scrambling for Secure Wi-Fi based Sensing," </a:t>
            </a:r>
            <a:endParaRPr lang="en-US" dirty="0" smtClean="0"/>
          </a:p>
          <a:p>
            <a:pPr lvl="1">
              <a:lnSpc>
                <a:spcPct val="150000"/>
              </a:lnSpc>
            </a:pPr>
            <a:r>
              <a:rPr lang="en-US" dirty="0" smtClean="0"/>
              <a:t>    </a:t>
            </a:r>
            <a:r>
              <a:rPr lang="en-US" altLang="zh-CN" b="1" dirty="0" smtClean="0"/>
              <a:t>Xiao </a:t>
            </a:r>
            <a:r>
              <a:rPr lang="en-US" altLang="zh-CN" b="1" dirty="0"/>
              <a:t>Deng</a:t>
            </a:r>
            <a:r>
              <a:rPr lang="en-US" altLang="zh-CN" dirty="0"/>
              <a:t>, Dongyu Xia, Xun Wang, Shuyu Shi, Wei Wang</a:t>
            </a:r>
            <a:endParaRPr lang="en-US" dirty="0" smtClean="0"/>
          </a:p>
          <a:p>
            <a:pPr lvl="1">
              <a:lnSpc>
                <a:spcPct val="150000"/>
              </a:lnSpc>
            </a:pPr>
            <a:r>
              <a:rPr lang="en-US" i="1" dirty="0"/>
              <a:t> </a:t>
            </a:r>
            <a:r>
              <a:rPr lang="en-US" i="1" dirty="0" smtClean="0"/>
              <a:t>   IEEE I</a:t>
            </a:r>
            <a:r>
              <a:rPr lang="en-US" altLang="zh-CN" i="1" dirty="0" smtClean="0"/>
              <a:t>CDCS</a:t>
            </a:r>
            <a:r>
              <a:rPr lang="en-US" i="1" dirty="0" smtClean="0"/>
              <a:t> 2024 </a:t>
            </a:r>
            <a:r>
              <a:rPr lang="en-US" i="1" dirty="0"/>
              <a:t>(</a:t>
            </a:r>
            <a:r>
              <a:rPr lang="en-US" i="1" dirty="0" smtClean="0"/>
              <a:t>CCF-</a:t>
            </a:r>
            <a:r>
              <a:rPr lang="en-US" altLang="zh-CN" i="1" dirty="0" smtClean="0"/>
              <a:t>B</a:t>
            </a:r>
            <a:r>
              <a:rPr lang="en-US" i="1" dirty="0" smtClean="0"/>
              <a:t> </a:t>
            </a:r>
            <a:r>
              <a:rPr lang="en-US" i="1" dirty="0"/>
              <a:t>conference</a:t>
            </a:r>
            <a:r>
              <a:rPr lang="en-US" i="1" dirty="0" smtClean="0"/>
              <a:t>)</a:t>
            </a:r>
            <a:r>
              <a:rPr lang="en-US" dirty="0" smtClean="0"/>
              <a:t>.</a:t>
            </a:r>
            <a:endParaRPr lang="en-US" dirty="0"/>
          </a:p>
        </p:txBody>
      </p:sp>
      <p:sp>
        <p:nvSpPr>
          <p:cNvPr id="1048958" name="文本占位符 3"/>
          <p:cNvSpPr txBox="1"/>
          <p:nvPr/>
        </p:nvSpPr>
        <p:spPr>
          <a:xfrm>
            <a:off x="5750560" y="6453505"/>
            <a:ext cx="1229360" cy="40449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22/23</a:t>
            </a:r>
            <a:endParaRPr lang="en-US" altLang="zh-CN" sz="2000" dirty="0"/>
          </a:p>
        </p:txBody>
      </p:sp>
      <p:grpSp>
        <p:nvGrpSpPr>
          <p:cNvPr id="141" name="组合 5"/>
          <p:cNvGrpSpPr/>
          <p:nvPr/>
        </p:nvGrpSpPr>
        <p:grpSpPr>
          <a:xfrm>
            <a:off x="4323644" y="65006"/>
            <a:ext cx="6340475" cy="733425"/>
            <a:chOff x="3330222" y="76294"/>
            <a:chExt cx="6340475" cy="733425"/>
          </a:xfrm>
        </p:grpSpPr>
        <p:sp>
          <p:nvSpPr>
            <p:cNvPr id="1048959" name="文本框 7"/>
            <p:cNvSpPr txBox="1"/>
            <p:nvPr/>
          </p:nvSpPr>
          <p:spPr>
            <a:xfrm>
              <a:off x="3330222" y="76294"/>
              <a:ext cx="1612265" cy="36830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8960" name="文本框 8"/>
            <p:cNvSpPr txBox="1"/>
            <p:nvPr/>
          </p:nvSpPr>
          <p:spPr>
            <a:xfrm>
              <a:off x="4968484" y="76294"/>
              <a:ext cx="1354667" cy="3962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2.</a:t>
              </a:r>
              <a:r>
                <a:rPr lang="zh-CN" altLang="en-US" dirty="0" smtClean="0">
                  <a:solidFill>
                    <a:schemeClr val="bg1">
                      <a:lumMod val="65000"/>
                    </a:schemeClr>
                  </a:solidFill>
                  <a:ea typeface="思源黑体 CN Bold" panose="020B0800000000000000"/>
                </a:rPr>
                <a:t>信道加扰</a:t>
              </a:r>
              <a:endParaRPr lang="zh-CN" altLang="en-US" dirty="0">
                <a:solidFill>
                  <a:schemeClr val="bg1">
                    <a:lumMod val="65000"/>
                  </a:schemeClr>
                </a:solidFill>
                <a:ea typeface="思源黑体 CN Bold" panose="020B0800000000000000"/>
              </a:endParaRPr>
            </a:p>
          </p:txBody>
        </p:sp>
        <p:sp>
          <p:nvSpPr>
            <p:cNvPr id="1048961" name="文本框 9"/>
            <p:cNvSpPr txBox="1"/>
            <p:nvPr/>
          </p:nvSpPr>
          <p:spPr>
            <a:xfrm>
              <a:off x="6349012" y="76294"/>
              <a:ext cx="1653540" cy="716915"/>
            </a:xfrm>
            <a:prstGeom prst="rect">
              <a:avLst/>
            </a:prstGeom>
            <a:noFill/>
          </p:spPr>
          <p:txBody>
            <a:bodyPr wrap="square" rtlCol="0">
              <a:no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8962" name="文本框 10"/>
            <p:cNvSpPr txBox="1"/>
            <p:nvPr/>
          </p:nvSpPr>
          <p:spPr>
            <a:xfrm>
              <a:off x="8024142" y="92804"/>
              <a:ext cx="1646555" cy="716915"/>
            </a:xfrm>
            <a:prstGeom prst="rect">
              <a:avLst/>
            </a:prstGeom>
            <a:noFill/>
          </p:spPr>
          <p:txBody>
            <a:bodyPr wrap="square" rtlCol="0">
              <a:noAutofit/>
            </a:bodyPr>
            <a:p>
              <a:r>
                <a:rPr lang="en-US" altLang="zh-CN" dirty="0" smtClean="0">
                  <a:solidFill>
                    <a:schemeClr val="bg1"/>
                  </a:solidFill>
                  <a:ea typeface="思源黑体 CN Bold" panose="020B0800000000000000"/>
                </a:rPr>
                <a:t>4.</a:t>
              </a:r>
              <a:r>
                <a:rPr lang="zh-CN" altLang="en-US" dirty="0">
                  <a:solidFill>
                    <a:schemeClr val="bg1"/>
                  </a:solidFill>
                  <a:ea typeface="思源黑体 CN Bold" panose="020B0800000000000000"/>
                </a:rPr>
                <a:t>总结</a:t>
              </a:r>
              <a:r>
                <a:rPr lang="zh-CN" altLang="en-US" dirty="0" smtClean="0">
                  <a:solidFill>
                    <a:schemeClr val="bg1"/>
                  </a:solidFill>
                  <a:ea typeface="思源黑体 CN Bold" panose="020B0800000000000000"/>
                </a:rPr>
                <a:t>与展望</a:t>
              </a:r>
              <a:endParaRPr lang="zh-CN" altLang="en-US" dirty="0">
                <a:solidFill>
                  <a:schemeClr val="bg1"/>
                </a:solidFill>
                <a:ea typeface="思源黑体 CN Bold" panose="020B0800000000000000"/>
              </a:endParaRPr>
            </a:p>
          </p:txBody>
        </p:sp>
      </p:grpSp>
      <p:sp>
        <p:nvSpPr>
          <p:cNvPr id="1048963" name="文本框 11"/>
          <p:cNvSpPr txBox="1"/>
          <p:nvPr/>
        </p:nvSpPr>
        <p:spPr>
          <a:xfrm>
            <a:off x="423362" y="2800223"/>
            <a:ext cx="11285147" cy="1183640"/>
          </a:xfrm>
          <a:prstGeom prst="rect">
            <a:avLst/>
          </a:prstGeom>
          <a:noFill/>
        </p:spPr>
        <p:txBody>
          <a:bodyPr wrap="square" rtlCol="0">
            <a:spAutoFit/>
          </a:bodyPr>
          <a:p>
            <a:pPr>
              <a:lnSpc>
                <a:spcPct val="150000"/>
              </a:lnSpc>
            </a:pPr>
            <a:r>
              <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研究生</a:t>
            </a: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期间申请的专利</a:t>
            </a:r>
            <a:endPar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a:p>
            <a:pPr marL="742950" lvl="1" indent="-285750">
              <a:lnSpc>
                <a:spcPct val="150000"/>
              </a:lnSpc>
              <a:buFont typeface="Arial" panose="020B0604020202090204" pitchFamily="34" charset="0"/>
              <a:buChar char="•"/>
            </a:pPr>
            <a:r>
              <a:rPr lang="zh-CN" altLang="en-US" b="1" dirty="0" smtClean="0"/>
              <a:t>邓枭</a:t>
            </a:r>
            <a:r>
              <a:rPr lang="zh-CN" altLang="en-US" dirty="0" smtClean="0"/>
              <a:t>，王炜</a:t>
            </a:r>
            <a:r>
              <a:rPr lang="en-US" altLang="zh-CN" dirty="0"/>
              <a:t>. </a:t>
            </a:r>
            <a:r>
              <a:rPr lang="zh-CN" altLang="en-US" dirty="0"/>
              <a:t>一种模拟多个人体活动所致信道状态的无线信号加扰方法</a:t>
            </a:r>
            <a:r>
              <a:rPr lang="en-US" altLang="zh-CN" dirty="0"/>
              <a:t>. </a:t>
            </a:r>
            <a:r>
              <a:rPr lang="zh-CN" altLang="en-US" dirty="0" smtClean="0"/>
              <a:t>专利受理</a:t>
            </a:r>
            <a:r>
              <a:rPr lang="zh-CN" altLang="en-US" dirty="0"/>
              <a:t>号</a:t>
            </a:r>
            <a:r>
              <a:rPr lang="en-US" altLang="zh-CN" dirty="0"/>
              <a:t>: 202311485844.5</a:t>
            </a:r>
            <a:endParaRPr 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47" name=""/>
        <p:cNvGrpSpPr/>
        <p:nvPr/>
      </p:nvGrpSpPr>
      <p:grpSpPr>
        <a:xfrm>
          <a:off x="0" y="0"/>
          <a:ext cx="0" cy="0"/>
          <a:chOff x="0" y="0"/>
          <a:chExt cx="0" cy="0"/>
        </a:xfrm>
      </p:grpSpPr>
      <p:sp>
        <p:nvSpPr>
          <p:cNvPr id="1049034" name="标题 1"/>
          <p:cNvSpPr>
            <a:spLocks noGrp="1"/>
          </p:cNvSpPr>
          <p:nvPr>
            <p:ph type="title"/>
          </p:nvPr>
        </p:nvSpPr>
        <p:spPr/>
        <p:txBody>
          <a:bodyPr/>
          <a:p>
            <a:r>
              <a:rPr lang="zh-CN" altLang="en-US" dirty="0" smtClean="0">
                <a:latin typeface="DengXian" panose="02010600030101010101" pitchFamily="2" charset="-122"/>
                <a:sym typeface="DengXian" panose="02010600030101010101" pitchFamily="2" charset="-122"/>
              </a:rPr>
              <a:t>谢谢</a:t>
            </a:r>
            <a:endParaRPr lang="zh-CN" altLang="en-US" dirty="0">
              <a:latin typeface="DengXian" panose="02010600030101010101" pitchFamily="2" charset="-122"/>
              <a:sym typeface="DengXian" panose="02010600030101010101" pitchFamily="2" charset="-122"/>
            </a:endParaRPr>
          </a:p>
        </p:txBody>
      </p:sp>
      <p:sp>
        <p:nvSpPr>
          <p:cNvPr id="1049035" name="文本占位符 2"/>
          <p:cNvSpPr>
            <a:spLocks noGrp="1"/>
          </p:cNvSpPr>
          <p:nvPr>
            <p:ph type="body" sz="quarter" idx="13"/>
          </p:nvPr>
        </p:nvSpPr>
        <p:spPr>
          <a:xfrm>
            <a:off x="960870" y="3558904"/>
            <a:ext cx="2955810" cy="459740"/>
          </a:xfrm>
        </p:spPr>
        <p:txBody>
          <a:bodyPr/>
          <a:p>
            <a:r>
              <a:rPr lang="en-US" altLang="zh-CN" dirty="0">
                <a:effectLst/>
                <a:latin typeface="DengXian" panose="02010600030101010101" pitchFamily="2" charset="-122"/>
                <a:sym typeface="DengXian" panose="02010600030101010101" pitchFamily="2" charset="-122"/>
              </a:rPr>
              <a:t>THANK </a:t>
            </a:r>
            <a:r>
              <a:rPr lang="en-US" altLang="zh-CN" dirty="0" smtClean="0">
                <a:effectLst/>
                <a:latin typeface="DengXian" panose="02010600030101010101" pitchFamily="2" charset="-122"/>
                <a:sym typeface="DengXian" panose="02010600030101010101" pitchFamily="2" charset="-122"/>
              </a:rPr>
              <a:t>YOU</a:t>
            </a:r>
            <a:r>
              <a:rPr lang="en-US" altLang="zh-CN" dirty="0">
                <a:effectLst/>
                <a:latin typeface="DengXian" panose="02010600030101010101" pitchFamily="2" charset="-122"/>
                <a:sym typeface="DengXian" panose="02010600030101010101" pitchFamily="2" charset="-122"/>
              </a:rPr>
              <a:t>.</a:t>
            </a:r>
            <a:endParaRPr lang="zh-CN" altLang="en-US" dirty="0">
              <a:effectLst/>
              <a:latin typeface="DengXian" panose="02010600030101010101" pitchFamily="2" charset="-122"/>
              <a:sym typeface="DengXian" panose="02010600030101010101" pitchFamily="2" charset="-122"/>
            </a:endParaRPr>
          </a:p>
        </p:txBody>
      </p:sp>
      <p:sp>
        <p:nvSpPr>
          <p:cNvPr id="1049036" name="文本占位符 4"/>
          <p:cNvSpPr>
            <a:spLocks noGrp="1"/>
          </p:cNvSpPr>
          <p:nvPr>
            <p:ph type="body" sz="quarter" idx="16"/>
          </p:nvPr>
        </p:nvSpPr>
        <p:spPr>
          <a:xfrm>
            <a:off x="960438" y="4587006"/>
            <a:ext cx="4873203" cy="424732"/>
          </a:xfrm>
        </p:spPr>
        <p:txBody>
          <a:bodyPr>
            <a:normAutofit/>
          </a:bodyPr>
          <a:p>
            <a:r>
              <a:rPr lang="zh-CN" altLang="en-US" dirty="0">
                <a:latin typeface="DengXian" panose="02010600030101010101" pitchFamily="2" charset="-122"/>
                <a:sym typeface="DengXian" panose="02010600030101010101" pitchFamily="2" charset="-122"/>
              </a:rPr>
              <a:t>邓枭</a:t>
            </a:r>
            <a:r>
              <a:rPr lang="zh-CN" altLang="en-US" dirty="0" smtClean="0">
                <a:latin typeface="DengXian" panose="02010600030101010101" pitchFamily="2" charset="-122"/>
                <a:sym typeface="DengXian" panose="02010600030101010101" pitchFamily="2" charset="-122"/>
              </a:rPr>
              <a:t>，</a:t>
            </a:r>
            <a:r>
              <a:rPr lang="en-US" altLang="zh-CN" dirty="0" smtClean="0">
                <a:latin typeface="DengXian" panose="02010600030101010101" pitchFamily="2" charset="-122"/>
                <a:sym typeface="DengXian" panose="02010600030101010101" pitchFamily="2" charset="-122"/>
              </a:rPr>
              <a:t>MF21330017</a:t>
            </a:r>
            <a:endParaRPr lang="zh-CN" altLang="en-US" dirty="0">
              <a:latin typeface="DengXian" panose="02010600030101010101" pitchFamily="2" charset="-122"/>
              <a:sym typeface="DengXian" panose="02010600030101010101" pitchFamily="2"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2"/>
          </p:nvPr>
        </p:nvSpPr>
        <p:spPr/>
        <p:txBody>
          <a:bodyPr/>
          <a:p>
            <a:endParaRPr lang="zh-CN" altLang="en-US"/>
          </a:p>
        </p:txBody>
      </p:sp>
      <p:sp>
        <p:nvSpPr>
          <p:cNvPr id="3" name="文本占位符 2"/>
          <p:cNvSpPr>
            <a:spLocks noGrp="1"/>
          </p:cNvSpPr>
          <p:nvPr>
            <p:ph type="body" sz="quarter" idx="13"/>
          </p:nvPr>
        </p:nvSpPr>
        <p:spPr/>
        <p:txBody>
          <a:bodyPr/>
          <a:p>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2"/>
          </p:nvPr>
        </p:nvSpPr>
        <p:spPr/>
        <p:txBody>
          <a:bodyPr/>
          <a:p>
            <a:endParaRPr lang="zh-CN" altLang="en-US"/>
          </a:p>
        </p:txBody>
      </p:sp>
      <p:sp>
        <p:nvSpPr>
          <p:cNvPr id="3" name="文本占位符 2"/>
          <p:cNvSpPr>
            <a:spLocks noGrp="1"/>
          </p:cNvSpPr>
          <p:nvPr>
            <p:ph type="body" sz="quarter" idx="13"/>
          </p:nvPr>
        </p:nvSpPr>
        <p:spPr/>
        <p:txBody>
          <a:bodyPr/>
          <a:p>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2"/>
          </p:nvPr>
        </p:nvSpPr>
        <p:spPr/>
        <p:txBody>
          <a:bodyPr/>
          <a:p>
            <a:endParaRPr lang="zh-CN" altLang="en-US"/>
          </a:p>
        </p:txBody>
      </p:sp>
      <p:sp>
        <p:nvSpPr>
          <p:cNvPr id="3" name="文本占位符 2"/>
          <p:cNvSpPr>
            <a:spLocks noGrp="1"/>
          </p:cNvSpPr>
          <p:nvPr>
            <p:ph type="body" sz="quarter" idx="13"/>
          </p:nvPr>
        </p:nvSpPr>
        <p:spPr/>
        <p:txBody>
          <a:bodyPr/>
          <a:p>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50" name=""/>
        <p:cNvGrpSpPr/>
        <p:nvPr/>
      </p:nvGrpSpPr>
      <p:grpSpPr>
        <a:xfrm>
          <a:off x="0" y="0"/>
          <a:ext cx="0" cy="0"/>
          <a:chOff x="0" y="0"/>
          <a:chExt cx="0" cy="0"/>
        </a:xfrm>
      </p:grpSpPr>
      <p:sp>
        <p:nvSpPr>
          <p:cNvPr id="1049040" name="文本占位符 1"/>
          <p:cNvSpPr>
            <a:spLocks noGrp="1"/>
          </p:cNvSpPr>
          <p:nvPr>
            <p:ph type="body" sz="quarter" idx="12"/>
          </p:nvPr>
        </p:nvSpPr>
        <p:spPr>
          <a:xfrm>
            <a:off x="218105" y="76294"/>
            <a:ext cx="410545" cy="401955"/>
          </a:xfrm>
        </p:spPr>
        <p:txBody>
          <a:bodyPr/>
          <a:p>
            <a:r>
              <a:rPr lang="en-US" altLang="zh-CN" dirty="0"/>
              <a:t>2</a:t>
            </a:r>
            <a:endParaRPr lang="zh-CN" altLang="en-US" dirty="0"/>
          </a:p>
        </p:txBody>
      </p:sp>
      <p:sp>
        <p:nvSpPr>
          <p:cNvPr id="1049041" name="文本占位符 2"/>
          <p:cNvSpPr>
            <a:spLocks noGrp="1"/>
          </p:cNvSpPr>
          <p:nvPr>
            <p:ph type="body" sz="quarter" idx="13"/>
          </p:nvPr>
        </p:nvSpPr>
        <p:spPr>
          <a:xfrm>
            <a:off x="816623" y="76295"/>
            <a:ext cx="2780687" cy="401955"/>
          </a:xfrm>
        </p:spPr>
        <p:txBody>
          <a:bodyPr/>
          <a:p>
            <a:r>
              <a:rPr lang="zh-CN" altLang="en-US" kern="0" dirty="0">
                <a:ea typeface="楷体" panose="02010609060101010101" pitchFamily="49" charset="-122"/>
                <a:sym typeface="DengXian" panose="02010600030101010101" pitchFamily="2" charset="-122"/>
              </a:rPr>
              <a:t>内</a:t>
            </a:r>
            <a:r>
              <a:rPr lang="zh-CN" altLang="en-US" kern="0" dirty="0" smtClean="0">
                <a:ea typeface="楷体" panose="02010609060101010101" pitchFamily="49" charset="-122"/>
                <a:sym typeface="DengXian" panose="02010600030101010101" pitchFamily="2" charset="-122"/>
              </a:rPr>
              <a:t>建信道加扰方案</a:t>
            </a:r>
            <a:endParaRPr lang="zh-CN" altLang="en-US" kern="0" dirty="0">
              <a:ea typeface="楷体" panose="02010609060101010101" pitchFamily="49" charset="-122"/>
              <a:sym typeface="DengXian" panose="02010600030101010101" pitchFamily="2" charset="-122"/>
            </a:endParaRPr>
          </a:p>
        </p:txBody>
      </p:sp>
      <p:sp>
        <p:nvSpPr>
          <p:cNvPr id="1049042" name="文本框 6"/>
          <p:cNvSpPr txBox="1"/>
          <p:nvPr/>
        </p:nvSpPr>
        <p:spPr>
          <a:xfrm>
            <a:off x="423378" y="687372"/>
            <a:ext cx="11064429" cy="726440"/>
          </a:xfrm>
          <a:prstGeom prst="rect">
            <a:avLst/>
          </a:prstGeom>
          <a:noFill/>
        </p:spPr>
        <p:txBody>
          <a:bodyPr wrap="square" rtlCol="0">
            <a:spAutoFit/>
          </a:bodyPr>
          <a:p>
            <a:pPr marL="0" lvl="1">
              <a:lnSpc>
                <a:spcPct val="150000"/>
              </a:lnSpc>
            </a:pPr>
            <a:r>
              <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信道状态信息</a:t>
            </a:r>
            <a:r>
              <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a:t>
            </a:r>
            <a:r>
              <a:rPr lang="en-US" altLang="zh-CN" sz="2500" dirty="0">
                <a:solidFill>
                  <a:srgbClr val="9E008B"/>
                </a:solidFill>
                <a:latin typeface="Times New Roman" panose="02020503050405090304" pitchFamily="18" charset="0"/>
                <a:ea typeface="思源黑体 CN Bold" panose="020B0800000000000000" pitchFamily="34" charset="-122"/>
                <a:cs typeface="Times New Roman" panose="02020503050405090304" pitchFamily="18" charset="0"/>
                <a:sym typeface="DengXian" panose="02010600030101010101" pitchFamily="2" charset="-122"/>
              </a:rPr>
              <a:t>CSI</a:t>
            </a:r>
            <a:r>
              <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sp>
        <p:nvSpPr>
          <p:cNvPr id="1049043" name="文本框 3"/>
          <p:cNvSpPr txBox="1"/>
          <p:nvPr/>
        </p:nvSpPr>
        <p:spPr>
          <a:xfrm>
            <a:off x="1939484" y="2348215"/>
            <a:ext cx="1554480" cy="396240"/>
          </a:xfrm>
          <a:prstGeom prst="rect">
            <a:avLst/>
          </a:prstGeom>
          <a:noFill/>
        </p:spPr>
        <p:txBody>
          <a:bodyPr wrap="none" rtlCol="0">
            <a:spAutoFit/>
          </a:bodyPr>
          <a:p>
            <a:r>
              <a:rPr lang="zh-CN" altLang="en-US" dirty="0">
                <a:ea typeface="思源黑体 CN Bold" panose="020B0800000000000000"/>
              </a:rPr>
              <a:t>物理层帧结构</a:t>
            </a:r>
            <a:endParaRPr lang="zh-CN" altLang="en-US" dirty="0">
              <a:ea typeface="思源黑体 CN Bold" panose="020B0800000000000000"/>
            </a:endParaRPr>
          </a:p>
        </p:txBody>
      </p:sp>
      <p:pic>
        <p:nvPicPr>
          <p:cNvPr id="2097208" name="图片 4"/>
          <p:cNvPicPr>
            <a:picLocks noChangeAspect="1"/>
          </p:cNvPicPr>
          <p:nvPr/>
        </p:nvPicPr>
        <p:blipFill>
          <a:blip r:embed="rId1"/>
          <a:stretch>
            <a:fillRect/>
          </a:stretch>
        </p:blipFill>
        <p:spPr>
          <a:xfrm>
            <a:off x="423377" y="1469677"/>
            <a:ext cx="5274038" cy="833489"/>
          </a:xfrm>
          <a:prstGeom prst="rect">
            <a:avLst/>
          </a:prstGeom>
        </p:spPr>
      </p:pic>
      <p:grpSp>
        <p:nvGrpSpPr>
          <p:cNvPr id="151" name="组合 19"/>
          <p:cNvGrpSpPr/>
          <p:nvPr/>
        </p:nvGrpSpPr>
        <p:grpSpPr>
          <a:xfrm>
            <a:off x="1364321" y="2946364"/>
            <a:ext cx="2487027" cy="2244525"/>
            <a:chOff x="423377" y="3193094"/>
            <a:chExt cx="2487027" cy="2244525"/>
          </a:xfrm>
        </p:grpSpPr>
        <p:sp>
          <p:nvSpPr>
            <p:cNvPr id="1049044" name="文本框 10"/>
            <p:cNvSpPr txBox="1">
              <a:spLocks noRot="1" noChangeAspect="1" noMove="1" noResize="1" noEditPoints="1" noAdjustHandles="1" noChangeArrowheads="1" noChangeShapeType="1" noTextEdit="1"/>
            </p:cNvSpPr>
            <p:nvPr/>
          </p:nvSpPr>
          <p:spPr>
            <a:xfrm>
              <a:off x="423377" y="3193094"/>
              <a:ext cx="1031886" cy="369332"/>
            </a:xfrm>
            <a:prstGeom prst="rect">
              <a:avLst/>
            </a:prstGeom>
            <a:blipFill>
              <a:blip r:embed="rId2"/>
              <a:stretch>
                <a:fillRect l="-5325" t="-9836" b="-22951"/>
              </a:stretch>
            </a:blipFill>
          </p:spPr>
          <p:txBody>
            <a:bodyPr/>
            <a:p>
              <a:r>
                <a:rPr lang="zh-CN" altLang="en-US">
                  <a:noFill/>
                </a:rPr>
                <a:t> </a:t>
              </a:r>
              <a:endParaRPr lang="zh-CN" altLang="en-US">
                <a:noFill/>
              </a:endParaRPr>
            </a:p>
          </p:txBody>
        </p:sp>
        <p:sp>
          <p:nvSpPr>
            <p:cNvPr id="1049045" name="文本框 11"/>
            <p:cNvSpPr txBox="1">
              <a:spLocks noRot="1" noChangeAspect="1" noMove="1" noResize="1" noEditPoints="1" noAdjustHandles="1" noChangeArrowheads="1" noChangeShapeType="1" noTextEdit="1"/>
            </p:cNvSpPr>
            <p:nvPr/>
          </p:nvSpPr>
          <p:spPr>
            <a:xfrm>
              <a:off x="423377" y="3616200"/>
              <a:ext cx="1907445" cy="369332"/>
            </a:xfrm>
            <a:prstGeom prst="rect">
              <a:avLst/>
            </a:prstGeom>
            <a:blipFill>
              <a:blip r:embed="rId3"/>
              <a:stretch>
                <a:fillRect l="-2875" t="-11667" b="-25000"/>
              </a:stretch>
            </a:blipFill>
          </p:spPr>
          <p:txBody>
            <a:bodyPr/>
            <a:p>
              <a:r>
                <a:rPr lang="zh-CN" altLang="en-US">
                  <a:noFill/>
                </a:rPr>
                <a:t> </a:t>
              </a:r>
              <a:endParaRPr lang="zh-CN" altLang="en-US">
                <a:noFill/>
              </a:endParaRPr>
            </a:p>
          </p:txBody>
        </p:sp>
        <p:sp>
          <p:nvSpPr>
            <p:cNvPr id="1049046" name="文本框 12"/>
            <p:cNvSpPr txBox="1">
              <a:spLocks noRot="1" noChangeAspect="1" noMove="1" noResize="1" noEditPoints="1" noAdjustHandles="1" noChangeArrowheads="1" noChangeShapeType="1" noTextEdit="1"/>
            </p:cNvSpPr>
            <p:nvPr/>
          </p:nvSpPr>
          <p:spPr>
            <a:xfrm>
              <a:off x="423377" y="3985532"/>
              <a:ext cx="2487027" cy="614848"/>
            </a:xfrm>
            <a:prstGeom prst="rect">
              <a:avLst/>
            </a:prstGeom>
            <a:blipFill>
              <a:blip r:embed="rId4"/>
              <a:stretch>
                <a:fillRect l="-2206" b="-10891"/>
              </a:stretch>
            </a:blipFill>
          </p:spPr>
          <p:txBody>
            <a:bodyPr/>
            <a:p>
              <a:r>
                <a:rPr lang="zh-CN" altLang="en-US">
                  <a:noFill/>
                </a:rPr>
                <a:t> </a:t>
              </a:r>
              <a:endParaRPr lang="zh-CN" altLang="en-US">
                <a:noFill/>
              </a:endParaRPr>
            </a:p>
          </p:txBody>
        </p:sp>
        <p:sp>
          <p:nvSpPr>
            <p:cNvPr id="1049047" name="文本框 13"/>
            <p:cNvSpPr txBox="1">
              <a:spLocks noRot="1" noChangeAspect="1" noMove="1" noResize="1" noEditPoints="1" noAdjustHandles="1" noChangeArrowheads="1" noChangeShapeType="1" noTextEdit="1"/>
            </p:cNvSpPr>
            <p:nvPr/>
          </p:nvSpPr>
          <p:spPr>
            <a:xfrm>
              <a:off x="469901" y="4773142"/>
              <a:ext cx="2113527" cy="664477"/>
            </a:xfrm>
            <a:prstGeom prst="rect">
              <a:avLst/>
            </a:prstGeom>
            <a:blipFill>
              <a:blip r:embed="rId5"/>
              <a:stretch>
                <a:fillRect l="-2601" b="-2752"/>
              </a:stretch>
            </a:blipFill>
          </p:spPr>
          <p:txBody>
            <a:bodyPr/>
            <a:p>
              <a:r>
                <a:rPr lang="zh-CN" altLang="en-US">
                  <a:noFill/>
                </a:rPr>
                <a:t> </a:t>
              </a:r>
              <a:endParaRPr lang="zh-CN" altLang="en-US">
                <a:noFill/>
              </a:endParaRPr>
            </a:p>
          </p:txBody>
        </p:sp>
      </p:grpSp>
      <p:pic>
        <p:nvPicPr>
          <p:cNvPr id="2097209" name="图片 5"/>
          <p:cNvPicPr>
            <a:picLocks noChangeAspect="1"/>
          </p:cNvPicPr>
          <p:nvPr/>
        </p:nvPicPr>
        <p:blipFill>
          <a:blip r:embed="rId6" cstate="hqprint"/>
          <a:stretch>
            <a:fillRect/>
          </a:stretch>
        </p:blipFill>
        <p:spPr>
          <a:xfrm>
            <a:off x="6160255" y="901061"/>
            <a:ext cx="2761019" cy="1813387"/>
          </a:xfrm>
          <a:prstGeom prst="rect">
            <a:avLst/>
          </a:prstGeom>
        </p:spPr>
      </p:pic>
      <p:pic>
        <p:nvPicPr>
          <p:cNvPr id="2097210" name="图片 14"/>
          <p:cNvPicPr>
            <a:picLocks noChangeAspect="1"/>
          </p:cNvPicPr>
          <p:nvPr/>
        </p:nvPicPr>
        <p:blipFill>
          <a:blip r:embed="rId7" cstate="hqprint"/>
          <a:stretch>
            <a:fillRect/>
          </a:stretch>
        </p:blipFill>
        <p:spPr>
          <a:xfrm>
            <a:off x="9246021" y="932158"/>
            <a:ext cx="2761019" cy="1751192"/>
          </a:xfrm>
          <a:prstGeom prst="rect">
            <a:avLst/>
          </a:prstGeom>
        </p:spPr>
      </p:pic>
      <p:pic>
        <p:nvPicPr>
          <p:cNvPr id="2097211" name="图片 15"/>
          <p:cNvPicPr>
            <a:picLocks noChangeAspect="1"/>
          </p:cNvPicPr>
          <p:nvPr/>
        </p:nvPicPr>
        <p:blipFill>
          <a:blip r:embed="rId8" cstate="hqprint"/>
          <a:stretch>
            <a:fillRect/>
          </a:stretch>
        </p:blipFill>
        <p:spPr>
          <a:xfrm>
            <a:off x="6160255" y="3419187"/>
            <a:ext cx="2747122" cy="1813387"/>
          </a:xfrm>
          <a:prstGeom prst="rect">
            <a:avLst/>
          </a:prstGeom>
        </p:spPr>
      </p:pic>
      <p:pic>
        <p:nvPicPr>
          <p:cNvPr id="2097212" name="图片 16"/>
          <p:cNvPicPr>
            <a:picLocks noChangeAspect="1"/>
          </p:cNvPicPr>
          <p:nvPr/>
        </p:nvPicPr>
        <p:blipFill>
          <a:blip r:embed="rId9" cstate="hqprint"/>
          <a:stretch>
            <a:fillRect/>
          </a:stretch>
        </p:blipFill>
        <p:spPr>
          <a:xfrm>
            <a:off x="9239073" y="3460871"/>
            <a:ext cx="2761019" cy="1730018"/>
          </a:xfrm>
          <a:prstGeom prst="rect">
            <a:avLst/>
          </a:prstGeom>
        </p:spPr>
      </p:pic>
      <p:sp>
        <p:nvSpPr>
          <p:cNvPr id="1049048" name="文本框 17"/>
          <p:cNvSpPr txBox="1"/>
          <p:nvPr/>
        </p:nvSpPr>
        <p:spPr>
          <a:xfrm>
            <a:off x="7304106" y="2794940"/>
            <a:ext cx="3662680" cy="396240"/>
          </a:xfrm>
          <a:prstGeom prst="rect">
            <a:avLst/>
          </a:prstGeom>
          <a:noFill/>
        </p:spPr>
        <p:txBody>
          <a:bodyPr wrap="none" rtlCol="0">
            <a:spAutoFit/>
          </a:bodyPr>
          <a:p>
            <a:r>
              <a:rPr lang="zh-CN" altLang="en-US" dirty="0">
                <a:ea typeface="思源黑体 CN Bold" panose="020B0800000000000000"/>
              </a:rPr>
              <a:t>图</a:t>
            </a:r>
            <a:r>
              <a:rPr lang="en-US" altLang="zh-CN" dirty="0">
                <a:ea typeface="思源黑体 CN Bold" panose="020B0800000000000000"/>
              </a:rPr>
              <a:t>1 </a:t>
            </a:r>
            <a:r>
              <a:rPr lang="zh-CN" altLang="en-US" dirty="0">
                <a:ea typeface="思源黑体 CN Bold" panose="020B0800000000000000"/>
              </a:rPr>
              <a:t>环境静止时的</a:t>
            </a:r>
            <a:r>
              <a:rPr lang="en-US" altLang="zh-CN" dirty="0">
                <a:ea typeface="思源黑体 CN Bold" panose="020B0800000000000000"/>
              </a:rPr>
              <a:t>CSI</a:t>
            </a:r>
            <a:r>
              <a:rPr lang="zh-CN" altLang="en-US" dirty="0">
                <a:ea typeface="思源黑体 CN Bold" panose="020B0800000000000000"/>
              </a:rPr>
              <a:t>波形和时频图</a:t>
            </a:r>
            <a:endParaRPr lang="zh-CN" altLang="en-US" dirty="0">
              <a:ea typeface="思源黑体 CN Bold" panose="020B0800000000000000"/>
            </a:endParaRPr>
          </a:p>
        </p:txBody>
      </p:sp>
      <p:sp>
        <p:nvSpPr>
          <p:cNvPr id="1049049" name="文本框 18"/>
          <p:cNvSpPr txBox="1"/>
          <p:nvPr/>
        </p:nvSpPr>
        <p:spPr>
          <a:xfrm>
            <a:off x="7215345" y="5397745"/>
            <a:ext cx="3929380" cy="396239"/>
          </a:xfrm>
          <a:prstGeom prst="rect">
            <a:avLst/>
          </a:prstGeom>
          <a:noFill/>
        </p:spPr>
        <p:txBody>
          <a:bodyPr wrap="none" rtlCol="0">
            <a:spAutoFit/>
          </a:bodyPr>
          <a:p>
            <a:r>
              <a:rPr lang="zh-CN" altLang="en-US" dirty="0" smtClean="0">
                <a:ea typeface="思源黑体 CN Bold" panose="020B0800000000000000"/>
              </a:rPr>
              <a:t>图</a:t>
            </a:r>
            <a:r>
              <a:rPr lang="en-US" altLang="zh-CN" dirty="0" smtClean="0">
                <a:ea typeface="思源黑体 CN Bold" panose="020B0800000000000000"/>
              </a:rPr>
              <a:t>2 </a:t>
            </a:r>
            <a:r>
              <a:rPr lang="zh-CN" altLang="en-US" dirty="0" smtClean="0">
                <a:ea typeface="思源黑体 CN Bold" panose="020B0800000000000000"/>
              </a:rPr>
              <a:t>坐下起立动作的</a:t>
            </a:r>
            <a:r>
              <a:rPr lang="en-US" altLang="zh-CN" dirty="0">
                <a:ea typeface="思源黑体 CN Bold" panose="020B0800000000000000"/>
              </a:rPr>
              <a:t>CSI</a:t>
            </a:r>
            <a:r>
              <a:rPr lang="zh-CN" altLang="en-US" dirty="0">
                <a:ea typeface="思源黑体 CN Bold" panose="020B0800000000000000"/>
              </a:rPr>
              <a:t>波形和时频图</a:t>
            </a:r>
            <a:endParaRPr lang="zh-CN" altLang="en-US" dirty="0">
              <a:ea typeface="思源黑体 CN Bold" panose="020B0800000000000000"/>
            </a:endParaRPr>
          </a:p>
        </p:txBody>
      </p:sp>
      <p:sp>
        <p:nvSpPr>
          <p:cNvPr id="1049050" name="文本占位符 3"/>
          <p:cNvSpPr txBox="1"/>
          <p:nvPr/>
        </p:nvSpPr>
        <p:spPr>
          <a:xfrm>
            <a:off x="5911850" y="6453505"/>
            <a:ext cx="1031240" cy="40513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6/25</a:t>
            </a:r>
            <a:endParaRPr lang="en-US" altLang="zh-CN" sz="2000" dirty="0"/>
          </a:p>
        </p:txBody>
      </p:sp>
      <p:sp>
        <p:nvSpPr>
          <p:cNvPr id="1049051" name="云形 22"/>
          <p:cNvSpPr/>
          <p:nvPr/>
        </p:nvSpPr>
        <p:spPr>
          <a:xfrm>
            <a:off x="4017196" y="4481929"/>
            <a:ext cx="1921799" cy="841065"/>
          </a:xfrm>
          <a:prstGeom prst="cloud">
            <a:avLst/>
          </a:prstGeom>
          <a:solidFill>
            <a:schemeClr val="bg2"/>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r>
              <a:rPr lang="zh-CN" altLang="en-US" sz="1600" dirty="0">
                <a:solidFill>
                  <a:srgbClr val="FF0000"/>
                </a:solidFill>
              </a:rPr>
              <a:t>接收器已知的前导符号</a:t>
            </a:r>
            <a:endParaRPr lang="zh-CN" altLang="en-US" sz="1600" dirty="0">
              <a:solidFill>
                <a:srgbClr val="FF0000"/>
              </a:solidFill>
            </a:endParaRPr>
          </a:p>
        </p:txBody>
      </p:sp>
      <p:cxnSp>
        <p:nvCxnSpPr>
          <p:cNvPr id="3145764" name="直接箭头连接符 25"/>
          <p:cNvCxnSpPr/>
          <p:nvPr/>
        </p:nvCxnSpPr>
        <p:spPr>
          <a:xfrm flipH="1" flipV="1">
            <a:off x="3857972" y="4325880"/>
            <a:ext cx="442723" cy="262960"/>
          </a:xfrm>
          <a:prstGeom prst="straightConnector1">
            <a:avLst/>
          </a:prstGeom>
          <a:ln w="34925">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nvGrpSpPr>
          <p:cNvPr id="152" name="组合 28"/>
          <p:cNvGrpSpPr/>
          <p:nvPr/>
        </p:nvGrpSpPr>
        <p:grpSpPr>
          <a:xfrm>
            <a:off x="4323644" y="65006"/>
            <a:ext cx="6210089" cy="717352"/>
            <a:chOff x="3330222" y="76294"/>
            <a:chExt cx="6210089" cy="717352"/>
          </a:xfrm>
        </p:grpSpPr>
        <p:sp>
          <p:nvSpPr>
            <p:cNvPr id="1049052" name="文本框 29"/>
            <p:cNvSpPr txBox="1"/>
            <p:nvPr/>
          </p:nvSpPr>
          <p:spPr>
            <a:xfrm>
              <a:off x="3330222" y="76294"/>
              <a:ext cx="1512711" cy="3962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9053" name="文本框 30"/>
            <p:cNvSpPr txBox="1"/>
            <p:nvPr/>
          </p:nvSpPr>
          <p:spPr>
            <a:xfrm>
              <a:off x="4968484" y="76294"/>
              <a:ext cx="1354667" cy="396240"/>
            </a:xfrm>
            <a:prstGeom prst="rect">
              <a:avLst/>
            </a:prstGeom>
            <a:noFill/>
          </p:spPr>
          <p:txBody>
            <a:bodyPr wrap="square" rtlCol="0">
              <a:spAutoFit/>
            </a:bodyPr>
            <a:p>
              <a:r>
                <a:rPr lang="en-US" altLang="zh-CN" dirty="0" smtClean="0">
                  <a:solidFill>
                    <a:schemeClr val="bg1"/>
                  </a:solidFill>
                  <a:ea typeface="思源黑体 CN Bold" panose="020B0800000000000000"/>
                </a:rPr>
                <a:t>2.</a:t>
              </a:r>
              <a:r>
                <a:rPr lang="zh-CN" altLang="en-US" dirty="0" smtClean="0">
                  <a:solidFill>
                    <a:schemeClr val="bg1"/>
                  </a:solidFill>
                  <a:ea typeface="思源黑体 CN Bold" panose="020B0800000000000000"/>
                </a:rPr>
                <a:t>信道加扰</a:t>
              </a:r>
              <a:endParaRPr lang="zh-CN" altLang="en-US" dirty="0">
                <a:solidFill>
                  <a:schemeClr val="bg1"/>
                </a:solidFill>
                <a:ea typeface="思源黑体 CN Bold" panose="020B0800000000000000"/>
              </a:endParaRPr>
            </a:p>
          </p:txBody>
        </p:sp>
        <p:sp>
          <p:nvSpPr>
            <p:cNvPr id="1049054" name="文本框 31"/>
            <p:cNvSpPr txBox="1"/>
            <p:nvPr/>
          </p:nvSpPr>
          <p:spPr>
            <a:xfrm>
              <a:off x="6349255" y="76294"/>
              <a:ext cx="1515971" cy="7010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9055" name="文本框 32"/>
            <p:cNvSpPr txBox="1"/>
            <p:nvPr/>
          </p:nvSpPr>
          <p:spPr>
            <a:xfrm>
              <a:off x="8024340" y="92606"/>
              <a:ext cx="1515971" cy="701040"/>
            </a:xfrm>
            <a:prstGeom prst="rect">
              <a:avLst/>
            </a:prstGeom>
            <a:noFill/>
          </p:spPr>
          <p:txBody>
            <a:bodyPr wrap="square" rtlCol="0">
              <a:spAutoFit/>
            </a:bodyPr>
            <a:p>
              <a:r>
                <a:rPr lang="en-US" altLang="zh-CN" dirty="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展望与总结</a:t>
              </a:r>
              <a:endParaRPr lang="zh-CN" altLang="en-US" dirty="0">
                <a:solidFill>
                  <a:schemeClr val="bg1">
                    <a:lumMod val="65000"/>
                  </a:schemeClr>
                </a:solidFill>
                <a:ea typeface="思源黑体 CN Bold" panose="020B0800000000000000"/>
              </a:endParaRPr>
            </a:p>
          </p:txBody>
        </p:sp>
      </p:gr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55" name=""/>
        <p:cNvGrpSpPr/>
        <p:nvPr/>
      </p:nvGrpSpPr>
      <p:grpSpPr>
        <a:xfrm>
          <a:off x="0" y="0"/>
          <a:ext cx="0" cy="0"/>
          <a:chOff x="0" y="0"/>
          <a:chExt cx="0" cy="0"/>
        </a:xfrm>
      </p:grpSpPr>
      <p:sp>
        <p:nvSpPr>
          <p:cNvPr id="1049059" name="文本占位符 1"/>
          <p:cNvSpPr>
            <a:spLocks noGrp="1"/>
          </p:cNvSpPr>
          <p:nvPr>
            <p:ph type="body" sz="quarter" idx="12"/>
          </p:nvPr>
        </p:nvSpPr>
        <p:spPr>
          <a:xfrm>
            <a:off x="218105" y="76294"/>
            <a:ext cx="410545" cy="401955"/>
          </a:xfrm>
        </p:spPr>
        <p:txBody>
          <a:bodyPr/>
          <a:p>
            <a:r>
              <a:rPr lang="en-US" altLang="zh-CN" dirty="0"/>
              <a:t>2</a:t>
            </a:r>
            <a:endParaRPr lang="zh-CN" altLang="en-US" dirty="0"/>
          </a:p>
        </p:txBody>
      </p:sp>
      <p:sp>
        <p:nvSpPr>
          <p:cNvPr id="1049060" name="文本占位符 2"/>
          <p:cNvSpPr>
            <a:spLocks noGrp="1"/>
          </p:cNvSpPr>
          <p:nvPr>
            <p:ph type="body" sz="quarter" idx="13"/>
          </p:nvPr>
        </p:nvSpPr>
        <p:spPr/>
        <p:txBody>
          <a:bodyPr/>
          <a:p>
            <a:r>
              <a:rPr lang="zh-CN" altLang="en-US" kern="0" dirty="0">
                <a:ea typeface="楷体" panose="02010609060101010101" pitchFamily="49" charset="-122"/>
                <a:sym typeface="DengXian" panose="02010600030101010101" pitchFamily="2" charset="-122"/>
              </a:rPr>
              <a:t>内</a:t>
            </a:r>
            <a:r>
              <a:rPr lang="zh-CN" altLang="en-US" kern="0" dirty="0" smtClean="0">
                <a:ea typeface="楷体" panose="02010609060101010101" pitchFamily="49" charset="-122"/>
                <a:sym typeface="DengXian" panose="02010600030101010101" pitchFamily="2" charset="-122"/>
              </a:rPr>
              <a:t>建信道加扰方案</a:t>
            </a:r>
            <a:endParaRPr lang="zh-CN" altLang="en-US" kern="0" dirty="0">
              <a:ea typeface="楷体" panose="02010609060101010101" pitchFamily="49" charset="-122"/>
              <a:sym typeface="DengXian" panose="02010600030101010101" pitchFamily="2" charset="-122"/>
            </a:endParaRPr>
          </a:p>
        </p:txBody>
      </p:sp>
      <p:sp>
        <p:nvSpPr>
          <p:cNvPr id="1049061" name="文本框 6"/>
          <p:cNvSpPr txBox="1"/>
          <p:nvPr/>
        </p:nvSpPr>
        <p:spPr>
          <a:xfrm>
            <a:off x="0" y="548869"/>
            <a:ext cx="11064429" cy="726440"/>
          </a:xfrm>
          <a:prstGeom prst="rect">
            <a:avLst/>
          </a:prstGeom>
          <a:noFill/>
        </p:spPr>
        <p:txBody>
          <a:bodyPr wrap="square" rtlCol="0">
            <a:spAutoFit/>
          </a:bodyPr>
          <a:p>
            <a:pPr lvl="1">
              <a:lnSpc>
                <a:spcPct val="150000"/>
              </a:lnSpc>
            </a:pPr>
            <a:r>
              <a:rPr lang="en-US" altLang="zh-CN" sz="2500" dirty="0">
                <a:solidFill>
                  <a:srgbClr val="9E008B"/>
                </a:solidFill>
                <a:latin typeface="Times New Roman" panose="02020503050405090304" pitchFamily="18" charset="0"/>
                <a:ea typeface="思源黑体 CN Bold" panose="020B0800000000000000" pitchFamily="34" charset="-122"/>
                <a:cs typeface="Times New Roman" panose="02020503050405090304" pitchFamily="18" charset="0"/>
                <a:sym typeface="DengXian" panose="02010600030101010101" pitchFamily="2" charset="-122"/>
              </a:rPr>
              <a:t>CSS</a:t>
            </a: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方案面临</a:t>
            </a:r>
            <a:r>
              <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的挑战</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sp>
        <p:nvSpPr>
          <p:cNvPr id="1049062" name="文本框 3"/>
          <p:cNvSpPr txBox="1"/>
          <p:nvPr/>
        </p:nvSpPr>
        <p:spPr>
          <a:xfrm>
            <a:off x="305088" y="1255525"/>
            <a:ext cx="10486842" cy="2225040"/>
          </a:xfrm>
          <a:prstGeom prst="rect">
            <a:avLst/>
          </a:prstGeom>
          <a:noFill/>
        </p:spPr>
        <p:txBody>
          <a:bodyPr wrap="square" rtlCol="0">
            <a:spAutoFit/>
          </a:bodyPr>
          <a:p>
            <a:pPr marL="285750" indent="-285750">
              <a:buFont typeface="Arial" panose="020B0604020202090204" pitchFamily="34" charset="0"/>
              <a:buChar char="•"/>
            </a:pPr>
            <a:r>
              <a:rPr lang="zh-CN" altLang="en-US" dirty="0">
                <a:ea typeface="思源黑体 CN Bold" panose="020B0800000000000000"/>
              </a:rPr>
              <a:t>能够</a:t>
            </a:r>
            <a:r>
              <a:rPr lang="zh-CN" altLang="en-US" dirty="0" smtClean="0">
                <a:ea typeface="思源黑体 CN Bold" panose="020B0800000000000000"/>
              </a:rPr>
              <a:t>产生大量不同的</a:t>
            </a:r>
            <a:r>
              <a:rPr lang="zh-CN" altLang="en-US" dirty="0">
                <a:ea typeface="思源黑体 CN Bold" panose="020B0800000000000000"/>
              </a:rPr>
              <a:t>加</a:t>
            </a:r>
            <a:r>
              <a:rPr lang="zh-CN" altLang="en-US" dirty="0" smtClean="0">
                <a:ea typeface="思源黑体 CN Bold" panose="020B0800000000000000"/>
              </a:rPr>
              <a:t>扰</a:t>
            </a:r>
            <a:r>
              <a:rPr lang="zh-CN" altLang="en-US" dirty="0">
                <a:ea typeface="思源黑体 CN Bold" panose="020B0800000000000000"/>
              </a:rPr>
              <a:t>信号</a:t>
            </a:r>
            <a:r>
              <a:rPr lang="zh-CN" altLang="en-US" dirty="0" smtClean="0">
                <a:ea typeface="思源黑体 CN Bold" panose="020B0800000000000000"/>
              </a:rPr>
              <a:t>，以防</a:t>
            </a:r>
            <a:r>
              <a:rPr lang="zh-CN" altLang="en-US" dirty="0">
                <a:ea typeface="思源黑体 CN Bold" panose="020B0800000000000000"/>
              </a:rPr>
              <a:t>被窃听者</a:t>
            </a:r>
            <a:r>
              <a:rPr lang="zh-CN" altLang="en-US" dirty="0" smtClean="0">
                <a:ea typeface="思源黑体 CN Bold" panose="020B0800000000000000"/>
              </a:rPr>
              <a:t>破解</a:t>
            </a:r>
            <a:endParaRPr lang="en-US" altLang="zh-CN" dirty="0" smtClean="0">
              <a:ea typeface="思源黑体 CN Bold" panose="020B0800000000000000"/>
            </a:endParaRPr>
          </a:p>
          <a:p>
            <a:pPr marL="742950" lvl="1" indent="-285750">
              <a:buFont typeface="Arial" panose="020B0604020202090204" pitchFamily="34" charset="0"/>
              <a:buChar char="•"/>
            </a:pPr>
            <a:endParaRPr lang="en-US" altLang="zh-CN" dirty="0" smtClean="0">
              <a:ea typeface="思源黑体 CN Bold" panose="020B0800000000000000"/>
            </a:endParaRPr>
          </a:p>
          <a:p>
            <a:endParaRPr lang="en-US" altLang="zh-CN" dirty="0">
              <a:ea typeface="思源黑体 CN Bold" panose="020B0800000000000000"/>
            </a:endParaRPr>
          </a:p>
          <a:p>
            <a:pPr marL="285750" indent="-285750">
              <a:buFont typeface="Arial" panose="020B0604020202090204" pitchFamily="34" charset="0"/>
              <a:buChar char="•"/>
            </a:pPr>
            <a:r>
              <a:rPr lang="zh-CN" altLang="en-US" dirty="0">
                <a:ea typeface="思源黑体 CN Bold" panose="020B0800000000000000"/>
              </a:rPr>
              <a:t>不能影响</a:t>
            </a:r>
            <a:r>
              <a:rPr lang="en-US" altLang="zh-CN" dirty="0">
                <a:ea typeface="思源黑体 CN Bold" panose="020B0800000000000000"/>
              </a:rPr>
              <a:t>Wi-Fi</a:t>
            </a:r>
            <a:r>
              <a:rPr lang="zh-CN" altLang="en-US" dirty="0">
                <a:ea typeface="思源黑体 CN Bold" panose="020B0800000000000000"/>
              </a:rPr>
              <a:t>原有的数据通信</a:t>
            </a:r>
            <a:r>
              <a:rPr lang="zh-CN" altLang="en-US" dirty="0" smtClean="0">
                <a:ea typeface="思源黑体 CN Bold" panose="020B0800000000000000"/>
              </a:rPr>
              <a:t>性能</a:t>
            </a:r>
            <a:endParaRPr lang="en-US" altLang="zh-CN" dirty="0" smtClean="0">
              <a:ea typeface="思源黑体 CN Bold" panose="020B0800000000000000"/>
            </a:endParaRPr>
          </a:p>
          <a:p>
            <a:endParaRPr lang="en-US" altLang="zh-CN" dirty="0">
              <a:ea typeface="思源黑体 CN Bold" panose="020B0800000000000000"/>
            </a:endParaRPr>
          </a:p>
          <a:p>
            <a:endParaRPr lang="en-US" altLang="zh-CN" dirty="0">
              <a:ea typeface="思源黑体 CN Bold" panose="020B0800000000000000"/>
            </a:endParaRPr>
          </a:p>
          <a:p>
            <a:pPr marL="285750" indent="-285750">
              <a:buFont typeface="Arial" panose="020B0604020202090204" pitchFamily="34" charset="0"/>
              <a:buChar char="•"/>
            </a:pPr>
            <a:r>
              <a:rPr lang="zh-CN" altLang="en-US" dirty="0">
                <a:ea typeface="思源黑体 CN Bold" panose="020B0800000000000000"/>
              </a:rPr>
              <a:t>保留合法感知设备的感知能力</a:t>
            </a:r>
            <a:endParaRPr lang="zh-CN" altLang="en-US" dirty="0">
              <a:ea typeface="思源黑体 CN Bold" panose="020B0800000000000000"/>
            </a:endParaRPr>
          </a:p>
        </p:txBody>
      </p:sp>
      <p:sp>
        <p:nvSpPr>
          <p:cNvPr id="1049063" name="文本占位符 3"/>
          <p:cNvSpPr txBox="1"/>
          <p:nvPr/>
        </p:nvSpPr>
        <p:spPr>
          <a:xfrm>
            <a:off x="5911850" y="6453505"/>
            <a:ext cx="1122045" cy="40513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8/25</a:t>
            </a:r>
            <a:endParaRPr lang="en-US" altLang="zh-CN" sz="2000" dirty="0"/>
          </a:p>
        </p:txBody>
      </p:sp>
      <p:grpSp>
        <p:nvGrpSpPr>
          <p:cNvPr id="156" name="组合 13"/>
          <p:cNvGrpSpPr/>
          <p:nvPr/>
        </p:nvGrpSpPr>
        <p:grpSpPr>
          <a:xfrm>
            <a:off x="4323644" y="65006"/>
            <a:ext cx="6210089" cy="717352"/>
            <a:chOff x="3330222" y="76294"/>
            <a:chExt cx="6210089" cy="717352"/>
          </a:xfrm>
        </p:grpSpPr>
        <p:sp>
          <p:nvSpPr>
            <p:cNvPr id="1049064" name="文本框 14"/>
            <p:cNvSpPr txBox="1"/>
            <p:nvPr/>
          </p:nvSpPr>
          <p:spPr>
            <a:xfrm>
              <a:off x="3330222" y="76294"/>
              <a:ext cx="1512711" cy="3962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9065" name="文本框 15"/>
            <p:cNvSpPr txBox="1"/>
            <p:nvPr/>
          </p:nvSpPr>
          <p:spPr>
            <a:xfrm>
              <a:off x="4968484" y="76294"/>
              <a:ext cx="1354667" cy="396240"/>
            </a:xfrm>
            <a:prstGeom prst="rect">
              <a:avLst/>
            </a:prstGeom>
            <a:noFill/>
          </p:spPr>
          <p:txBody>
            <a:bodyPr wrap="square" rtlCol="0">
              <a:spAutoFit/>
            </a:bodyPr>
            <a:p>
              <a:r>
                <a:rPr lang="en-US" altLang="zh-CN" dirty="0" smtClean="0">
                  <a:solidFill>
                    <a:schemeClr val="bg1"/>
                  </a:solidFill>
                  <a:ea typeface="思源黑体 CN Bold" panose="020B0800000000000000"/>
                </a:rPr>
                <a:t>2.</a:t>
              </a:r>
              <a:r>
                <a:rPr lang="zh-CN" altLang="en-US" dirty="0" smtClean="0">
                  <a:solidFill>
                    <a:schemeClr val="bg1"/>
                  </a:solidFill>
                  <a:ea typeface="思源黑体 CN Bold" panose="020B0800000000000000"/>
                </a:rPr>
                <a:t>信道加扰</a:t>
              </a:r>
              <a:endParaRPr lang="zh-CN" altLang="en-US" dirty="0">
                <a:solidFill>
                  <a:schemeClr val="bg1"/>
                </a:solidFill>
                <a:ea typeface="思源黑体 CN Bold" panose="020B0800000000000000"/>
              </a:endParaRPr>
            </a:p>
          </p:txBody>
        </p:sp>
        <p:sp>
          <p:nvSpPr>
            <p:cNvPr id="1049066" name="文本框 16"/>
            <p:cNvSpPr txBox="1"/>
            <p:nvPr/>
          </p:nvSpPr>
          <p:spPr>
            <a:xfrm>
              <a:off x="6349255" y="76294"/>
              <a:ext cx="1515971" cy="7010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9067" name="文本框 17"/>
            <p:cNvSpPr txBox="1"/>
            <p:nvPr/>
          </p:nvSpPr>
          <p:spPr>
            <a:xfrm>
              <a:off x="8024340" y="92606"/>
              <a:ext cx="1515971" cy="7010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总结</a:t>
              </a:r>
              <a:r>
                <a:rPr lang="zh-CN" altLang="en-US" dirty="0" smtClean="0">
                  <a:solidFill>
                    <a:schemeClr val="bg1">
                      <a:lumMod val="65000"/>
                    </a:schemeClr>
                  </a:solidFill>
                  <a:ea typeface="思源黑体 CN Bold" panose="020B0800000000000000"/>
                </a:rPr>
                <a:t>与展望</a:t>
              </a:r>
              <a:endParaRPr lang="zh-CN" altLang="en-US" dirty="0">
                <a:solidFill>
                  <a:schemeClr val="bg1">
                    <a:lumMod val="65000"/>
                  </a:schemeClr>
                </a:solidFill>
                <a:ea typeface="思源黑体 CN Bold" panose="020B0800000000000000"/>
              </a:endParaRPr>
            </a:p>
          </p:txBody>
        </p:sp>
      </p:gr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59" name=""/>
        <p:cNvGrpSpPr/>
        <p:nvPr/>
      </p:nvGrpSpPr>
      <p:grpSpPr>
        <a:xfrm>
          <a:off x="0" y="0"/>
          <a:ext cx="0" cy="0"/>
          <a:chOff x="0" y="0"/>
          <a:chExt cx="0" cy="0"/>
        </a:xfrm>
      </p:grpSpPr>
      <p:sp>
        <p:nvSpPr>
          <p:cNvPr id="1049071" name="文本占位符 1"/>
          <p:cNvSpPr>
            <a:spLocks noGrp="1"/>
          </p:cNvSpPr>
          <p:nvPr>
            <p:ph type="body" sz="quarter" idx="12"/>
          </p:nvPr>
        </p:nvSpPr>
        <p:spPr>
          <a:xfrm>
            <a:off x="218105" y="76294"/>
            <a:ext cx="410545" cy="401955"/>
          </a:xfrm>
        </p:spPr>
        <p:txBody>
          <a:bodyPr/>
          <a:p>
            <a:r>
              <a:rPr lang="en-US" altLang="zh-CN" dirty="0"/>
              <a:t>2</a:t>
            </a:r>
            <a:endParaRPr lang="zh-CN" altLang="en-US" dirty="0"/>
          </a:p>
        </p:txBody>
      </p:sp>
      <p:sp>
        <p:nvSpPr>
          <p:cNvPr id="1049072" name="文本占位符 2"/>
          <p:cNvSpPr>
            <a:spLocks noGrp="1"/>
          </p:cNvSpPr>
          <p:nvPr>
            <p:ph type="body" sz="quarter" idx="13"/>
          </p:nvPr>
        </p:nvSpPr>
        <p:spPr/>
        <p:txBody>
          <a:bodyPr/>
          <a:p>
            <a:r>
              <a:rPr lang="zh-CN" altLang="en-US" kern="0" dirty="0">
                <a:ea typeface="楷体" panose="02010609060101010101" pitchFamily="49" charset="-122"/>
                <a:sym typeface="DengXian" panose="02010600030101010101" pitchFamily="2" charset="-122"/>
              </a:rPr>
              <a:t>内</a:t>
            </a:r>
            <a:r>
              <a:rPr lang="zh-CN" altLang="en-US" kern="0" dirty="0" smtClean="0">
                <a:ea typeface="楷体" panose="02010609060101010101" pitchFamily="49" charset="-122"/>
                <a:sym typeface="DengXian" panose="02010600030101010101" pitchFamily="2" charset="-122"/>
              </a:rPr>
              <a:t>建信道加扰方案</a:t>
            </a:r>
            <a:endParaRPr lang="zh-CN" altLang="en-US" kern="0" dirty="0">
              <a:ea typeface="楷体" panose="02010609060101010101" pitchFamily="49" charset="-122"/>
              <a:sym typeface="DengXian" panose="02010600030101010101" pitchFamily="2" charset="-122"/>
            </a:endParaRPr>
          </a:p>
        </p:txBody>
      </p:sp>
      <p:sp>
        <p:nvSpPr>
          <p:cNvPr id="1049073" name="文本框 6"/>
          <p:cNvSpPr txBox="1"/>
          <p:nvPr/>
        </p:nvSpPr>
        <p:spPr>
          <a:xfrm>
            <a:off x="218105" y="574483"/>
            <a:ext cx="11064429" cy="726439"/>
          </a:xfrm>
          <a:prstGeom prst="rect">
            <a:avLst/>
          </a:prstGeom>
          <a:noFill/>
        </p:spPr>
        <p:txBody>
          <a:bodyPr wrap="square" rtlCol="0">
            <a:spAutoFit/>
          </a:bodyPr>
          <a:p>
            <a:pPr marL="0" lvl="1">
              <a:lnSpc>
                <a:spcPct val="150000"/>
              </a:lnSpc>
            </a:pPr>
            <a:r>
              <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保留现存接收器的符号同步能力</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pic>
        <p:nvPicPr>
          <p:cNvPr id="2097213" name="图片 3"/>
          <p:cNvPicPr>
            <a:picLocks noChangeAspect="1"/>
          </p:cNvPicPr>
          <p:nvPr/>
        </p:nvPicPr>
        <p:blipFill>
          <a:blip r:embed="rId1"/>
          <a:stretch>
            <a:fillRect/>
          </a:stretch>
        </p:blipFill>
        <p:spPr>
          <a:xfrm>
            <a:off x="4463361" y="1175610"/>
            <a:ext cx="7322239" cy="5141029"/>
          </a:xfrm>
          <a:prstGeom prst="rect">
            <a:avLst/>
          </a:prstGeom>
        </p:spPr>
      </p:pic>
      <p:sp>
        <p:nvSpPr>
          <p:cNvPr id="1049074" name="文本占位符 3"/>
          <p:cNvSpPr txBox="1"/>
          <p:nvPr/>
        </p:nvSpPr>
        <p:spPr>
          <a:xfrm>
            <a:off x="5750560" y="6453505"/>
            <a:ext cx="1144905" cy="40513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15/25</a:t>
            </a:r>
            <a:endParaRPr lang="en-US" altLang="zh-CN" sz="2000" dirty="0"/>
          </a:p>
        </p:txBody>
      </p:sp>
      <p:sp>
        <p:nvSpPr>
          <p:cNvPr id="1049075" name="文本框 4"/>
          <p:cNvSpPr txBox="1"/>
          <p:nvPr/>
        </p:nvSpPr>
        <p:spPr>
          <a:xfrm>
            <a:off x="340475" y="2077795"/>
            <a:ext cx="4000517" cy="2529840"/>
          </a:xfrm>
          <a:prstGeom prst="rect">
            <a:avLst/>
          </a:prstGeom>
          <a:noFill/>
        </p:spPr>
        <p:txBody>
          <a:bodyPr wrap="square" rtlCol="0">
            <a:spAutoFit/>
          </a:bodyPr>
          <a:p>
            <a:r>
              <a:rPr lang="zh-CN" altLang="en-US" dirty="0">
                <a:ea typeface="思源黑体 CN Bold" panose="020B0800000000000000"/>
              </a:rPr>
              <a:t>为了使接收器仍然可以基于 </a:t>
            </a:r>
            <a:r>
              <a:rPr lang="zh-CN" altLang="en-US" dirty="0" smtClean="0">
                <a:ea typeface="思源黑体 CN Bold" panose="020B0800000000000000"/>
              </a:rPr>
              <a:t>前导符号做</a:t>
            </a:r>
            <a:r>
              <a:rPr lang="zh-CN" altLang="en-US" dirty="0">
                <a:ea typeface="思源黑体 CN Bold" panose="020B0800000000000000"/>
              </a:rPr>
              <a:t>符号同步，单个加扰向量 𝑆</a:t>
            </a:r>
            <a:r>
              <a:rPr lang="en-US" altLang="zh-CN" dirty="0">
                <a:ea typeface="思源黑体 CN Bold" panose="020B0800000000000000"/>
              </a:rPr>
              <a:t>(</a:t>
            </a:r>
            <a:r>
              <a:rPr lang="zh-CN" altLang="en-US" dirty="0">
                <a:ea typeface="思源黑体 CN Bold" panose="020B0800000000000000"/>
              </a:rPr>
              <a:t>𝑓</a:t>
            </a:r>
            <a:r>
              <a:rPr lang="en-US" altLang="zh-CN" dirty="0">
                <a:ea typeface="思源黑体 CN Bold" panose="020B0800000000000000"/>
              </a:rPr>
              <a:t>, </a:t>
            </a:r>
            <a:r>
              <a:rPr lang="zh-CN" altLang="en-US" dirty="0">
                <a:ea typeface="思源黑体 CN Bold" panose="020B0800000000000000"/>
              </a:rPr>
              <a:t>𝑡</a:t>
            </a:r>
            <a:r>
              <a:rPr lang="en-US" altLang="zh-CN" dirty="0" smtClean="0">
                <a:ea typeface="思源黑体 CN Bold" panose="020B0800000000000000"/>
              </a:rPr>
              <a:t>)</a:t>
            </a:r>
            <a:r>
              <a:rPr lang="zh-CN" altLang="en-US" dirty="0" smtClean="0">
                <a:ea typeface="思源黑体 CN Bold" panose="020B0800000000000000"/>
              </a:rPr>
              <a:t>在</a:t>
            </a:r>
            <a:r>
              <a:rPr lang="zh-CN" altLang="en-US" dirty="0">
                <a:ea typeface="思源黑体 CN Bold" panose="020B0800000000000000"/>
              </a:rPr>
              <a:t>不同子载波上的相位取值要</a:t>
            </a:r>
            <a:r>
              <a:rPr lang="zh-CN" altLang="en-US" dirty="0" smtClean="0">
                <a:ea typeface="思源黑体 CN Bold" panose="020B0800000000000000"/>
              </a:rPr>
              <a:t>符合信号传播的时延模型</a:t>
            </a:r>
            <a:r>
              <a:rPr lang="zh-CN" altLang="en-US" dirty="0">
                <a:ea typeface="思源黑体 CN Bold" panose="020B0800000000000000"/>
              </a:rPr>
              <a:t>，不能</a:t>
            </a:r>
            <a:r>
              <a:rPr lang="zh-CN" altLang="en-US" dirty="0" smtClean="0">
                <a:ea typeface="思源黑体 CN Bold" panose="020B0800000000000000"/>
              </a:rPr>
              <a:t>突变。</a:t>
            </a:r>
            <a:endParaRPr lang="en-US" altLang="zh-CN" dirty="0" smtClean="0">
              <a:ea typeface="思源黑体 CN Bold" panose="020B0800000000000000"/>
            </a:endParaRPr>
          </a:p>
          <a:p>
            <a:endParaRPr lang="en-US" altLang="zh-CN" dirty="0" smtClean="0">
              <a:ea typeface="思源黑体 CN Bold" panose="020B0800000000000000"/>
            </a:endParaRPr>
          </a:p>
          <a:p>
            <a:r>
              <a:rPr lang="zh-CN" altLang="en-US" dirty="0" smtClean="0">
                <a:ea typeface="思源黑体 CN Bold" panose="020B0800000000000000"/>
              </a:rPr>
              <a:t>否则接收器所</a:t>
            </a:r>
            <a:r>
              <a:rPr lang="zh-CN" altLang="en-US" dirty="0">
                <a:ea typeface="思源黑体 CN Bold" panose="020B0800000000000000"/>
              </a:rPr>
              <a:t>做的互相关将不再产生</a:t>
            </a:r>
            <a:endParaRPr lang="zh-CN" altLang="en-US" dirty="0">
              <a:ea typeface="思源黑体 CN Bold" panose="020B0800000000000000"/>
            </a:endParaRPr>
          </a:p>
          <a:p>
            <a:r>
              <a:rPr lang="zh-CN" altLang="en-US" dirty="0">
                <a:ea typeface="思源黑体 CN Bold" panose="020B0800000000000000"/>
              </a:rPr>
              <a:t>明显的峰值，符号</a:t>
            </a:r>
            <a:r>
              <a:rPr lang="zh-CN" altLang="en-US" dirty="0" smtClean="0">
                <a:ea typeface="思源黑体 CN Bold" panose="020B0800000000000000"/>
              </a:rPr>
              <a:t>同步会失效，导致数据解码失败。</a:t>
            </a:r>
            <a:endParaRPr lang="zh-CN" altLang="en-US" dirty="0">
              <a:ea typeface="思源黑体 CN Bold" panose="020B0800000000000000"/>
            </a:endParaRPr>
          </a:p>
        </p:txBody>
      </p:sp>
      <p:grpSp>
        <p:nvGrpSpPr>
          <p:cNvPr id="160" name="组合 7"/>
          <p:cNvGrpSpPr/>
          <p:nvPr/>
        </p:nvGrpSpPr>
        <p:grpSpPr>
          <a:xfrm>
            <a:off x="4323644" y="65006"/>
            <a:ext cx="6210089" cy="717352"/>
            <a:chOff x="3330222" y="76294"/>
            <a:chExt cx="6210089" cy="717352"/>
          </a:xfrm>
        </p:grpSpPr>
        <p:sp>
          <p:nvSpPr>
            <p:cNvPr id="1049076" name="文本框 9"/>
            <p:cNvSpPr txBox="1"/>
            <p:nvPr/>
          </p:nvSpPr>
          <p:spPr>
            <a:xfrm>
              <a:off x="3330222" y="76294"/>
              <a:ext cx="1512711" cy="3962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9077" name="文本框 10"/>
            <p:cNvSpPr txBox="1"/>
            <p:nvPr/>
          </p:nvSpPr>
          <p:spPr>
            <a:xfrm>
              <a:off x="4968484" y="76294"/>
              <a:ext cx="1354667" cy="396240"/>
            </a:xfrm>
            <a:prstGeom prst="rect">
              <a:avLst/>
            </a:prstGeom>
            <a:noFill/>
          </p:spPr>
          <p:txBody>
            <a:bodyPr wrap="square" rtlCol="0">
              <a:spAutoFit/>
            </a:bodyPr>
            <a:p>
              <a:r>
                <a:rPr lang="en-US" altLang="zh-CN" dirty="0" smtClean="0">
                  <a:solidFill>
                    <a:schemeClr val="bg1"/>
                  </a:solidFill>
                  <a:ea typeface="思源黑体 CN Bold" panose="020B0800000000000000"/>
                </a:rPr>
                <a:t>2.</a:t>
              </a:r>
              <a:r>
                <a:rPr lang="zh-CN" altLang="en-US" dirty="0" smtClean="0">
                  <a:solidFill>
                    <a:schemeClr val="bg1"/>
                  </a:solidFill>
                  <a:ea typeface="思源黑体 CN Bold" panose="020B0800000000000000"/>
                </a:rPr>
                <a:t>信道加扰</a:t>
              </a:r>
              <a:endParaRPr lang="zh-CN" altLang="en-US" dirty="0">
                <a:solidFill>
                  <a:schemeClr val="bg1"/>
                </a:solidFill>
                <a:ea typeface="思源黑体 CN Bold" panose="020B0800000000000000"/>
              </a:endParaRPr>
            </a:p>
          </p:txBody>
        </p:sp>
        <p:sp>
          <p:nvSpPr>
            <p:cNvPr id="1049078" name="文本框 11"/>
            <p:cNvSpPr txBox="1"/>
            <p:nvPr/>
          </p:nvSpPr>
          <p:spPr>
            <a:xfrm>
              <a:off x="6349255" y="76294"/>
              <a:ext cx="1515971" cy="7010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9079" name="文本框 12"/>
            <p:cNvSpPr txBox="1"/>
            <p:nvPr/>
          </p:nvSpPr>
          <p:spPr>
            <a:xfrm>
              <a:off x="8024340" y="92606"/>
              <a:ext cx="1515971" cy="7010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总结</a:t>
              </a:r>
              <a:r>
                <a:rPr lang="zh-CN" altLang="en-US" dirty="0" smtClean="0">
                  <a:solidFill>
                    <a:schemeClr val="bg1">
                      <a:lumMod val="65000"/>
                    </a:schemeClr>
                  </a:solidFill>
                  <a:ea typeface="思源黑体 CN Bold" panose="020B0800000000000000"/>
                </a:rPr>
                <a:t>与展望</a:t>
              </a:r>
              <a:endParaRPr lang="zh-CN" altLang="en-US" dirty="0">
                <a:solidFill>
                  <a:schemeClr val="bg1">
                    <a:lumMod val="65000"/>
                  </a:schemeClr>
                </a:solidFill>
                <a:ea typeface="思源黑体 CN Bold" panose="020B0800000000000000"/>
              </a:endParaRPr>
            </a:p>
          </p:txBody>
        </p:sp>
      </p:gr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63" name=""/>
        <p:cNvGrpSpPr/>
        <p:nvPr/>
      </p:nvGrpSpPr>
      <p:grpSpPr>
        <a:xfrm>
          <a:off x="0" y="0"/>
          <a:ext cx="0" cy="0"/>
          <a:chOff x="0" y="0"/>
          <a:chExt cx="0" cy="0"/>
        </a:xfrm>
      </p:grpSpPr>
      <p:sp>
        <p:nvSpPr>
          <p:cNvPr id="1049083" name="文本占位符 1"/>
          <p:cNvSpPr>
            <a:spLocks noGrp="1"/>
          </p:cNvSpPr>
          <p:nvPr>
            <p:ph type="body" sz="quarter" idx="12"/>
          </p:nvPr>
        </p:nvSpPr>
        <p:spPr>
          <a:xfrm>
            <a:off x="218105" y="76294"/>
            <a:ext cx="410545" cy="401955"/>
          </a:xfrm>
        </p:spPr>
        <p:txBody>
          <a:bodyPr/>
          <a:p>
            <a:r>
              <a:rPr lang="en-US" altLang="zh-CN" dirty="0" smtClean="0"/>
              <a:t>3</a:t>
            </a:r>
            <a:endParaRPr lang="zh-CN" altLang="en-US" dirty="0"/>
          </a:p>
        </p:txBody>
      </p:sp>
      <p:sp>
        <p:nvSpPr>
          <p:cNvPr id="1049084" name="文本占位符 2"/>
          <p:cNvSpPr>
            <a:spLocks noGrp="1"/>
          </p:cNvSpPr>
          <p:nvPr>
            <p:ph type="body" sz="quarter" idx="13"/>
          </p:nvPr>
        </p:nvSpPr>
        <p:spPr/>
        <p:txBody>
          <a:bodyPr/>
          <a:p>
            <a:r>
              <a:rPr lang="zh-CN" altLang="en-US" kern="0" dirty="0" smtClean="0">
                <a:ea typeface="楷体" panose="02010609060101010101" pitchFamily="49" charset="-122"/>
                <a:sym typeface="DengXian" panose="02010600030101010101" pitchFamily="2" charset="-122"/>
              </a:rPr>
              <a:t>实验结果</a:t>
            </a:r>
            <a:endParaRPr lang="zh-CN" altLang="en-US" kern="0" dirty="0">
              <a:ea typeface="楷体" panose="02010609060101010101" pitchFamily="49" charset="-122"/>
              <a:sym typeface="DengXian" panose="02010600030101010101" pitchFamily="2" charset="-122"/>
            </a:endParaRPr>
          </a:p>
        </p:txBody>
      </p:sp>
      <p:sp>
        <p:nvSpPr>
          <p:cNvPr id="1049085" name="文本框 6"/>
          <p:cNvSpPr txBox="1"/>
          <p:nvPr/>
        </p:nvSpPr>
        <p:spPr>
          <a:xfrm>
            <a:off x="-118489" y="478249"/>
            <a:ext cx="11064429" cy="726440"/>
          </a:xfrm>
          <a:prstGeom prst="rect">
            <a:avLst/>
          </a:prstGeom>
          <a:noFill/>
        </p:spPr>
        <p:txBody>
          <a:bodyPr wrap="square" rtlCol="0">
            <a:spAutoFit/>
          </a:bodyPr>
          <a:p>
            <a:pPr lvl="1">
              <a:lnSpc>
                <a:spcPct val="150000"/>
              </a:lnSpc>
            </a:pPr>
            <a:r>
              <a:rPr lang="zh-CN" altLang="en-US"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系统负载分析</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sp>
        <p:nvSpPr>
          <p:cNvPr id="1049086" name="文本占位符 3"/>
          <p:cNvSpPr txBox="1"/>
          <p:nvPr/>
        </p:nvSpPr>
        <p:spPr>
          <a:xfrm>
            <a:off x="5750560" y="6453505"/>
            <a:ext cx="1144905" cy="40449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23/25</a:t>
            </a:r>
            <a:endParaRPr lang="en-US" altLang="zh-CN" sz="2000" dirty="0"/>
          </a:p>
        </p:txBody>
      </p:sp>
      <p:pic>
        <p:nvPicPr>
          <p:cNvPr id="2097214" name="图片 3"/>
          <p:cNvPicPr>
            <a:picLocks noChangeAspect="1"/>
          </p:cNvPicPr>
          <p:nvPr/>
        </p:nvPicPr>
        <p:blipFill>
          <a:blip r:embed="rId1"/>
          <a:stretch>
            <a:fillRect/>
          </a:stretch>
        </p:blipFill>
        <p:spPr>
          <a:xfrm>
            <a:off x="5198577" y="4057849"/>
            <a:ext cx="5627467" cy="2201251"/>
          </a:xfrm>
          <a:prstGeom prst="rect">
            <a:avLst/>
          </a:prstGeom>
        </p:spPr>
      </p:pic>
      <p:pic>
        <p:nvPicPr>
          <p:cNvPr id="2097215" name="图片 4"/>
          <p:cNvPicPr>
            <a:picLocks noChangeAspect="1"/>
          </p:cNvPicPr>
          <p:nvPr/>
        </p:nvPicPr>
        <p:blipFill>
          <a:blip r:embed="rId2"/>
          <a:stretch>
            <a:fillRect/>
          </a:stretch>
        </p:blipFill>
        <p:spPr>
          <a:xfrm>
            <a:off x="5198577" y="2788407"/>
            <a:ext cx="5627467" cy="1239383"/>
          </a:xfrm>
          <a:prstGeom prst="rect">
            <a:avLst/>
          </a:prstGeom>
        </p:spPr>
      </p:pic>
      <p:sp>
        <p:nvSpPr>
          <p:cNvPr id="1049087" name="文本框 9"/>
          <p:cNvSpPr txBox="1"/>
          <p:nvPr/>
        </p:nvSpPr>
        <p:spPr>
          <a:xfrm>
            <a:off x="423377" y="3010745"/>
            <a:ext cx="4515556" cy="1310639"/>
          </a:xfrm>
          <a:prstGeom prst="rect">
            <a:avLst/>
          </a:prstGeom>
          <a:noFill/>
        </p:spPr>
        <p:txBody>
          <a:bodyPr wrap="square" rtlCol="0">
            <a:spAutoFit/>
          </a:bodyPr>
          <a:p>
            <a:pPr marL="285750" indent="-285750">
              <a:buFont typeface="Arial" panose="020B0604020202090204" pitchFamily="34" charset="0"/>
              <a:buChar char="•"/>
            </a:pPr>
            <a:r>
              <a:rPr lang="en-US" altLang="zh-CN" b="1" dirty="0" smtClean="0">
                <a:ea typeface="思源黑体 CN Bold" panose="020B0800000000000000"/>
              </a:rPr>
              <a:t>FPGA</a:t>
            </a:r>
            <a:r>
              <a:rPr lang="zh-CN" altLang="en-US" b="1" dirty="0" smtClean="0">
                <a:ea typeface="思源黑体 CN Bold" panose="020B0800000000000000"/>
              </a:rPr>
              <a:t>资源</a:t>
            </a:r>
            <a:r>
              <a:rPr lang="zh-CN" altLang="en-US" dirty="0" smtClean="0">
                <a:ea typeface="思源黑体 CN Bold" panose="020B0800000000000000"/>
              </a:rPr>
              <a:t>：</a:t>
            </a:r>
            <a:r>
              <a:rPr lang="en-US" altLang="zh-CN" dirty="0" smtClean="0">
                <a:ea typeface="思源黑体 CN Bold" panose="020B0800000000000000"/>
              </a:rPr>
              <a:t>CSS </a:t>
            </a:r>
            <a:r>
              <a:rPr lang="zh-CN" altLang="en-US" dirty="0">
                <a:ea typeface="思源黑体 CN Bold" panose="020B0800000000000000"/>
              </a:rPr>
              <a:t>只消耗了很少的硬件资源，在某些其他资源</a:t>
            </a:r>
            <a:r>
              <a:rPr lang="zh-CN" altLang="en-US" dirty="0" smtClean="0">
                <a:ea typeface="思源黑体 CN Bold" panose="020B0800000000000000"/>
              </a:rPr>
              <a:t>有限的</a:t>
            </a:r>
            <a:r>
              <a:rPr lang="zh-CN" altLang="en-US" dirty="0">
                <a:ea typeface="思源黑体 CN Bold" panose="020B0800000000000000"/>
              </a:rPr>
              <a:t>平台上也不会构成瓶颈。 </a:t>
            </a:r>
            <a:br>
              <a:rPr lang="zh-CN" altLang="en-US" dirty="0">
                <a:ea typeface="思源黑体 CN Bold" panose="020B0800000000000000"/>
              </a:rPr>
            </a:br>
            <a:endParaRPr lang="zh-CN" altLang="en-US" dirty="0">
              <a:ea typeface="思源黑体 CN Bold" panose="020B0800000000000000"/>
            </a:endParaRPr>
          </a:p>
        </p:txBody>
      </p:sp>
      <p:sp>
        <p:nvSpPr>
          <p:cNvPr id="1049088" name="文本框 10"/>
          <p:cNvSpPr txBox="1"/>
          <p:nvPr/>
        </p:nvSpPr>
        <p:spPr>
          <a:xfrm>
            <a:off x="423377" y="4241133"/>
            <a:ext cx="4893690" cy="1310639"/>
          </a:xfrm>
          <a:prstGeom prst="rect">
            <a:avLst/>
          </a:prstGeom>
          <a:noFill/>
        </p:spPr>
        <p:txBody>
          <a:bodyPr wrap="square" rtlCol="0">
            <a:spAutoFit/>
          </a:bodyPr>
          <a:p>
            <a:pPr marL="285750" indent="-285750">
              <a:buFont typeface="Arial" panose="020B0604020202090204" pitchFamily="34" charset="0"/>
              <a:buChar char="•"/>
            </a:pPr>
            <a:r>
              <a:rPr lang="en-US" altLang="zh-CN" b="1" dirty="0" smtClean="0">
                <a:ea typeface="思源黑体 CN Bold" panose="020B0800000000000000"/>
              </a:rPr>
              <a:t>PAPR</a:t>
            </a:r>
            <a:r>
              <a:rPr lang="zh-CN" altLang="en-US" dirty="0" smtClean="0">
                <a:ea typeface="思源黑体 CN Bold" panose="020B0800000000000000"/>
              </a:rPr>
              <a:t>：仿真计算显示，在</a:t>
            </a:r>
            <a:r>
              <a:rPr lang="zh-CN" altLang="en-US" dirty="0">
                <a:ea typeface="思源黑体 CN Bold" panose="020B0800000000000000"/>
              </a:rPr>
              <a:t>每</a:t>
            </a:r>
            <a:r>
              <a:rPr lang="zh-CN" altLang="en-US" dirty="0" smtClean="0">
                <a:ea typeface="思源黑体 CN Bold" panose="020B0800000000000000"/>
              </a:rPr>
              <a:t>种调制模式下，</a:t>
            </a:r>
            <a:r>
              <a:rPr lang="zh-CN" altLang="en-US" dirty="0">
                <a:ea typeface="思源黑体 CN Bold" panose="020B0800000000000000"/>
              </a:rPr>
              <a:t>加扰后的信号与原始信号具有相同的 </a:t>
            </a:r>
            <a:r>
              <a:rPr lang="en-US" altLang="zh-CN" dirty="0">
                <a:ea typeface="思源黑体 CN Bold" panose="020B0800000000000000"/>
              </a:rPr>
              <a:t>PAPR </a:t>
            </a:r>
            <a:r>
              <a:rPr lang="zh-CN" altLang="en-US" dirty="0">
                <a:ea typeface="思源黑体 CN Bold" panose="020B0800000000000000"/>
              </a:rPr>
              <a:t>分布。</a:t>
            </a:r>
            <a:br>
              <a:rPr lang="zh-CN" altLang="en-US" dirty="0">
                <a:ea typeface="思源黑体 CN Bold" panose="020B0800000000000000"/>
              </a:rPr>
            </a:br>
            <a:endParaRPr lang="zh-CN" altLang="en-US" dirty="0">
              <a:ea typeface="思源黑体 CN Bold" panose="020B0800000000000000"/>
            </a:endParaRPr>
          </a:p>
        </p:txBody>
      </p:sp>
      <p:sp>
        <p:nvSpPr>
          <p:cNvPr id="1049089" name="文本框 11"/>
          <p:cNvSpPr txBox="1"/>
          <p:nvPr/>
        </p:nvSpPr>
        <p:spPr>
          <a:xfrm>
            <a:off x="423377" y="1679540"/>
            <a:ext cx="10222046" cy="1310639"/>
          </a:xfrm>
          <a:prstGeom prst="rect">
            <a:avLst/>
          </a:prstGeom>
          <a:noFill/>
        </p:spPr>
        <p:txBody>
          <a:bodyPr wrap="square" rtlCol="0">
            <a:spAutoFit/>
          </a:bodyPr>
          <a:p>
            <a:pPr marL="285750" indent="-285750">
              <a:buFont typeface="Arial" panose="020B0604020202090204" pitchFamily="34" charset="0"/>
              <a:buChar char="•"/>
            </a:pPr>
            <a:r>
              <a:rPr lang="en-US" altLang="zh-CN" b="1" dirty="0" smtClean="0">
                <a:ea typeface="思源黑体 CN Bold" panose="020B0800000000000000"/>
              </a:rPr>
              <a:t>CPU</a:t>
            </a:r>
            <a:r>
              <a:rPr lang="zh-CN" altLang="en-US" b="1" dirty="0" smtClean="0">
                <a:ea typeface="思源黑体 CN Bold" panose="020B0800000000000000"/>
              </a:rPr>
              <a:t>时间</a:t>
            </a:r>
            <a:r>
              <a:rPr lang="zh-CN" altLang="en-US" dirty="0" smtClean="0">
                <a:ea typeface="思源黑体 CN Bold" panose="020B0800000000000000"/>
              </a:rPr>
              <a:t>：</a:t>
            </a:r>
            <a:r>
              <a:rPr lang="en-US" altLang="zh-CN" dirty="0" smtClean="0">
                <a:ea typeface="思源黑体 CN Bold" panose="020B0800000000000000"/>
              </a:rPr>
              <a:t>CSS</a:t>
            </a:r>
            <a:r>
              <a:rPr lang="zh-CN" altLang="en-US" dirty="0" smtClean="0">
                <a:ea typeface="思源黑体 CN Bold" panose="020B0800000000000000"/>
              </a:rPr>
              <a:t>生成 可供使用</a:t>
            </a:r>
            <a:r>
              <a:rPr lang="en-US" altLang="zh-CN" dirty="0" smtClean="0">
                <a:ea typeface="思源黑体 CN Bold" panose="020B0800000000000000"/>
              </a:rPr>
              <a:t>10</a:t>
            </a:r>
            <a:r>
              <a:rPr lang="zh-CN" altLang="en-US" dirty="0" smtClean="0">
                <a:ea typeface="思源黑体 CN Bold" panose="020B0800000000000000"/>
              </a:rPr>
              <a:t>秒的加扰</a:t>
            </a:r>
            <a:r>
              <a:rPr lang="zh-CN" altLang="en-US" dirty="0">
                <a:ea typeface="思源黑体 CN Bold" panose="020B0800000000000000"/>
              </a:rPr>
              <a:t>向量需要 </a:t>
            </a:r>
            <a:r>
              <a:rPr lang="en-US" altLang="zh-CN" dirty="0">
                <a:ea typeface="思源黑体 CN Bold" panose="020B0800000000000000"/>
              </a:rPr>
              <a:t>1.16 </a:t>
            </a:r>
            <a:r>
              <a:rPr lang="zh-CN" altLang="en-US" dirty="0" smtClean="0">
                <a:ea typeface="思源黑体 CN Bold" panose="020B0800000000000000"/>
              </a:rPr>
              <a:t>秒，但这</a:t>
            </a:r>
            <a:r>
              <a:rPr lang="zh-CN" altLang="en-US" dirty="0">
                <a:ea typeface="思源黑体 CN Bold" panose="020B0800000000000000"/>
              </a:rPr>
              <a:t>不会增加系统发送数据的时延，因为网卡驱动并不</a:t>
            </a:r>
            <a:r>
              <a:rPr lang="zh-CN" altLang="en-US" dirty="0" smtClean="0">
                <a:ea typeface="思源黑体 CN Bold" panose="020B0800000000000000"/>
              </a:rPr>
              <a:t>关系加</a:t>
            </a:r>
            <a:r>
              <a:rPr lang="zh-CN" altLang="en-US" dirty="0">
                <a:ea typeface="思源黑体 CN Bold" panose="020B0800000000000000"/>
              </a:rPr>
              <a:t>扰向量的产生过程和具体内容，它只是简单地</a:t>
            </a:r>
            <a:r>
              <a:rPr lang="zh-CN" altLang="en-US" dirty="0" smtClean="0">
                <a:ea typeface="思源黑体 CN Bold" panose="020B0800000000000000"/>
              </a:rPr>
              <a:t>根据系统时间</a:t>
            </a:r>
            <a:r>
              <a:rPr lang="zh-CN" altLang="en-US" dirty="0">
                <a:ea typeface="思源黑体 CN Bold" panose="020B0800000000000000"/>
              </a:rPr>
              <a:t>从特定位置取出一个加扰</a:t>
            </a:r>
            <a:r>
              <a:rPr lang="zh-CN" altLang="en-US" dirty="0" smtClean="0">
                <a:ea typeface="思源黑体 CN Bold" panose="020B0800000000000000"/>
              </a:rPr>
              <a:t>向量交给</a:t>
            </a:r>
            <a:r>
              <a:rPr lang="en-US" altLang="zh-CN" dirty="0">
                <a:ea typeface="思源黑体 CN Bold" panose="020B0800000000000000"/>
              </a:rPr>
              <a:t>DMA</a:t>
            </a:r>
            <a:r>
              <a:rPr lang="zh-CN" altLang="en-US" dirty="0">
                <a:ea typeface="思源黑体 CN Bold" panose="020B0800000000000000"/>
              </a:rPr>
              <a:t>异步地传给网卡物理层。</a:t>
            </a:r>
            <a:endParaRPr lang="zh-CN" altLang="en-US" dirty="0">
              <a:ea typeface="思源黑体 CN Bold" panose="020B0800000000000000"/>
            </a:endParaRPr>
          </a:p>
          <a:p>
            <a:pPr marL="285750" indent="-285750">
              <a:buFont typeface="Arial" panose="020B0604020202090204" pitchFamily="34" charset="0"/>
              <a:buChar char="•"/>
            </a:pPr>
            <a:endParaRPr lang="zh-CN" altLang="en-US" dirty="0">
              <a:ea typeface="思源黑体 CN Bold" panose="020B0800000000000000"/>
            </a:endParaRPr>
          </a:p>
        </p:txBody>
      </p:sp>
      <p:sp>
        <p:nvSpPr>
          <p:cNvPr id="1049090" name="文本框 12"/>
          <p:cNvSpPr txBox="1"/>
          <p:nvPr/>
        </p:nvSpPr>
        <p:spPr>
          <a:xfrm>
            <a:off x="423377" y="1120423"/>
            <a:ext cx="9646312" cy="396240"/>
          </a:xfrm>
          <a:prstGeom prst="rect">
            <a:avLst/>
          </a:prstGeom>
          <a:noFill/>
        </p:spPr>
        <p:txBody>
          <a:bodyPr wrap="square" rtlCol="0">
            <a:spAutoFit/>
          </a:bodyPr>
          <a:p>
            <a:r>
              <a:rPr lang="zh-CN" altLang="en-US" dirty="0">
                <a:ea typeface="思源黑体 CN Bold" panose="020B0800000000000000"/>
              </a:rPr>
              <a:t>实验硬件平台：</a:t>
            </a:r>
            <a:r>
              <a:rPr lang="en-US" altLang="zh-CN" dirty="0">
                <a:ea typeface="思源黑体 CN Bold" panose="020B0800000000000000"/>
              </a:rPr>
              <a:t> Xilinx ZCU-102 FPGA </a:t>
            </a:r>
            <a:r>
              <a:rPr lang="zh-CN" altLang="en-US" dirty="0">
                <a:ea typeface="思源黑体 CN Bold" panose="020B0800000000000000"/>
              </a:rPr>
              <a:t>开发</a:t>
            </a:r>
            <a:r>
              <a:rPr lang="zh-CN" altLang="en-US" dirty="0" smtClean="0">
                <a:ea typeface="思源黑体 CN Bold" panose="020B0800000000000000"/>
              </a:rPr>
              <a:t>版，搭载一颗</a:t>
            </a:r>
            <a:r>
              <a:rPr lang="zh-CN" altLang="en-US" dirty="0">
                <a:ea typeface="思源黑体 CN Bold" panose="020B0800000000000000"/>
              </a:rPr>
              <a:t>四核 </a:t>
            </a:r>
            <a:r>
              <a:rPr lang="en-US" altLang="zh-CN" dirty="0">
                <a:ea typeface="思源黑体 CN Bold" panose="020B0800000000000000"/>
              </a:rPr>
              <a:t>ARM Cortex-A53 CPU </a:t>
            </a:r>
            <a:endParaRPr lang="zh-CN" altLang="en-US" dirty="0">
              <a:ea typeface="思源黑体 CN Bold" panose="020B0800000000000000"/>
            </a:endParaRPr>
          </a:p>
        </p:txBody>
      </p:sp>
      <p:grpSp>
        <p:nvGrpSpPr>
          <p:cNvPr id="164" name="组合 13"/>
          <p:cNvGrpSpPr/>
          <p:nvPr/>
        </p:nvGrpSpPr>
        <p:grpSpPr>
          <a:xfrm>
            <a:off x="4323644" y="65006"/>
            <a:ext cx="6210089" cy="717352"/>
            <a:chOff x="3330222" y="76294"/>
            <a:chExt cx="6210089" cy="717352"/>
          </a:xfrm>
        </p:grpSpPr>
        <p:sp>
          <p:nvSpPr>
            <p:cNvPr id="1049091" name="文本框 14"/>
            <p:cNvSpPr txBox="1"/>
            <p:nvPr/>
          </p:nvSpPr>
          <p:spPr>
            <a:xfrm>
              <a:off x="3330222" y="76294"/>
              <a:ext cx="1512711" cy="3962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9092" name="文本框 15"/>
            <p:cNvSpPr txBox="1"/>
            <p:nvPr/>
          </p:nvSpPr>
          <p:spPr>
            <a:xfrm>
              <a:off x="4968484" y="76294"/>
              <a:ext cx="1354667" cy="3962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2.</a:t>
              </a:r>
              <a:r>
                <a:rPr lang="zh-CN" altLang="en-US" dirty="0" smtClean="0">
                  <a:solidFill>
                    <a:schemeClr val="bg1">
                      <a:lumMod val="65000"/>
                    </a:schemeClr>
                  </a:solidFill>
                  <a:ea typeface="思源黑体 CN Bold" panose="020B0800000000000000"/>
                </a:rPr>
                <a:t>信道加扰</a:t>
              </a:r>
              <a:endParaRPr lang="zh-CN" altLang="en-US" dirty="0">
                <a:solidFill>
                  <a:schemeClr val="bg1">
                    <a:lumMod val="65000"/>
                  </a:schemeClr>
                </a:solidFill>
                <a:ea typeface="思源黑体 CN Bold" panose="020B0800000000000000"/>
              </a:endParaRPr>
            </a:p>
          </p:txBody>
        </p:sp>
        <p:sp>
          <p:nvSpPr>
            <p:cNvPr id="1049093" name="文本框 16"/>
            <p:cNvSpPr txBox="1"/>
            <p:nvPr/>
          </p:nvSpPr>
          <p:spPr>
            <a:xfrm>
              <a:off x="6349255" y="76294"/>
              <a:ext cx="1515971" cy="701040"/>
            </a:xfrm>
            <a:prstGeom prst="rect">
              <a:avLst/>
            </a:prstGeom>
            <a:noFill/>
          </p:spPr>
          <p:txBody>
            <a:bodyPr wrap="square" rtlCol="0">
              <a:spAutoFit/>
            </a:bodyPr>
            <a:p>
              <a:r>
                <a:rPr lang="en-US" altLang="zh-CN" dirty="0" smtClean="0">
                  <a:solidFill>
                    <a:schemeClr val="bg1"/>
                  </a:solidFill>
                  <a:ea typeface="思源黑体 CN Bold" panose="020B0800000000000000"/>
                </a:rPr>
                <a:t>3.</a:t>
              </a:r>
              <a:r>
                <a:rPr lang="zh-CN" altLang="en-US" dirty="0" smtClean="0">
                  <a:solidFill>
                    <a:schemeClr val="bg1"/>
                  </a:solidFill>
                  <a:ea typeface="思源黑体 CN Bold" panose="020B0800000000000000"/>
                </a:rPr>
                <a:t>实现与实验</a:t>
              </a:r>
              <a:endParaRPr lang="zh-CN" altLang="en-US" dirty="0">
                <a:solidFill>
                  <a:schemeClr val="bg1"/>
                </a:solidFill>
                <a:ea typeface="思源黑体 CN Bold" panose="020B0800000000000000"/>
              </a:endParaRPr>
            </a:p>
          </p:txBody>
        </p:sp>
        <p:sp>
          <p:nvSpPr>
            <p:cNvPr id="1049094" name="文本框 17"/>
            <p:cNvSpPr txBox="1"/>
            <p:nvPr/>
          </p:nvSpPr>
          <p:spPr>
            <a:xfrm>
              <a:off x="8024340" y="92606"/>
              <a:ext cx="1515971" cy="7010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总结</a:t>
              </a:r>
              <a:r>
                <a:rPr lang="zh-CN" altLang="en-US" dirty="0" smtClean="0">
                  <a:solidFill>
                    <a:schemeClr val="bg1">
                      <a:lumMod val="65000"/>
                    </a:schemeClr>
                  </a:solidFill>
                  <a:ea typeface="思源黑体 CN Bold" panose="020B0800000000000000"/>
                </a:rPr>
                <a:t>与展望</a:t>
              </a:r>
              <a:endParaRPr lang="zh-CN" altLang="en-US" dirty="0">
                <a:solidFill>
                  <a:schemeClr val="bg1">
                    <a:lumMod val="65000"/>
                  </a:schemeClr>
                </a:solidFill>
                <a:ea typeface="思源黑体 CN Bold" panose="020B0800000000000000"/>
              </a:endParaRPr>
            </a:p>
          </p:txBody>
        </p:sp>
      </p:gr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67" name=""/>
        <p:cNvGrpSpPr/>
        <p:nvPr/>
      </p:nvGrpSpPr>
      <p:grpSpPr>
        <a:xfrm>
          <a:off x="0" y="0"/>
          <a:ext cx="0" cy="0"/>
          <a:chOff x="0" y="0"/>
          <a:chExt cx="0" cy="0"/>
        </a:xfrm>
      </p:grpSpPr>
      <p:sp>
        <p:nvSpPr>
          <p:cNvPr id="1049098" name="文本占位符 1"/>
          <p:cNvSpPr>
            <a:spLocks noGrp="1"/>
          </p:cNvSpPr>
          <p:nvPr>
            <p:ph type="body" sz="quarter" idx="12"/>
          </p:nvPr>
        </p:nvSpPr>
        <p:spPr>
          <a:xfrm>
            <a:off x="218105" y="76294"/>
            <a:ext cx="410545" cy="401955"/>
          </a:xfrm>
        </p:spPr>
        <p:txBody>
          <a:bodyPr/>
          <a:p>
            <a:r>
              <a:rPr lang="en-US" altLang="zh-CN" dirty="0"/>
              <a:t>2</a:t>
            </a:r>
            <a:endParaRPr lang="zh-CN" altLang="en-US" dirty="0"/>
          </a:p>
        </p:txBody>
      </p:sp>
      <p:sp>
        <p:nvSpPr>
          <p:cNvPr id="1049099" name="文本占位符 2"/>
          <p:cNvSpPr>
            <a:spLocks noGrp="1"/>
          </p:cNvSpPr>
          <p:nvPr>
            <p:ph type="body" sz="quarter" idx="13"/>
          </p:nvPr>
        </p:nvSpPr>
        <p:spPr/>
        <p:txBody>
          <a:bodyPr/>
          <a:p>
            <a:r>
              <a:rPr lang="zh-CN" altLang="en-US" kern="0" dirty="0">
                <a:ea typeface="楷体" panose="02010609060101010101" pitchFamily="49" charset="-122"/>
                <a:sym typeface="DengXian" panose="02010600030101010101" pitchFamily="2" charset="-122"/>
              </a:rPr>
              <a:t>内</a:t>
            </a:r>
            <a:r>
              <a:rPr lang="zh-CN" altLang="en-US" kern="0" dirty="0" smtClean="0">
                <a:ea typeface="楷体" panose="02010609060101010101" pitchFamily="49" charset="-122"/>
                <a:sym typeface="DengXian" panose="02010600030101010101" pitchFamily="2" charset="-122"/>
              </a:rPr>
              <a:t>建信道加扰方案</a:t>
            </a:r>
            <a:endParaRPr lang="zh-CN" altLang="en-US" kern="0" dirty="0">
              <a:ea typeface="楷体" panose="02010609060101010101" pitchFamily="49" charset="-122"/>
              <a:sym typeface="DengXian" panose="02010600030101010101" pitchFamily="2" charset="-122"/>
            </a:endParaRPr>
          </a:p>
        </p:txBody>
      </p:sp>
      <p:sp>
        <p:nvSpPr>
          <p:cNvPr id="1049100" name="文本框 6"/>
          <p:cNvSpPr txBox="1"/>
          <p:nvPr/>
        </p:nvSpPr>
        <p:spPr>
          <a:xfrm>
            <a:off x="379854" y="579849"/>
            <a:ext cx="11064429" cy="726440"/>
          </a:xfrm>
          <a:prstGeom prst="rect">
            <a:avLst/>
          </a:prstGeom>
          <a:noFill/>
        </p:spPr>
        <p:txBody>
          <a:bodyPr wrap="square" rtlCol="0">
            <a:spAutoFit/>
          </a:bodyPr>
          <a:p>
            <a:pPr marL="0" lvl="1">
              <a:lnSpc>
                <a:spcPct val="150000"/>
              </a:lnSpc>
            </a:pPr>
            <a:r>
              <a:rPr lang="zh-CN" altLang="en-US" sz="2500" dirty="0" smtClean="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rPr>
              <a:t>多种人体活动类型的加权组合</a:t>
            </a:r>
            <a:endParaRPr lang="en-US" altLang="zh-CN" sz="2500" dirty="0">
              <a:solidFill>
                <a:srgbClr val="9E008B"/>
              </a:solidFill>
              <a:latin typeface="思源黑体 CN Bold" panose="020B0800000000000000" pitchFamily="34" charset="-122"/>
              <a:ea typeface="思源黑体 CN Bold" panose="020B0800000000000000" pitchFamily="34" charset="-122"/>
              <a:sym typeface="DengXian" panose="02010600030101010101" pitchFamily="2" charset="-122"/>
            </a:endParaRPr>
          </a:p>
        </p:txBody>
      </p:sp>
      <p:sp>
        <p:nvSpPr>
          <p:cNvPr id="1049101" name="文本占位符 3"/>
          <p:cNvSpPr txBox="1"/>
          <p:nvPr/>
        </p:nvSpPr>
        <p:spPr>
          <a:xfrm>
            <a:off x="5529580" y="6453505"/>
            <a:ext cx="1080770" cy="42545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2000" dirty="0" smtClean="0"/>
              <a:t>12/22</a:t>
            </a:r>
            <a:endParaRPr lang="en-US" altLang="zh-CN" sz="2000" dirty="0"/>
          </a:p>
        </p:txBody>
      </p:sp>
      <p:sp>
        <p:nvSpPr>
          <p:cNvPr id="1049102" name="文本框 9"/>
          <p:cNvSpPr txBox="1">
            <a:spLocks noRot="1" noChangeAspect="1" noMove="1" noResize="1" noEditPoints="1" noAdjustHandles="1" noChangeArrowheads="1" noChangeShapeType="1" noTextEdit="1"/>
          </p:cNvSpPr>
          <p:nvPr/>
        </p:nvSpPr>
        <p:spPr>
          <a:xfrm>
            <a:off x="627931" y="2547421"/>
            <a:ext cx="10568273" cy="3785652"/>
          </a:xfrm>
          <a:prstGeom prst="rect">
            <a:avLst/>
          </a:prstGeom>
          <a:blipFill>
            <a:blip r:embed="rId1"/>
            <a:stretch>
              <a:fillRect l="-519"/>
            </a:stretch>
          </a:blipFill>
        </p:spPr>
        <p:txBody>
          <a:bodyPr/>
          <a:p>
            <a:r>
              <a:rPr lang="zh-CN" altLang="en-US">
                <a:noFill/>
              </a:rPr>
              <a:t> </a:t>
            </a:r>
            <a:endParaRPr lang="zh-CN" altLang="en-US">
              <a:noFill/>
            </a:endParaRPr>
          </a:p>
        </p:txBody>
      </p:sp>
      <p:sp>
        <p:nvSpPr>
          <p:cNvPr id="1049103" name="文本框 4"/>
          <p:cNvSpPr txBox="1">
            <a:spLocks noRot="1" noChangeAspect="1" noMove="1" noResize="1" noEditPoints="1" noAdjustHandles="1" noChangeArrowheads="1" noChangeShapeType="1" noTextEdit="1"/>
          </p:cNvSpPr>
          <p:nvPr/>
        </p:nvSpPr>
        <p:spPr>
          <a:xfrm>
            <a:off x="2289660" y="1446863"/>
            <a:ext cx="7093390" cy="1100558"/>
          </a:xfrm>
          <a:prstGeom prst="rect">
            <a:avLst/>
          </a:prstGeom>
          <a:blipFill>
            <a:blip r:embed="rId2"/>
            <a:stretch>
              <a:fillRect/>
            </a:stretch>
          </a:blipFill>
        </p:spPr>
        <p:txBody>
          <a:bodyPr/>
          <a:p>
            <a:r>
              <a:rPr lang="zh-CN" altLang="en-US">
                <a:noFill/>
              </a:rPr>
              <a:t> </a:t>
            </a:r>
            <a:endParaRPr lang="zh-CN" altLang="en-US">
              <a:noFill/>
            </a:endParaRPr>
          </a:p>
        </p:txBody>
      </p:sp>
      <p:grpSp>
        <p:nvGrpSpPr>
          <p:cNvPr id="168" name="组合 7"/>
          <p:cNvGrpSpPr/>
          <p:nvPr/>
        </p:nvGrpSpPr>
        <p:grpSpPr>
          <a:xfrm>
            <a:off x="4323644" y="65006"/>
            <a:ext cx="6210089" cy="717352"/>
            <a:chOff x="3330222" y="76294"/>
            <a:chExt cx="6210089" cy="717352"/>
          </a:xfrm>
        </p:grpSpPr>
        <p:sp>
          <p:nvSpPr>
            <p:cNvPr id="1049104" name="文本框 10"/>
            <p:cNvSpPr txBox="1"/>
            <p:nvPr/>
          </p:nvSpPr>
          <p:spPr>
            <a:xfrm>
              <a:off x="3330222" y="76294"/>
              <a:ext cx="1512711" cy="3962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1.</a:t>
              </a:r>
              <a:r>
                <a:rPr lang="zh-CN" altLang="en-US" dirty="0" smtClean="0">
                  <a:solidFill>
                    <a:schemeClr val="bg1">
                      <a:lumMod val="65000"/>
                    </a:schemeClr>
                  </a:solidFill>
                  <a:ea typeface="思源黑体 CN Bold" panose="020B0800000000000000"/>
                </a:rPr>
                <a:t>背景和动机</a:t>
              </a:r>
              <a:endParaRPr lang="zh-CN" altLang="en-US" dirty="0">
                <a:solidFill>
                  <a:schemeClr val="bg1">
                    <a:lumMod val="65000"/>
                  </a:schemeClr>
                </a:solidFill>
                <a:ea typeface="思源黑体 CN Bold" panose="020B0800000000000000"/>
              </a:endParaRPr>
            </a:p>
          </p:txBody>
        </p:sp>
        <p:sp>
          <p:nvSpPr>
            <p:cNvPr id="1049105" name="文本框 11"/>
            <p:cNvSpPr txBox="1"/>
            <p:nvPr/>
          </p:nvSpPr>
          <p:spPr>
            <a:xfrm>
              <a:off x="4968484" y="76294"/>
              <a:ext cx="1354667" cy="396240"/>
            </a:xfrm>
            <a:prstGeom prst="rect">
              <a:avLst/>
            </a:prstGeom>
            <a:noFill/>
          </p:spPr>
          <p:txBody>
            <a:bodyPr wrap="square" rtlCol="0">
              <a:spAutoFit/>
            </a:bodyPr>
            <a:p>
              <a:r>
                <a:rPr lang="en-US" altLang="zh-CN" dirty="0" smtClean="0">
                  <a:solidFill>
                    <a:schemeClr val="bg1"/>
                  </a:solidFill>
                  <a:ea typeface="思源黑体 CN Bold" panose="020B0800000000000000"/>
                </a:rPr>
                <a:t>2.</a:t>
              </a:r>
              <a:r>
                <a:rPr lang="zh-CN" altLang="en-US" dirty="0" smtClean="0">
                  <a:solidFill>
                    <a:schemeClr val="bg1"/>
                  </a:solidFill>
                  <a:ea typeface="思源黑体 CN Bold" panose="020B0800000000000000"/>
                </a:rPr>
                <a:t>信道加扰</a:t>
              </a:r>
              <a:endParaRPr lang="zh-CN" altLang="en-US" dirty="0">
                <a:solidFill>
                  <a:schemeClr val="bg1"/>
                </a:solidFill>
                <a:ea typeface="思源黑体 CN Bold" panose="020B0800000000000000"/>
              </a:endParaRPr>
            </a:p>
          </p:txBody>
        </p:sp>
        <p:sp>
          <p:nvSpPr>
            <p:cNvPr id="1049106" name="文本框 12"/>
            <p:cNvSpPr txBox="1"/>
            <p:nvPr/>
          </p:nvSpPr>
          <p:spPr>
            <a:xfrm>
              <a:off x="6349255" y="76294"/>
              <a:ext cx="1515971" cy="7010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3.</a:t>
              </a:r>
              <a:r>
                <a:rPr lang="zh-CN" altLang="en-US" dirty="0" smtClean="0">
                  <a:solidFill>
                    <a:schemeClr val="bg1">
                      <a:lumMod val="65000"/>
                    </a:schemeClr>
                  </a:solidFill>
                  <a:ea typeface="思源黑体 CN Bold" panose="020B0800000000000000"/>
                </a:rPr>
                <a:t>实现与实验</a:t>
              </a:r>
              <a:endParaRPr lang="zh-CN" altLang="en-US" dirty="0">
                <a:solidFill>
                  <a:schemeClr val="bg1">
                    <a:lumMod val="65000"/>
                  </a:schemeClr>
                </a:solidFill>
                <a:ea typeface="思源黑体 CN Bold" panose="020B0800000000000000"/>
              </a:endParaRPr>
            </a:p>
          </p:txBody>
        </p:sp>
        <p:sp>
          <p:nvSpPr>
            <p:cNvPr id="1049107" name="文本框 13"/>
            <p:cNvSpPr txBox="1"/>
            <p:nvPr/>
          </p:nvSpPr>
          <p:spPr>
            <a:xfrm>
              <a:off x="8024340" y="92606"/>
              <a:ext cx="1515971" cy="701040"/>
            </a:xfrm>
            <a:prstGeom prst="rect">
              <a:avLst/>
            </a:prstGeom>
            <a:noFill/>
          </p:spPr>
          <p:txBody>
            <a:bodyPr wrap="square" rtlCol="0">
              <a:spAutoFit/>
            </a:bodyPr>
            <a:p>
              <a:r>
                <a:rPr lang="en-US" altLang="zh-CN" dirty="0" smtClean="0">
                  <a:solidFill>
                    <a:schemeClr val="bg1">
                      <a:lumMod val="65000"/>
                    </a:schemeClr>
                  </a:solidFill>
                  <a:ea typeface="思源黑体 CN Bold" panose="020B0800000000000000"/>
                </a:rPr>
                <a:t>4.</a:t>
              </a:r>
              <a:r>
                <a:rPr lang="zh-CN" altLang="en-US" dirty="0">
                  <a:solidFill>
                    <a:schemeClr val="bg1">
                      <a:lumMod val="65000"/>
                    </a:schemeClr>
                  </a:solidFill>
                  <a:ea typeface="思源黑体 CN Bold" panose="020B0800000000000000"/>
                </a:rPr>
                <a:t>总结</a:t>
              </a:r>
              <a:r>
                <a:rPr lang="zh-CN" altLang="en-US" dirty="0" smtClean="0">
                  <a:solidFill>
                    <a:schemeClr val="bg1">
                      <a:lumMod val="65000"/>
                    </a:schemeClr>
                  </a:solidFill>
                  <a:ea typeface="思源黑体 CN Bold" panose="020B0800000000000000"/>
                </a:rPr>
                <a:t>与展望</a:t>
              </a:r>
              <a:endParaRPr lang="zh-CN" altLang="en-US" dirty="0">
                <a:solidFill>
                  <a:schemeClr val="bg1">
                    <a:lumMod val="65000"/>
                  </a:schemeClr>
                </a:solidFill>
                <a:ea typeface="思源黑体 CN Bold" panose="020B0800000000000000"/>
              </a:endParaRPr>
            </a:p>
          </p:txBody>
        </p:sp>
      </p:gr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5890</Words>
  <Application>WPS 演示</Application>
  <PresentationFormat/>
  <Paragraphs>697</Paragraphs>
  <Slides>32</Slides>
  <Notes>0</Notes>
  <HiddenSlides>0</HiddenSlides>
  <MMClips>0</MMClips>
  <ScaleCrop>false</ScaleCrop>
  <HeadingPairs>
    <vt:vector size="6" baseType="variant">
      <vt:variant>
        <vt:lpstr>已用的字体</vt:lpstr>
      </vt:variant>
      <vt:variant>
        <vt:i4>28</vt:i4>
      </vt:variant>
      <vt:variant>
        <vt:lpstr>主题</vt:lpstr>
      </vt:variant>
      <vt:variant>
        <vt:i4>1</vt:i4>
      </vt:variant>
      <vt:variant>
        <vt:lpstr>幻灯片标题</vt:lpstr>
      </vt:variant>
      <vt:variant>
        <vt:i4>32</vt:i4>
      </vt:variant>
    </vt:vector>
  </HeadingPairs>
  <TitlesOfParts>
    <vt:vector size="61" baseType="lpstr">
      <vt:lpstr>Arial</vt:lpstr>
      <vt:lpstr>宋体</vt:lpstr>
      <vt:lpstr>Wingdings</vt:lpstr>
      <vt:lpstr>思源黑体 CN Bold</vt:lpstr>
      <vt:lpstr>汉仪中黑KW</vt:lpstr>
      <vt:lpstr>思源黑体 CN Normal</vt:lpstr>
      <vt:lpstr>Segoe UI</vt:lpstr>
      <vt:lpstr>苹方-简</vt:lpstr>
      <vt:lpstr>楷体</vt:lpstr>
      <vt:lpstr>汉仪楷体KW</vt:lpstr>
      <vt:lpstr>DengXian</vt:lpstr>
      <vt:lpstr>微软雅黑</vt:lpstr>
      <vt:lpstr>Arial Regular</vt:lpstr>
      <vt:lpstr>思源黑体 CN Bold</vt:lpstr>
      <vt:lpstr>Times New Roman</vt:lpstr>
      <vt:lpstr>汉仪书宋二KW</vt:lpstr>
      <vt:lpstr>DejaVu Math TeX Gyre</vt:lpstr>
      <vt:lpstr>宋体</vt:lpstr>
      <vt:lpstr>等线</vt:lpstr>
      <vt:lpstr>汉仪中等线KW</vt:lpstr>
      <vt:lpstr>汉仪旗黑</vt:lpstr>
      <vt:lpstr>Arial Unicode MS</vt:lpstr>
      <vt:lpstr>等线 Light</vt:lpstr>
      <vt:lpstr>BatangChe</vt:lpstr>
      <vt:lpstr>Apple SD Gothic Neo</vt:lpstr>
      <vt:lpstr>DejaVuMathTeXGyre</vt:lpstr>
      <vt:lpstr>Calibri</vt:lpstr>
      <vt:lpstr>Helvetica Neue</vt:lpstr>
      <vt:lpstr>Office 主题​​</vt:lpstr>
      <vt:lpstr>CSS: Built-in Channel State Scrambling for Secure Wi-Fi based Sensing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无线通信协议内建信道状态安全机制研究 </dc:title>
  <dc:creator>addrice</dc:creator>
  <cp:lastModifiedBy>dengxiao</cp:lastModifiedBy>
  <cp:revision>128</cp:revision>
  <dcterms:created xsi:type="dcterms:W3CDTF">2024-07-13T08:15:25Z</dcterms:created>
  <dcterms:modified xsi:type="dcterms:W3CDTF">2024-07-13T08:15:25Z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99D617D5D224929612953B6670CE261F_43</vt:lpwstr>
  </property>
  <property fmtid="{D5CDD505-2E9C-101B-9397-08002B2CF9AE}" pid="3" name="KSOProductBuildVer">
    <vt:lpwstr>2052-6.7.1.8828</vt:lpwstr>
  </property>
</Properties>
</file>